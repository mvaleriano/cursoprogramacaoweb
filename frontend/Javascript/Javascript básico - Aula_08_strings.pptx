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769" r:id="rId2"/>
    <p:sldId id="797" r:id="rId3"/>
    <p:sldId id="832" r:id="rId4"/>
    <p:sldId id="833" r:id="rId5"/>
    <p:sldId id="834" r:id="rId6"/>
    <p:sldId id="835" r:id="rId7"/>
    <p:sldId id="836" r:id="rId8"/>
    <p:sldId id="837" r:id="rId9"/>
    <p:sldId id="838" r:id="rId10"/>
    <p:sldId id="840" r:id="rId11"/>
    <p:sldId id="839" r:id="rId12"/>
    <p:sldId id="831" r:id="rId13"/>
    <p:sldId id="841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A3E"/>
    <a:srgbClr val="D6BA32"/>
    <a:srgbClr val="F47920"/>
    <a:srgbClr val="1572B6"/>
    <a:srgbClr val="35A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C8844-F009-45FC-92E0-5330E07D2391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88C18-FEF5-4A10-8A62-F4039403FD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0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b130686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b130686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522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10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1717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3409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7202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1010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6729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9500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3667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301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7954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60351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434ad92c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6434ad92c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461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34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69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87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696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1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1920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55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3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2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11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88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94C45-9102-437E-AE66-F57C174F1152}" type="datetimeFigureOut">
              <a:rPr lang="pt-BR" smtClean="0"/>
              <a:t>06/07/2022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BABEC-0FAF-4CB4-8A95-78DD35F8A7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36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871017" y="4381269"/>
            <a:ext cx="10450000" cy="1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</a:t>
            </a:r>
          </a:p>
          <a:p>
            <a:pPr algn="ctr"/>
            <a:r>
              <a:rPr lang="pt-BR" sz="5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Aula 08 - </a:t>
            </a:r>
            <a:r>
              <a:rPr lang="pt-BR" sz="28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Trabalhando com </a:t>
            </a:r>
            <a:r>
              <a:rPr lang="pt-BR" sz="28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Strings</a:t>
            </a:r>
            <a:endParaRPr sz="2800" dirty="0">
              <a:solidFill>
                <a:srgbClr val="264DE3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604F82-D39D-A579-B80D-9584FB801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496" y="841227"/>
            <a:ext cx="3534212" cy="353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3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é uma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String</a:t>
            </a:r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?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Por definição,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são sequências de caracteres alfanuméricos (letras, números e/ou símbolos) amplamente usadas em programação. Em Javascript, uma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sempre estará entre aspas.</a:t>
            </a:r>
          </a:p>
          <a:p>
            <a:pPr marL="152396">
              <a:buSzPts val="1800"/>
            </a:pP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000" b="0" i="1" dirty="0">
                <a:solidFill>
                  <a:srgbClr val="A626A4"/>
                </a:solidFill>
                <a:effectLst/>
                <a:latin typeface="Courier New" panose="02070309020205020404" pitchFamily="49" charset="0"/>
              </a:rPr>
              <a:t>	var</a:t>
            </a:r>
            <a:r>
              <a:rPr lang="pt-BR" sz="20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frase = </a:t>
            </a:r>
            <a:r>
              <a:rPr lang="pt-BR" sz="2000" b="0" i="1" dirty="0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"Mergulhando em tecnologia Javascript"</a:t>
            </a:r>
            <a:r>
              <a:rPr lang="pt-BR" sz="20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;</a:t>
            </a:r>
            <a:endParaRPr lang="pt-BR" sz="2000" b="0" i="1" dirty="0">
              <a:solidFill>
                <a:srgbClr val="1B1B1B"/>
              </a:solidFill>
              <a:effectLst/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000" b="0" i="1" dirty="0">
                <a:solidFill>
                  <a:srgbClr val="A626A4"/>
                </a:solidFill>
                <a:effectLst/>
                <a:latin typeface="Courier New" panose="02070309020205020404" pitchFamily="49" charset="0"/>
              </a:rPr>
              <a:t>	var</a:t>
            </a:r>
            <a:r>
              <a:rPr lang="pt-BR" sz="20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frase = ‘Mergulhando em tecnologia </a:t>
            </a:r>
            <a:r>
              <a:rPr lang="pt-BR" sz="2000" b="0" i="1" dirty="0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Javascript</a:t>
            </a:r>
            <a:r>
              <a:rPr lang="pt-BR" sz="20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’;</a:t>
            </a: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2045171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 que é uma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String</a:t>
            </a:r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?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Mas eu declaro minhas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com aspas duplas ou simples?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Podemos colocar nossas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entre aspas duplas ou simples. Para 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não há diferença, já que ele considera as duas formas de declaração válidas.</a:t>
            </a:r>
          </a:p>
          <a:p>
            <a:pPr marL="152396">
              <a:buSzPts val="1800"/>
            </a:pP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É importante ressaltar que, depois que a sequência de caracteres for definida, a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é imutável, ou seja, não poderá ter seu valor alterado. Então, como manipular a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?</a:t>
            </a:r>
          </a:p>
          <a:p>
            <a:pPr marL="152396">
              <a:buSzPts val="1800"/>
            </a:pPr>
            <a:endParaRPr lang="pt-BR" sz="20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Sempre que manipulamos uma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, é criada uma nova instância dela por baixo dos panos, o que significa que será gerado um novo espaço na memória com uma cópia do valor da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. Por isso, temos que utilizar uma variável para armazená-la.</a:t>
            </a:r>
          </a:p>
        </p:txBody>
      </p:sp>
    </p:spTree>
    <p:extLst>
      <p:ext uri="{BB962C8B-B14F-4D97-AF65-F5344CB8AC3E}">
        <p14:creationId xmlns:p14="http://schemas.microsoft.com/office/powerpoint/2010/main" val="1528630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Objeto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String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A linguagem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traz ainda como recurso um objeto global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que nos permite criar ou converter um tipo em uma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en-US" sz="2800" b="0" i="1" dirty="0">
                <a:solidFill>
                  <a:srgbClr val="A626A4"/>
                </a:solidFill>
                <a:effectLst/>
                <a:latin typeface="Courier New" panose="02070309020205020404" pitchFamily="49" charset="0"/>
              </a:rPr>
              <a:t>	var</a:t>
            </a:r>
            <a:r>
              <a:rPr lang="en-US" sz="28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b="0" i="1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numero</a:t>
            </a:r>
            <a:r>
              <a:rPr lang="en-US" sz="28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800" b="0" i="1" dirty="0">
                <a:solidFill>
                  <a:srgbClr val="986801"/>
                </a:solidFill>
                <a:effectLst/>
                <a:latin typeface="Courier New" panose="02070309020205020404" pitchFamily="49" charset="0"/>
              </a:rPr>
              <a:t>256</a:t>
            </a:r>
            <a:r>
              <a:rPr lang="en-US" sz="28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;</a:t>
            </a:r>
          </a:p>
          <a:p>
            <a:pPr marL="152396">
              <a:buSzPts val="1800"/>
            </a:pPr>
            <a:r>
              <a:rPr lang="en-US" sz="2800" b="0" i="1" dirty="0">
                <a:solidFill>
                  <a:srgbClr val="A626A4"/>
                </a:solidFill>
                <a:effectLst/>
                <a:latin typeface="Courier New" panose="02070309020205020404" pitchFamily="49" charset="0"/>
              </a:rPr>
              <a:t>	var</a:t>
            </a:r>
            <a:r>
              <a:rPr lang="en-US" sz="28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b="0" i="1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convertidoEmString</a:t>
            </a:r>
            <a:r>
              <a:rPr lang="en-US" sz="28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800" b="0" i="1" dirty="0">
                <a:solidFill>
                  <a:srgbClr val="A626A4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US" sz="28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b="0" i="1" dirty="0">
                <a:solidFill>
                  <a:srgbClr val="C18401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-US" sz="28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b="0" i="1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numero</a:t>
            </a:r>
            <a:r>
              <a:rPr lang="en-US" sz="28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);</a:t>
            </a:r>
            <a:endParaRPr lang="pt-BR" sz="28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sz="2000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83670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Objeto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String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A linguagem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traz ainda como recurso um objeto global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que nos permite criar ou converter um tipo em uma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en-US" sz="2800" b="0" i="1" dirty="0">
                <a:solidFill>
                  <a:srgbClr val="A626A4"/>
                </a:solidFill>
                <a:effectLst/>
                <a:latin typeface="Courier New" panose="02070309020205020404" pitchFamily="49" charset="0"/>
              </a:rPr>
              <a:t>	var</a:t>
            </a:r>
            <a:r>
              <a:rPr lang="en-US" sz="28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b="0" i="1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numero</a:t>
            </a:r>
            <a:r>
              <a:rPr lang="en-US" sz="28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800" b="0" i="1" dirty="0">
                <a:solidFill>
                  <a:srgbClr val="986801"/>
                </a:solidFill>
                <a:effectLst/>
                <a:latin typeface="Courier New" panose="02070309020205020404" pitchFamily="49" charset="0"/>
              </a:rPr>
              <a:t>256</a:t>
            </a:r>
            <a:r>
              <a:rPr lang="en-US" sz="28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;</a:t>
            </a:r>
          </a:p>
          <a:p>
            <a:pPr marL="152396">
              <a:buSzPts val="1800"/>
            </a:pPr>
            <a:r>
              <a:rPr lang="en-US" sz="2800" b="0" i="1" dirty="0">
                <a:solidFill>
                  <a:srgbClr val="A626A4"/>
                </a:solidFill>
                <a:effectLst/>
                <a:latin typeface="Courier New" panose="02070309020205020404" pitchFamily="49" charset="0"/>
              </a:rPr>
              <a:t>	var</a:t>
            </a:r>
            <a:r>
              <a:rPr lang="en-US" sz="28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b="0" i="1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convertidoEmString</a:t>
            </a:r>
            <a:r>
              <a:rPr lang="en-US" sz="28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800" b="0" i="1" dirty="0">
                <a:solidFill>
                  <a:srgbClr val="A626A4"/>
                </a:solidFill>
                <a:effectLst/>
                <a:latin typeface="Courier New" panose="02070309020205020404" pitchFamily="49" charset="0"/>
              </a:rPr>
              <a:t>new</a:t>
            </a:r>
            <a:r>
              <a:rPr lang="en-US" sz="28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b="0" i="1" dirty="0">
                <a:solidFill>
                  <a:srgbClr val="C18401"/>
                </a:solidFill>
                <a:effectLst/>
                <a:latin typeface="Courier New" panose="02070309020205020404" pitchFamily="49" charset="0"/>
              </a:rPr>
              <a:t>String</a:t>
            </a:r>
            <a:r>
              <a:rPr lang="en-US" sz="28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b="0" i="1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numero</a:t>
            </a:r>
            <a:r>
              <a:rPr lang="en-US" sz="28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);</a:t>
            </a:r>
            <a:endParaRPr lang="pt-BR" sz="28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pt-BR" sz="2200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Também é possível converter outros tipos primitivos (por exemplo, números e booleanos) em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 com o método </a:t>
            </a:r>
            <a:r>
              <a:rPr lang="pt-BR" sz="2000" dirty="0" err="1">
                <a:solidFill>
                  <a:srgbClr val="1B1B1B"/>
                </a:solidFill>
                <a:latin typeface="Roboto Mono"/>
                <a:sym typeface="Roboto Mono"/>
              </a:rPr>
              <a:t>toString</a:t>
            </a:r>
            <a:r>
              <a:rPr lang="pt-BR" sz="2000" dirty="0">
                <a:solidFill>
                  <a:srgbClr val="1B1B1B"/>
                </a:solidFill>
                <a:latin typeface="Roboto Mono"/>
                <a:sym typeface="Roboto Mono"/>
              </a:rPr>
              <a:t>().  </a:t>
            </a:r>
          </a:p>
          <a:p>
            <a:pPr marL="152396">
              <a:buSzPts val="1800"/>
            </a:pPr>
            <a:r>
              <a:rPr lang="pt-BR" sz="2000" b="0" i="0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		</a:t>
            </a:r>
            <a:r>
              <a:rPr lang="pt-BR" sz="20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console.</a:t>
            </a:r>
            <a:r>
              <a:rPr lang="pt-BR" sz="2000" b="0" i="1" dirty="0">
                <a:solidFill>
                  <a:srgbClr val="C18401"/>
                </a:solidFill>
                <a:effectLst/>
                <a:latin typeface="Courier New" panose="02070309020205020404" pitchFamily="49" charset="0"/>
              </a:rPr>
              <a:t>log</a:t>
            </a:r>
            <a:r>
              <a:rPr lang="pt-BR" sz="20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pt-BR" sz="2000" b="0" i="1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num.toString</a:t>
            </a:r>
            <a:r>
              <a:rPr lang="pt-BR" sz="2000" b="0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())</a:t>
            </a: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4164229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Usando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Strings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É possível interpolar, concatenar, checar posições de caracteres ou ainda substituir partes de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  <a:endParaRPr lang="pt-BR" sz="2000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866241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Concatenando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strings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Quando falamos em concatenar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quer dizer que vamos juntar duas ou mais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e formar uma nova. </a:t>
            </a:r>
          </a:p>
          <a:p>
            <a:pPr marL="152396">
              <a:buSzPts val="1800"/>
            </a:pPr>
            <a:endParaRPr lang="pt-BR" sz="2200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i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pt-BR" sz="2000" b="0" i="0" dirty="0">
                <a:solidFill>
                  <a:srgbClr val="C1840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2000" b="1" i="1" dirty="0">
                <a:solidFill>
                  <a:srgbClr val="C18401"/>
                </a:solidFill>
                <a:effectLst/>
                <a:latin typeface="Courier New" panose="02070309020205020404" pitchFamily="49" charset="0"/>
              </a:rPr>
              <a:t>var</a:t>
            </a:r>
            <a:r>
              <a:rPr lang="pt-BR" sz="2000" b="1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nome = </a:t>
            </a:r>
            <a:r>
              <a:rPr lang="pt-BR" sz="2000" b="1" i="1" dirty="0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"André"</a:t>
            </a:r>
            <a:r>
              <a:rPr lang="pt-BR" sz="2000" b="1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152396">
              <a:buSzPts val="1800"/>
            </a:pPr>
            <a:r>
              <a:rPr lang="pt-BR" sz="2000" b="1" i="1" dirty="0">
                <a:solidFill>
                  <a:srgbClr val="383A42"/>
                </a:solidFill>
                <a:latin typeface="Courier New" panose="02070309020205020404" pitchFamily="49" charset="0"/>
              </a:rPr>
              <a:t>   	 </a:t>
            </a:r>
            <a:r>
              <a:rPr lang="pt-BR" sz="2000" b="1" i="1" dirty="0">
                <a:solidFill>
                  <a:srgbClr val="C18401"/>
                </a:solidFill>
                <a:latin typeface="Courier New" panose="02070309020205020404" pitchFamily="49" charset="0"/>
              </a:rPr>
              <a:t>var</a:t>
            </a:r>
            <a:r>
              <a:rPr lang="pt-BR" sz="2000" b="1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2000" b="1" i="1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sobreNome</a:t>
            </a:r>
            <a:r>
              <a:rPr lang="pt-BR" sz="2000" b="1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=</a:t>
            </a:r>
            <a:r>
              <a:rPr lang="pt-BR" sz="2000" b="1" i="1" dirty="0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"Silva"</a:t>
            </a:r>
            <a:r>
              <a:rPr lang="pt-BR" sz="2000" b="1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152396">
              <a:buSzPts val="1800"/>
            </a:pPr>
            <a:r>
              <a:rPr lang="pt-BR" sz="2000" b="1" i="1" dirty="0">
                <a:solidFill>
                  <a:srgbClr val="383A42"/>
                </a:solidFill>
                <a:latin typeface="Courier New" panose="02070309020205020404" pitchFamily="49" charset="0"/>
              </a:rPr>
              <a:t>      </a:t>
            </a:r>
            <a:r>
              <a:rPr lang="pt-BR" sz="2000" b="1" i="1" dirty="0">
                <a:solidFill>
                  <a:srgbClr val="C18401"/>
                </a:solidFill>
                <a:effectLst/>
                <a:latin typeface="Courier New" panose="02070309020205020404" pitchFamily="49" charset="0"/>
              </a:rPr>
              <a:t>var</a:t>
            </a:r>
            <a:r>
              <a:rPr lang="pt-BR" sz="2000" b="1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2000" b="1" i="1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nomeCompleto</a:t>
            </a:r>
            <a:r>
              <a:rPr lang="pt-BR" sz="2000" b="1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pt-BR" sz="2000" b="1" i="1" dirty="0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"Meu nome completo é : "</a:t>
            </a:r>
            <a:r>
              <a:rPr lang="pt-BR" sz="2000" b="1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+ nome + </a:t>
            </a:r>
            <a:r>
              <a:rPr lang="pt-BR" sz="2000" b="1" i="1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sobreNome</a:t>
            </a:r>
            <a:endParaRPr lang="pt-BR" sz="2000" b="1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892937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Interpolando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strings</a:t>
            </a:r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(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template</a:t>
            </a:r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strings</a:t>
            </a:r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)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A interpolação de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é um recurso bem interessante, presente em diversas linguagens. No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é uma alternativa mais prática para manipular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sem a necessidade de fazer concatenação, porque para textos maiores, concatenar pode ser um pouco trabalhoso.</a:t>
            </a:r>
          </a:p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Usando as chamadas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template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ou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templates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literais, a pessoa desenvolvedora consegue ter uma flexibilidade maior no trabalho com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além de facilitar a escrita e leitura do código.</a:t>
            </a:r>
          </a:p>
          <a:p>
            <a:pPr marL="152396">
              <a:buSzPts val="1800"/>
            </a:pPr>
            <a:endParaRPr lang="pt-BR" sz="2200" b="1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000" b="1" i="1" dirty="0">
                <a:solidFill>
                  <a:srgbClr val="A626A4"/>
                </a:solidFill>
                <a:effectLst/>
                <a:latin typeface="Courier New" panose="02070309020205020404" pitchFamily="49" charset="0"/>
              </a:rPr>
              <a:t>	var</a:t>
            </a:r>
            <a:r>
              <a:rPr lang="pt-BR" sz="2000" b="1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nome = </a:t>
            </a:r>
            <a:r>
              <a:rPr lang="pt-BR" sz="2000" b="1" i="1" dirty="0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"André"</a:t>
            </a:r>
            <a:r>
              <a:rPr lang="pt-BR" sz="2000" b="1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marL="152396">
              <a:buSzPts val="1800"/>
            </a:pPr>
            <a:r>
              <a:rPr lang="pt-BR" sz="2000" b="1" i="1" dirty="0">
                <a:solidFill>
                  <a:srgbClr val="383A42"/>
                </a:solidFill>
                <a:latin typeface="Courier New" panose="02070309020205020404" pitchFamily="49" charset="0"/>
              </a:rPr>
              <a:t>	</a:t>
            </a:r>
            <a:r>
              <a:rPr lang="pt-BR" sz="2000" b="1" i="1" dirty="0">
                <a:solidFill>
                  <a:srgbClr val="A626A4"/>
                </a:solidFill>
                <a:effectLst/>
                <a:latin typeface="Courier New" panose="02070309020205020404" pitchFamily="49" charset="0"/>
              </a:rPr>
              <a:t>var</a:t>
            </a:r>
            <a:r>
              <a:rPr lang="pt-BR" sz="2000" b="1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2000" b="1" i="1" dirty="0" err="1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saudacoes</a:t>
            </a:r>
            <a:r>
              <a:rPr lang="pt-BR" sz="2000" b="1" i="1" dirty="0">
                <a:solidFill>
                  <a:srgbClr val="383A42"/>
                </a:solidFill>
                <a:effectLst/>
                <a:latin typeface="Courier New" panose="02070309020205020404" pitchFamily="49" charset="0"/>
              </a:rPr>
              <a:t> =</a:t>
            </a:r>
            <a:r>
              <a:rPr lang="pt-BR" sz="2000" b="1" i="1" dirty="0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`Seja bem-vindo </a:t>
            </a:r>
            <a:r>
              <a:rPr lang="pt-BR" sz="2000" b="1" i="1" dirty="0">
                <a:solidFill>
                  <a:srgbClr val="E45649"/>
                </a:solidFill>
                <a:effectLst/>
                <a:latin typeface="Courier New" panose="02070309020205020404" pitchFamily="49" charset="0"/>
              </a:rPr>
              <a:t>${nome}</a:t>
            </a:r>
            <a:r>
              <a:rPr lang="pt-BR" sz="2000" b="1" i="1" dirty="0">
                <a:solidFill>
                  <a:srgbClr val="50A14F"/>
                </a:solidFill>
                <a:effectLst/>
                <a:latin typeface="Courier New" panose="02070309020205020404" pitchFamily="49" charset="0"/>
              </a:rPr>
              <a:t>`</a:t>
            </a:r>
            <a:endParaRPr lang="pt-BR" sz="2000" b="1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4250422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Caractere de Fuga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Como as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devem ser escritas entre aspas, 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não entenderá essa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</a:t>
            </a:r>
          </a:p>
          <a:p>
            <a:pPr marL="152396">
              <a:buSzPts val="1800"/>
            </a:pPr>
            <a:endParaRPr lang="pt-BR" sz="2200" b="1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r>
              <a:rPr lang="pt-BR" sz="2200" b="1" i="1" dirty="0">
                <a:solidFill>
                  <a:srgbClr val="1B1B1B"/>
                </a:solidFill>
                <a:latin typeface="Roboto Mono"/>
                <a:sym typeface="Roboto Mono"/>
              </a:rPr>
              <a:t>	</a:t>
            </a:r>
            <a:r>
              <a:rPr lang="en-US" sz="2200" b="1" i="1" dirty="0">
                <a:solidFill>
                  <a:srgbClr val="1B1B1B"/>
                </a:solidFill>
                <a:latin typeface="Roboto Mono"/>
                <a:sym typeface="Roboto Mono"/>
              </a:rPr>
              <a:t>var text = "We are the so-called \"Vikings\" from the north.";</a:t>
            </a:r>
            <a:endParaRPr lang="pt-BR" sz="2000" b="1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3135846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Caractere de Fuga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Seis outras sequências de escape são válidas em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:</a:t>
            </a:r>
            <a:endParaRPr lang="pt-BR" sz="2200" b="1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152396">
              <a:buSzPts val="1800"/>
            </a:pPr>
            <a:endParaRPr lang="en-US" sz="2000" b="1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895596" lvl="6">
              <a:buSzPts val="1800"/>
            </a:pPr>
            <a:r>
              <a:rPr lang="en-US" sz="2000" b="1" i="1" dirty="0">
                <a:solidFill>
                  <a:srgbClr val="1B1B1B"/>
                </a:solidFill>
                <a:latin typeface="Roboto Mono"/>
                <a:sym typeface="Roboto Mono"/>
              </a:rPr>
              <a:t>Código	</a:t>
            </a:r>
            <a:r>
              <a:rPr lang="en-US" sz="2000" b="1" i="1" dirty="0" err="1">
                <a:solidFill>
                  <a:srgbClr val="1B1B1B"/>
                </a:solidFill>
                <a:latin typeface="Roboto Mono"/>
                <a:sym typeface="Roboto Mono"/>
              </a:rPr>
              <a:t>Resultado</a:t>
            </a:r>
            <a:endParaRPr lang="en-US" sz="2000" b="1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895596" lvl="6">
              <a:buSzPts val="1800"/>
            </a:pPr>
            <a:r>
              <a:rPr lang="en-US" sz="2000" b="1" i="1" dirty="0">
                <a:solidFill>
                  <a:srgbClr val="1B1B1B"/>
                </a:solidFill>
                <a:latin typeface="Roboto Mono"/>
                <a:sym typeface="Roboto Mono"/>
              </a:rPr>
              <a:t>\b		Backspace</a:t>
            </a:r>
          </a:p>
          <a:p>
            <a:pPr marL="2895596" lvl="6">
              <a:buSzPts val="1800"/>
            </a:pPr>
            <a:r>
              <a:rPr lang="en-US" sz="2000" b="1" i="1" dirty="0">
                <a:solidFill>
                  <a:srgbClr val="1B1B1B"/>
                </a:solidFill>
                <a:latin typeface="Roboto Mono"/>
                <a:sym typeface="Roboto Mono"/>
              </a:rPr>
              <a:t>\f		Form Feed</a:t>
            </a:r>
          </a:p>
          <a:p>
            <a:pPr marL="2895596" lvl="6">
              <a:buSzPts val="1800"/>
            </a:pPr>
            <a:r>
              <a:rPr lang="en-US" sz="2000" b="1" i="1" dirty="0">
                <a:solidFill>
                  <a:srgbClr val="1B1B1B"/>
                </a:solidFill>
                <a:latin typeface="Roboto Mono"/>
                <a:sym typeface="Roboto Mono"/>
              </a:rPr>
              <a:t>\n		Nova </a:t>
            </a:r>
            <a:r>
              <a:rPr lang="en-US" sz="2000" b="1" i="1" dirty="0" err="1">
                <a:solidFill>
                  <a:srgbClr val="1B1B1B"/>
                </a:solidFill>
                <a:latin typeface="Roboto Mono"/>
                <a:sym typeface="Roboto Mono"/>
              </a:rPr>
              <a:t>Linha</a:t>
            </a:r>
            <a:endParaRPr lang="en-US" sz="2000" b="1" i="1" dirty="0">
              <a:solidFill>
                <a:srgbClr val="1B1B1B"/>
              </a:solidFill>
              <a:latin typeface="Roboto Mono"/>
              <a:sym typeface="Roboto Mono"/>
            </a:endParaRPr>
          </a:p>
          <a:p>
            <a:pPr marL="2895596" lvl="6">
              <a:buSzPts val="1800"/>
            </a:pPr>
            <a:r>
              <a:rPr lang="en-US" sz="2000" b="1" i="1" dirty="0">
                <a:solidFill>
                  <a:srgbClr val="1B1B1B"/>
                </a:solidFill>
                <a:latin typeface="Roboto Mono"/>
                <a:sym typeface="Roboto Mono"/>
              </a:rPr>
              <a:t>\r	            Carriage Return</a:t>
            </a:r>
          </a:p>
          <a:p>
            <a:pPr marL="2895596" lvl="6">
              <a:buSzPts val="1800"/>
            </a:pPr>
            <a:r>
              <a:rPr lang="en-US" sz="2000" b="1" i="1" dirty="0">
                <a:solidFill>
                  <a:srgbClr val="1B1B1B"/>
                </a:solidFill>
                <a:latin typeface="Roboto Mono"/>
                <a:sym typeface="Roboto Mono"/>
              </a:rPr>
              <a:t>\t	            </a:t>
            </a:r>
            <a:r>
              <a:rPr lang="en-US" sz="2000" b="1" i="1" dirty="0" err="1">
                <a:solidFill>
                  <a:srgbClr val="1B1B1B"/>
                </a:solidFill>
                <a:latin typeface="Roboto Mono"/>
                <a:sym typeface="Roboto Mono"/>
              </a:rPr>
              <a:t>Tabulação</a:t>
            </a:r>
            <a:r>
              <a:rPr lang="en-US" sz="2000" b="1" i="1" dirty="0">
                <a:solidFill>
                  <a:srgbClr val="1B1B1B"/>
                </a:solidFill>
                <a:latin typeface="Roboto Mono"/>
                <a:sym typeface="Roboto Mono"/>
              </a:rPr>
              <a:t> Horizontal</a:t>
            </a:r>
          </a:p>
          <a:p>
            <a:pPr marL="2895596" lvl="6">
              <a:buSzPts val="1800"/>
            </a:pPr>
            <a:r>
              <a:rPr lang="en-US" sz="2000" b="1" i="1" dirty="0">
                <a:solidFill>
                  <a:srgbClr val="1B1B1B"/>
                </a:solidFill>
                <a:latin typeface="Roboto Mono"/>
                <a:sym typeface="Roboto Mono"/>
              </a:rPr>
              <a:t>\v	            </a:t>
            </a:r>
            <a:r>
              <a:rPr lang="en-US" sz="2000" b="1" i="1" dirty="0" err="1">
                <a:solidFill>
                  <a:srgbClr val="1B1B1B"/>
                </a:solidFill>
                <a:latin typeface="Roboto Mono"/>
                <a:sym typeface="Roboto Mono"/>
              </a:rPr>
              <a:t>Tabulação</a:t>
            </a:r>
            <a:r>
              <a:rPr lang="en-US" sz="2000" b="1" i="1" dirty="0">
                <a:solidFill>
                  <a:srgbClr val="1B1B1B"/>
                </a:solidFill>
                <a:latin typeface="Roboto Mono"/>
                <a:sym typeface="Roboto Mono"/>
              </a:rPr>
              <a:t> Vertical</a:t>
            </a:r>
            <a:endParaRPr lang="pt-BR" sz="2000" b="1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729928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30907"/>
            <a:ext cx="12191999" cy="1149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 para </a:t>
            </a:r>
            <a:r>
              <a:rPr lang="pt-BR" sz="5400" dirty="0" err="1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strings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797C2C98-63A7-8CC0-347B-999F3D514499}"/>
              </a:ext>
            </a:extLst>
          </p:cNvPr>
          <p:cNvSpPr txBox="1"/>
          <p:nvPr/>
        </p:nvSpPr>
        <p:spPr>
          <a:xfrm>
            <a:off x="97871" y="2718033"/>
            <a:ext cx="11996257" cy="3812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buSzPts val="1800"/>
            </a:pP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	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JavaScript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diferencia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como tipos primitivos (com aspas duplas ou simples) de objetos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Strings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(quando usamos a palavra reservada new). Mas, por baixo dos panos toda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, mesmo as que criamos com a chamada “forma literal”, por exemplo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const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 texto = “valor texto”, acaba convertida para um objeto do tipo </a:t>
            </a:r>
            <a:r>
              <a:rPr lang="pt-BR" sz="2200" dirty="0" err="1">
                <a:solidFill>
                  <a:srgbClr val="1B1B1B"/>
                </a:solidFill>
                <a:latin typeface="Roboto Mono"/>
                <a:sym typeface="Roboto Mono"/>
              </a:rPr>
              <a:t>String</a:t>
            </a:r>
            <a:r>
              <a:rPr lang="pt-BR" sz="2200" dirty="0">
                <a:solidFill>
                  <a:srgbClr val="1B1B1B"/>
                </a:solidFill>
                <a:latin typeface="Roboto Mono"/>
                <a:sym typeface="Roboto Mono"/>
              </a:rPr>
              <a:t>. Por isso, temos acesso a uma série de métodos e propriedades deste objeto.</a:t>
            </a:r>
            <a:endParaRPr lang="pt-BR" sz="2000" b="1" i="1" dirty="0">
              <a:solidFill>
                <a:srgbClr val="1B1B1B"/>
              </a:solidFill>
              <a:latin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274502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18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5770AE7-4E19-EB78-A0D0-749B54B6073E}"/>
              </a:ext>
            </a:extLst>
          </p:cNvPr>
          <p:cNvSpPr txBox="1"/>
          <p:nvPr/>
        </p:nvSpPr>
        <p:spPr>
          <a:xfrm>
            <a:off x="167113" y="2088859"/>
            <a:ext cx="1183753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Métodos	   	Descrição</a:t>
            </a:r>
          </a:p>
          <a:p>
            <a:r>
              <a:rPr lang="pt-BR" b="1" dirty="0" err="1"/>
              <a:t>charAt</a:t>
            </a:r>
            <a:r>
              <a:rPr lang="pt-BR" b="1" dirty="0"/>
              <a:t>()   	Retorna o caractere em um índice especificado (posição)</a:t>
            </a:r>
          </a:p>
          <a:p>
            <a:r>
              <a:rPr lang="pt-BR" b="1" dirty="0" err="1"/>
              <a:t>charCodeAt</a:t>
            </a:r>
            <a:r>
              <a:rPr lang="pt-BR" b="1" dirty="0"/>
              <a:t>() 	Retorna o Unicode do caractere em um índice especificado</a:t>
            </a:r>
          </a:p>
          <a:p>
            <a:r>
              <a:rPr lang="pt-BR" b="1" dirty="0" err="1"/>
              <a:t>concat</a:t>
            </a:r>
            <a:r>
              <a:rPr lang="pt-BR" b="1" dirty="0"/>
              <a:t>()   	Retorna duas ou mais </a:t>
            </a:r>
            <a:r>
              <a:rPr lang="pt-BR" b="1" dirty="0" err="1"/>
              <a:t>strings</a:t>
            </a:r>
            <a:r>
              <a:rPr lang="pt-BR" b="1" dirty="0"/>
              <a:t> unidas</a:t>
            </a:r>
          </a:p>
          <a:p>
            <a:r>
              <a:rPr lang="pt-BR" b="1" dirty="0" err="1"/>
              <a:t>endsWith</a:t>
            </a:r>
            <a:r>
              <a:rPr lang="pt-BR" b="1" dirty="0"/>
              <a:t>()  	Retorna se uma </a:t>
            </a:r>
            <a:r>
              <a:rPr lang="pt-BR" b="1" dirty="0" err="1"/>
              <a:t>string</a:t>
            </a:r>
            <a:r>
              <a:rPr lang="pt-BR" b="1" dirty="0"/>
              <a:t> termina com um valor especificado</a:t>
            </a:r>
          </a:p>
          <a:p>
            <a:r>
              <a:rPr lang="pt-BR" b="1" dirty="0" err="1"/>
              <a:t>fromCharCode</a:t>
            </a:r>
            <a:r>
              <a:rPr lang="pt-BR" b="1" dirty="0"/>
              <a:t>()   	Retorna valores Unicode como caracteres</a:t>
            </a:r>
          </a:p>
          <a:p>
            <a:r>
              <a:rPr lang="pt-BR" b="1" dirty="0"/>
              <a:t>includes()   	Retorna se uma </a:t>
            </a:r>
            <a:r>
              <a:rPr lang="pt-BR" b="1" dirty="0" err="1"/>
              <a:t>string</a:t>
            </a:r>
            <a:r>
              <a:rPr lang="pt-BR" b="1" dirty="0"/>
              <a:t> contém um valor especificado</a:t>
            </a:r>
          </a:p>
          <a:p>
            <a:r>
              <a:rPr lang="pt-BR" b="1" dirty="0" err="1"/>
              <a:t>indexOf</a:t>
            </a:r>
            <a:r>
              <a:rPr lang="pt-BR" b="1" dirty="0"/>
              <a:t>()   	Retorna o índice (posição) da primeira ocorrência de um valor em uma </a:t>
            </a:r>
            <a:r>
              <a:rPr lang="pt-BR" b="1" dirty="0" err="1"/>
              <a:t>string</a:t>
            </a:r>
            <a:endParaRPr lang="pt-BR" b="1" dirty="0"/>
          </a:p>
          <a:p>
            <a:r>
              <a:rPr lang="pt-BR" b="1" dirty="0" err="1"/>
              <a:t>lastIndexOf</a:t>
            </a:r>
            <a:r>
              <a:rPr lang="pt-BR" b="1" dirty="0"/>
              <a:t>()   	Retorna o índice (posição) da última ocorrência de um valor em uma </a:t>
            </a:r>
            <a:r>
              <a:rPr lang="pt-BR" b="1" dirty="0" err="1"/>
              <a:t>string</a:t>
            </a:r>
            <a:endParaRPr lang="pt-BR" b="1" dirty="0"/>
          </a:p>
          <a:p>
            <a:r>
              <a:rPr lang="pt-BR" b="1" dirty="0" err="1"/>
              <a:t>localeCompare</a:t>
            </a:r>
            <a:r>
              <a:rPr lang="pt-BR" b="1" dirty="0"/>
              <a:t>()     Compara duas </a:t>
            </a:r>
            <a:r>
              <a:rPr lang="pt-BR" b="1" dirty="0" err="1"/>
              <a:t>strings</a:t>
            </a:r>
            <a:r>
              <a:rPr lang="pt-BR" b="1" dirty="0"/>
              <a:t> na localidade atual</a:t>
            </a:r>
          </a:p>
          <a:p>
            <a:r>
              <a:rPr lang="pt-BR" b="1" dirty="0"/>
              <a:t>match()   		Pesquisa uma </a:t>
            </a:r>
            <a:r>
              <a:rPr lang="pt-BR" b="1" dirty="0" err="1"/>
              <a:t>string</a:t>
            </a:r>
            <a:r>
              <a:rPr lang="pt-BR" b="1" dirty="0"/>
              <a:t> por um valor ou uma expressão regular e retorna as correspondências</a:t>
            </a:r>
          </a:p>
          <a:p>
            <a:r>
              <a:rPr lang="pt-BR" b="1" dirty="0" err="1"/>
              <a:t>repeat</a:t>
            </a:r>
            <a:r>
              <a:rPr lang="pt-BR" b="1" dirty="0"/>
              <a:t>()   	Retorna uma nova </a:t>
            </a:r>
            <a:r>
              <a:rPr lang="pt-BR" b="1" dirty="0" err="1"/>
              <a:t>string</a:t>
            </a:r>
            <a:r>
              <a:rPr lang="pt-BR" b="1" dirty="0"/>
              <a:t> com um número de cópias de uma </a:t>
            </a:r>
            <a:r>
              <a:rPr lang="pt-BR" b="1" dirty="0" err="1"/>
              <a:t>string</a:t>
            </a:r>
            <a:endParaRPr lang="pt-BR" b="1" dirty="0"/>
          </a:p>
          <a:p>
            <a:r>
              <a:rPr lang="pt-BR" b="1" dirty="0" err="1"/>
              <a:t>replace</a:t>
            </a:r>
            <a:r>
              <a:rPr lang="pt-BR" b="1" dirty="0"/>
              <a:t>()   	Pesquisa uma </a:t>
            </a:r>
            <a:r>
              <a:rPr lang="pt-BR" b="1" dirty="0" err="1"/>
              <a:t>string</a:t>
            </a:r>
            <a:r>
              <a:rPr lang="pt-BR" b="1" dirty="0"/>
              <a:t> por um valor ou uma expressão regular e retorna uma </a:t>
            </a:r>
            <a:r>
              <a:rPr lang="pt-BR" b="1" dirty="0" err="1"/>
              <a:t>string</a:t>
            </a:r>
            <a:r>
              <a:rPr lang="pt-BR" b="1" dirty="0"/>
              <a:t> onde os valores são 		substituídos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623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0" y="905740"/>
            <a:ext cx="12191999" cy="118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54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Métodos</a:t>
            </a:r>
            <a:endParaRPr lang="pt-BR" sz="3600" dirty="0">
              <a:solidFill>
                <a:srgbClr val="FFDA3E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9CADA192-C9A8-B9C0-227F-815B950732DA}"/>
              </a:ext>
            </a:extLst>
          </p:cNvPr>
          <p:cNvSpPr txBox="1"/>
          <p:nvPr/>
        </p:nvSpPr>
        <p:spPr>
          <a:xfrm>
            <a:off x="731622" y="214261"/>
            <a:ext cx="11004402" cy="5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sz="1600" dirty="0">
                <a:solidFill>
                  <a:srgbClr val="D6BA32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Curso Javascript básico – Aula 08</a:t>
            </a:r>
          </a:p>
          <a:p>
            <a:endParaRPr sz="1600" dirty="0">
              <a:solidFill>
                <a:srgbClr val="1572B6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CAB4A95-049E-FA42-9A48-687C191F8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12" y="188606"/>
            <a:ext cx="564510" cy="56451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5770AE7-4E19-EB78-A0D0-749B54B6073E}"/>
              </a:ext>
            </a:extLst>
          </p:cNvPr>
          <p:cNvSpPr txBox="1"/>
          <p:nvPr/>
        </p:nvSpPr>
        <p:spPr>
          <a:xfrm>
            <a:off x="167113" y="2088859"/>
            <a:ext cx="1183753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Métodos	   		Descrição</a:t>
            </a:r>
          </a:p>
          <a:p>
            <a:r>
              <a:rPr lang="pt-BR" b="1" dirty="0" err="1"/>
              <a:t>search</a:t>
            </a:r>
            <a:r>
              <a:rPr lang="pt-BR" b="1" dirty="0"/>
              <a:t>()   			Pesquisa um valor ou expressão regular em uma </a:t>
            </a:r>
            <a:r>
              <a:rPr lang="pt-BR" b="1" dirty="0" err="1"/>
              <a:t>string</a:t>
            </a:r>
            <a:r>
              <a:rPr lang="pt-BR" b="1" dirty="0"/>
              <a:t> e retorna o índice (posição) da 				correspondência</a:t>
            </a:r>
          </a:p>
          <a:p>
            <a:r>
              <a:rPr lang="pt-BR" b="1" dirty="0" err="1"/>
              <a:t>slice</a:t>
            </a:r>
            <a:r>
              <a:rPr lang="pt-BR" b="1" dirty="0"/>
              <a:t>()   			Extrai uma parte de uma </a:t>
            </a:r>
            <a:r>
              <a:rPr lang="pt-BR" b="1" dirty="0" err="1"/>
              <a:t>string</a:t>
            </a:r>
            <a:r>
              <a:rPr lang="pt-BR" b="1" dirty="0"/>
              <a:t> e retorna uma nova </a:t>
            </a:r>
            <a:r>
              <a:rPr lang="pt-BR" b="1" dirty="0" err="1"/>
              <a:t>string</a:t>
            </a:r>
            <a:endParaRPr lang="pt-BR" b="1" dirty="0"/>
          </a:p>
          <a:p>
            <a:r>
              <a:rPr lang="pt-BR" b="1" dirty="0"/>
              <a:t>split()   			Divide uma </a:t>
            </a:r>
            <a:r>
              <a:rPr lang="pt-BR" b="1" dirty="0" err="1"/>
              <a:t>string</a:t>
            </a:r>
            <a:r>
              <a:rPr lang="pt-BR" b="1" dirty="0"/>
              <a:t> em uma matriz de </a:t>
            </a:r>
            <a:r>
              <a:rPr lang="pt-BR" b="1" dirty="0" err="1"/>
              <a:t>substrings</a:t>
            </a:r>
            <a:endParaRPr lang="pt-BR" b="1" dirty="0"/>
          </a:p>
          <a:p>
            <a:r>
              <a:rPr lang="pt-BR" b="1" dirty="0" err="1"/>
              <a:t>startsWith</a:t>
            </a:r>
            <a:r>
              <a:rPr lang="pt-BR" b="1" dirty="0"/>
              <a:t>()   		Verifica se uma </a:t>
            </a:r>
            <a:r>
              <a:rPr lang="pt-BR" b="1" dirty="0" err="1"/>
              <a:t>string</a:t>
            </a:r>
            <a:r>
              <a:rPr lang="pt-BR" b="1" dirty="0"/>
              <a:t> começa com caracteres especificados</a:t>
            </a:r>
          </a:p>
          <a:p>
            <a:r>
              <a:rPr lang="pt-BR" b="1" dirty="0" err="1"/>
              <a:t>substr</a:t>
            </a:r>
            <a:r>
              <a:rPr lang="pt-BR" b="1" dirty="0"/>
              <a:t>()   			Extrai um número de caracteres de uma </a:t>
            </a:r>
            <a:r>
              <a:rPr lang="pt-BR" b="1" dirty="0" err="1"/>
              <a:t>string</a:t>
            </a:r>
            <a:r>
              <a:rPr lang="pt-BR" b="1" dirty="0"/>
              <a:t>, de um índice inicial (posição)</a:t>
            </a:r>
          </a:p>
          <a:p>
            <a:r>
              <a:rPr lang="pt-BR" b="1" dirty="0" err="1"/>
              <a:t>substring</a:t>
            </a:r>
            <a:r>
              <a:rPr lang="pt-BR" b="1" dirty="0"/>
              <a:t>()   		Extrai caracteres de uma </a:t>
            </a:r>
            <a:r>
              <a:rPr lang="pt-BR" b="1" dirty="0" err="1"/>
              <a:t>string</a:t>
            </a:r>
            <a:r>
              <a:rPr lang="pt-BR" b="1" dirty="0"/>
              <a:t>, entre dois índices especificados (posições)</a:t>
            </a:r>
          </a:p>
          <a:p>
            <a:r>
              <a:rPr lang="pt-BR" b="1" dirty="0" err="1"/>
              <a:t>toLocaleLowerCase</a:t>
            </a:r>
            <a:r>
              <a:rPr lang="pt-BR" b="1" dirty="0"/>
              <a:t>()   	Retorna uma </a:t>
            </a:r>
            <a:r>
              <a:rPr lang="pt-BR" b="1" dirty="0" err="1"/>
              <a:t>string</a:t>
            </a:r>
            <a:r>
              <a:rPr lang="pt-BR" b="1" dirty="0"/>
              <a:t> convertida em letras minúsculas, usando a localidade do host</a:t>
            </a:r>
          </a:p>
          <a:p>
            <a:r>
              <a:rPr lang="pt-BR" b="1" dirty="0" err="1"/>
              <a:t>toLocaleUpperCase</a:t>
            </a:r>
            <a:r>
              <a:rPr lang="pt-BR" b="1" dirty="0"/>
              <a:t>()   	Retorna uma </a:t>
            </a:r>
            <a:r>
              <a:rPr lang="pt-BR" b="1" dirty="0" err="1"/>
              <a:t>string</a:t>
            </a:r>
            <a:r>
              <a:rPr lang="pt-BR" b="1" dirty="0"/>
              <a:t> convertida em letras maiúsculas, usando a localidade do host</a:t>
            </a:r>
          </a:p>
          <a:p>
            <a:r>
              <a:rPr lang="pt-BR" b="1" dirty="0" err="1"/>
              <a:t>toLowerCase</a:t>
            </a:r>
            <a:r>
              <a:rPr lang="pt-BR" b="1" dirty="0"/>
              <a:t>()   		Retorna uma </a:t>
            </a:r>
            <a:r>
              <a:rPr lang="pt-BR" b="1" dirty="0" err="1"/>
              <a:t>string</a:t>
            </a:r>
            <a:r>
              <a:rPr lang="pt-BR" b="1" dirty="0"/>
              <a:t> convertida em letras minúsculas</a:t>
            </a:r>
          </a:p>
          <a:p>
            <a:r>
              <a:rPr lang="pt-BR" b="1" dirty="0" err="1"/>
              <a:t>toString</a:t>
            </a:r>
            <a:r>
              <a:rPr lang="pt-BR" b="1" dirty="0"/>
              <a:t>()   		Retorna uma </a:t>
            </a:r>
            <a:r>
              <a:rPr lang="pt-BR" b="1" dirty="0" err="1"/>
              <a:t>string</a:t>
            </a:r>
            <a:r>
              <a:rPr lang="pt-BR" b="1" dirty="0"/>
              <a:t> ou um objeto </a:t>
            </a:r>
            <a:r>
              <a:rPr lang="pt-BR" b="1" dirty="0" err="1"/>
              <a:t>string</a:t>
            </a:r>
            <a:r>
              <a:rPr lang="pt-BR" b="1" dirty="0"/>
              <a:t> como uma </a:t>
            </a:r>
            <a:r>
              <a:rPr lang="pt-BR" b="1" dirty="0" err="1"/>
              <a:t>string</a:t>
            </a:r>
            <a:endParaRPr lang="pt-BR" b="1" dirty="0"/>
          </a:p>
          <a:p>
            <a:r>
              <a:rPr lang="pt-BR" b="1" dirty="0" err="1"/>
              <a:t>toUpperCase</a:t>
            </a:r>
            <a:r>
              <a:rPr lang="pt-BR" b="1" dirty="0"/>
              <a:t>()   		Retorna uma </a:t>
            </a:r>
            <a:r>
              <a:rPr lang="pt-BR" b="1" dirty="0" err="1"/>
              <a:t>string</a:t>
            </a:r>
            <a:r>
              <a:rPr lang="pt-BR" b="1" dirty="0"/>
              <a:t> convertida em letras maiúsculas</a:t>
            </a:r>
          </a:p>
          <a:p>
            <a:r>
              <a:rPr lang="pt-BR" b="1" dirty="0" err="1"/>
              <a:t>trim</a:t>
            </a:r>
            <a:r>
              <a:rPr lang="pt-BR" b="1" dirty="0"/>
              <a:t>()   			Retorna uma </a:t>
            </a:r>
            <a:r>
              <a:rPr lang="pt-BR" b="1" dirty="0" err="1"/>
              <a:t>string</a:t>
            </a:r>
            <a:r>
              <a:rPr lang="pt-BR" b="1" dirty="0"/>
              <a:t> com espaços em branco removidos</a:t>
            </a:r>
          </a:p>
          <a:p>
            <a:r>
              <a:rPr lang="pt-BR" b="1" dirty="0" err="1"/>
              <a:t>valueOf</a:t>
            </a:r>
            <a:r>
              <a:rPr lang="pt-BR" b="1" dirty="0"/>
              <a:t>()   		Retorna o valor primitivo de uma </a:t>
            </a:r>
            <a:r>
              <a:rPr lang="pt-BR" b="1" dirty="0" err="1"/>
              <a:t>string</a:t>
            </a:r>
            <a:r>
              <a:rPr lang="pt-BR" b="1" dirty="0"/>
              <a:t> ou um objeto </a:t>
            </a:r>
            <a:r>
              <a:rPr lang="pt-BR" b="1" dirty="0" err="1"/>
              <a:t>string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7632618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10641</TotalTime>
  <Words>1105</Words>
  <Application>Microsoft Office PowerPoint</Application>
  <PresentationFormat>Widescreen</PresentationFormat>
  <Paragraphs>98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Roboto Mono</vt:lpstr>
      <vt:lpstr>Roboto Mono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João Henrique Cunha Rangel</dc:creator>
  <cp:lastModifiedBy>Marcelo Vieira</cp:lastModifiedBy>
  <cp:revision>78</cp:revision>
  <cp:lastPrinted>2022-07-04T12:22:48Z</cp:lastPrinted>
  <dcterms:created xsi:type="dcterms:W3CDTF">2018-09-27T21:57:56Z</dcterms:created>
  <dcterms:modified xsi:type="dcterms:W3CDTF">2022-07-06T20:42:12Z</dcterms:modified>
</cp:coreProperties>
</file>