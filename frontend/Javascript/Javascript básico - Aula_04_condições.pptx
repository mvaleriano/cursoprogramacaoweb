
<file path=[Content_Types].xml><?xml version="1.0" encoding="utf-8"?>
<Types xmlns="http://schemas.openxmlformats.org/package/2006/content-types">
  <Default Extension="jpeg" ContentType="image/jpeg"/>
  <Default Extension="jpg" ContentType="image/unknown"/>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769" r:id="rId2"/>
    <p:sldId id="778" r:id="rId3"/>
    <p:sldId id="797" r:id="rId4"/>
    <p:sldId id="809" r:id="rId5"/>
    <p:sldId id="798" r:id="rId6"/>
    <p:sldId id="802" r:id="rId7"/>
    <p:sldId id="810" r:id="rId8"/>
    <p:sldId id="803" r:id="rId9"/>
    <p:sldId id="804" r:id="rId10"/>
    <p:sldId id="808" r:id="rId11"/>
    <p:sldId id="811" r:id="rId12"/>
    <p:sldId id="805" r:id="rId13"/>
    <p:sldId id="806" r:id="rId14"/>
    <p:sldId id="807" r:id="rId15"/>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BA32"/>
    <a:srgbClr val="FFDA3E"/>
    <a:srgbClr val="F47920"/>
    <a:srgbClr val="1572B6"/>
    <a:srgbClr val="35A8D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1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6C8844-F009-45FC-92E0-5330E07D2391}" type="datetimeFigureOut">
              <a:rPr lang="pt-BR" smtClean="0"/>
              <a:t>25/06/2022</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488C18-FEF5-4A10-8A62-F4039403FDD5}" type="slidenum">
              <a:rPr lang="pt-BR" smtClean="0"/>
              <a:t>‹nº›</a:t>
            </a:fld>
            <a:endParaRPr lang="pt-BR"/>
          </a:p>
        </p:txBody>
      </p:sp>
    </p:spTree>
    <p:extLst>
      <p:ext uri="{BB962C8B-B14F-4D97-AF65-F5344CB8AC3E}">
        <p14:creationId xmlns:p14="http://schemas.microsoft.com/office/powerpoint/2010/main" val="289208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61b1306868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61b1306868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245223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4591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95106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911510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275691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027293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28492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445635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31183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629280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288100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4000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935123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434ad92c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434ad92c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831131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p:cNvSpPr>
            <a:spLocks noGrp="1"/>
          </p:cNvSpPr>
          <p:nvPr>
            <p:ph type="dt" sz="half" idx="10"/>
          </p:nvPr>
        </p:nvSpPr>
        <p:spPr/>
        <p:txBody>
          <a:bodyPr/>
          <a:lstStyle/>
          <a:p>
            <a:fld id="{D7094C45-9102-437E-AE66-F57C174F1152}" type="datetimeFigureOut">
              <a:rPr lang="pt-BR" smtClean="0"/>
              <a:t>25/06/2022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0BBABEC-0FAF-4CB4-8A95-78DD35F8A712}" type="slidenum">
              <a:rPr lang="pt-BR" smtClean="0"/>
              <a:t>‹nº›</a:t>
            </a:fld>
            <a:endParaRPr lang="pt-BR"/>
          </a:p>
        </p:txBody>
      </p:sp>
    </p:spTree>
    <p:extLst>
      <p:ext uri="{BB962C8B-B14F-4D97-AF65-F5344CB8AC3E}">
        <p14:creationId xmlns:p14="http://schemas.microsoft.com/office/powerpoint/2010/main" val="2107349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D7094C45-9102-437E-AE66-F57C174F1152}" type="datetimeFigureOut">
              <a:rPr lang="pt-BR" smtClean="0"/>
              <a:t>25/06/2022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0BBABEC-0FAF-4CB4-8A95-78DD35F8A712}" type="slidenum">
              <a:rPr lang="pt-BR" smtClean="0"/>
              <a:t>‹nº›</a:t>
            </a:fld>
            <a:endParaRPr lang="pt-BR"/>
          </a:p>
        </p:txBody>
      </p:sp>
    </p:spTree>
    <p:extLst>
      <p:ext uri="{BB962C8B-B14F-4D97-AF65-F5344CB8AC3E}">
        <p14:creationId xmlns:p14="http://schemas.microsoft.com/office/powerpoint/2010/main" val="40986922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 texto mestre</a:t>
            </a:r>
          </a:p>
        </p:txBody>
      </p:sp>
      <p:sp>
        <p:nvSpPr>
          <p:cNvPr id="4" name="Espaço Reservado para Data 3"/>
          <p:cNvSpPr>
            <a:spLocks noGrp="1"/>
          </p:cNvSpPr>
          <p:nvPr>
            <p:ph type="dt" sz="half" idx="10"/>
          </p:nvPr>
        </p:nvSpPr>
        <p:spPr/>
        <p:txBody>
          <a:bodyPr/>
          <a:lstStyle/>
          <a:p>
            <a:fld id="{D7094C45-9102-437E-AE66-F57C174F1152}" type="datetimeFigureOut">
              <a:rPr lang="pt-BR" smtClean="0"/>
              <a:t>25/06/2022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0BBABEC-0FAF-4CB4-8A95-78DD35F8A712}" type="slidenum">
              <a:rPr lang="pt-BR" smtClean="0"/>
              <a:t>‹nº›</a:t>
            </a:fld>
            <a:endParaRPr lang="pt-BR"/>
          </a:p>
        </p:txBody>
      </p:sp>
    </p:spTree>
    <p:extLst>
      <p:ext uri="{BB962C8B-B14F-4D97-AF65-F5344CB8AC3E}">
        <p14:creationId xmlns:p14="http://schemas.microsoft.com/office/powerpoint/2010/main" val="12698791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sz="half" idx="1"/>
          </p:nvPr>
        </p:nvSpPr>
        <p:spPr>
          <a:xfrm>
            <a:off x="838200" y="1825625"/>
            <a:ext cx="5181600" cy="435133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6172200" y="1825625"/>
            <a:ext cx="5181600" cy="435133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p:cNvSpPr>
            <a:spLocks noGrp="1"/>
          </p:cNvSpPr>
          <p:nvPr>
            <p:ph type="dt" sz="half" idx="10"/>
          </p:nvPr>
        </p:nvSpPr>
        <p:spPr/>
        <p:txBody>
          <a:bodyPr/>
          <a:lstStyle/>
          <a:p>
            <a:fld id="{D7094C45-9102-437E-AE66-F57C174F1152}" type="datetimeFigureOut">
              <a:rPr lang="pt-BR" smtClean="0"/>
              <a:t>25/06/2022</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0BBABEC-0FAF-4CB4-8A95-78DD35F8A712}" type="slidenum">
              <a:rPr lang="pt-BR" smtClean="0"/>
              <a:t>‹nº›</a:t>
            </a:fld>
            <a:endParaRPr lang="pt-BR"/>
          </a:p>
        </p:txBody>
      </p:sp>
    </p:spTree>
    <p:extLst>
      <p:ext uri="{BB962C8B-B14F-4D97-AF65-F5344CB8AC3E}">
        <p14:creationId xmlns:p14="http://schemas.microsoft.com/office/powerpoint/2010/main" val="36046967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4" name="Espaço Reservado para Conteúdo 3"/>
          <p:cNvSpPr>
            <a:spLocks noGrp="1"/>
          </p:cNvSpPr>
          <p:nvPr>
            <p:ph sz="half" idx="2"/>
          </p:nvPr>
        </p:nvSpPr>
        <p:spPr>
          <a:xfrm>
            <a:off x="839788" y="2505075"/>
            <a:ext cx="5157787" cy="368458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6" name="Espaço Reservado para Conteúdo 5"/>
          <p:cNvSpPr>
            <a:spLocks noGrp="1"/>
          </p:cNvSpPr>
          <p:nvPr>
            <p:ph sz="quarter" idx="4"/>
          </p:nvPr>
        </p:nvSpPr>
        <p:spPr>
          <a:xfrm>
            <a:off x="6172200" y="2505075"/>
            <a:ext cx="5183188" cy="3684588"/>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p:cNvSpPr>
            <a:spLocks noGrp="1"/>
          </p:cNvSpPr>
          <p:nvPr>
            <p:ph type="dt" sz="half" idx="10"/>
          </p:nvPr>
        </p:nvSpPr>
        <p:spPr/>
        <p:txBody>
          <a:bodyPr/>
          <a:lstStyle/>
          <a:p>
            <a:fld id="{D7094C45-9102-437E-AE66-F57C174F1152}" type="datetimeFigureOut">
              <a:rPr lang="pt-BR" smtClean="0"/>
              <a:t>25/06/2022</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80BBABEC-0FAF-4CB4-8A95-78DD35F8A712}" type="slidenum">
              <a:rPr lang="pt-BR" smtClean="0"/>
              <a:t>‹nº›</a:t>
            </a:fld>
            <a:endParaRPr lang="pt-BR"/>
          </a:p>
        </p:txBody>
      </p:sp>
    </p:spTree>
    <p:extLst>
      <p:ext uri="{BB962C8B-B14F-4D97-AF65-F5344CB8AC3E}">
        <p14:creationId xmlns:p14="http://schemas.microsoft.com/office/powerpoint/2010/main" val="17210169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Data 2"/>
          <p:cNvSpPr>
            <a:spLocks noGrp="1"/>
          </p:cNvSpPr>
          <p:nvPr>
            <p:ph type="dt" sz="half" idx="10"/>
          </p:nvPr>
        </p:nvSpPr>
        <p:spPr/>
        <p:txBody>
          <a:bodyPr/>
          <a:lstStyle/>
          <a:p>
            <a:fld id="{D7094C45-9102-437E-AE66-F57C174F1152}" type="datetimeFigureOut">
              <a:rPr lang="pt-BR" smtClean="0"/>
              <a:t>25/06/2022</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80BBABEC-0FAF-4CB4-8A95-78DD35F8A712}" type="slidenum">
              <a:rPr lang="pt-BR" smtClean="0"/>
              <a:t>‹nº›</a:t>
            </a:fld>
            <a:endParaRPr lang="pt-BR"/>
          </a:p>
        </p:txBody>
      </p:sp>
    </p:spTree>
    <p:extLst>
      <p:ext uri="{BB962C8B-B14F-4D97-AF65-F5344CB8AC3E}">
        <p14:creationId xmlns:p14="http://schemas.microsoft.com/office/powerpoint/2010/main" val="521920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D7094C45-9102-437E-AE66-F57C174F1152}" type="datetimeFigureOut">
              <a:rPr lang="pt-BR" smtClean="0"/>
              <a:t>25/06/2022</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80BBABEC-0FAF-4CB4-8A95-78DD35F8A712}" type="slidenum">
              <a:rPr lang="pt-BR" smtClean="0"/>
              <a:t>‹nº›</a:t>
            </a:fld>
            <a:endParaRPr lang="pt-BR"/>
          </a:p>
        </p:txBody>
      </p:sp>
    </p:spTree>
    <p:extLst>
      <p:ext uri="{BB962C8B-B14F-4D97-AF65-F5344CB8AC3E}">
        <p14:creationId xmlns:p14="http://schemas.microsoft.com/office/powerpoint/2010/main" val="241555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D7094C45-9102-437E-AE66-F57C174F1152}" type="datetimeFigureOut">
              <a:rPr lang="pt-BR" smtClean="0"/>
              <a:t>25/06/2022</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0BBABEC-0FAF-4CB4-8A95-78DD35F8A712}" type="slidenum">
              <a:rPr lang="pt-BR" smtClean="0"/>
              <a:t>‹nº›</a:t>
            </a:fld>
            <a:endParaRPr lang="pt-BR"/>
          </a:p>
        </p:txBody>
      </p:sp>
    </p:spTree>
    <p:extLst>
      <p:ext uri="{BB962C8B-B14F-4D97-AF65-F5344CB8AC3E}">
        <p14:creationId xmlns:p14="http://schemas.microsoft.com/office/powerpoint/2010/main" val="34083350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D7094C45-9102-437E-AE66-F57C174F1152}" type="datetimeFigureOut">
              <a:rPr lang="pt-BR" smtClean="0"/>
              <a:t>25/06/2022</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0BBABEC-0FAF-4CB4-8A95-78DD35F8A712}" type="slidenum">
              <a:rPr lang="pt-BR" smtClean="0"/>
              <a:t>‹nº›</a:t>
            </a:fld>
            <a:endParaRPr lang="pt-BR"/>
          </a:p>
        </p:txBody>
      </p:sp>
    </p:spTree>
    <p:extLst>
      <p:ext uri="{BB962C8B-B14F-4D97-AF65-F5344CB8AC3E}">
        <p14:creationId xmlns:p14="http://schemas.microsoft.com/office/powerpoint/2010/main" val="38259236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D7094C45-9102-437E-AE66-F57C174F1152}" type="datetimeFigureOut">
              <a:rPr lang="pt-BR" smtClean="0"/>
              <a:t>25/06/2022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0BBABEC-0FAF-4CB4-8A95-78DD35F8A712}" type="slidenum">
              <a:rPr lang="pt-BR" smtClean="0"/>
              <a:t>‹nº›</a:t>
            </a:fld>
            <a:endParaRPr lang="pt-BR"/>
          </a:p>
        </p:txBody>
      </p:sp>
    </p:spTree>
    <p:extLst>
      <p:ext uri="{BB962C8B-B14F-4D97-AF65-F5344CB8AC3E}">
        <p14:creationId xmlns:p14="http://schemas.microsoft.com/office/powerpoint/2010/main" val="29641127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p:cNvSpPr>
            <a:spLocks noGrp="1"/>
          </p:cNvSpPr>
          <p:nvPr>
            <p:ph type="body" orient="vert" idx="1"/>
          </p:nvPr>
        </p:nvSpPr>
        <p:spPr>
          <a:xfrm>
            <a:off x="838200" y="365125"/>
            <a:ext cx="7734300" cy="5811838"/>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D7094C45-9102-437E-AE66-F57C174F1152}" type="datetimeFigureOut">
              <a:rPr lang="pt-BR" smtClean="0"/>
              <a:t>25/06/2022</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0BBABEC-0FAF-4CB4-8A95-78DD35F8A712}" type="slidenum">
              <a:rPr lang="pt-BR" smtClean="0"/>
              <a:t>‹nº›</a:t>
            </a:fld>
            <a:endParaRPr lang="pt-BR"/>
          </a:p>
        </p:txBody>
      </p:sp>
    </p:spTree>
    <p:extLst>
      <p:ext uri="{BB962C8B-B14F-4D97-AF65-F5344CB8AC3E}">
        <p14:creationId xmlns:p14="http://schemas.microsoft.com/office/powerpoint/2010/main" val="37068846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7094C45-9102-437E-AE66-F57C174F1152}" type="datetimeFigureOut">
              <a:rPr lang="pt-BR" smtClean="0"/>
              <a:t>25/06/2022</a:t>
            </a:fld>
            <a:endParaRPr lang="pt-BR"/>
          </a:p>
        </p:txBody>
      </p:sp>
      <p:sp>
        <p:nvSpPr>
          <p:cNvPr id="5" name="Espaço Reservado para Rodapé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BBABEC-0FAF-4CB4-8A95-78DD35F8A712}" type="slidenum">
              <a:rPr lang="pt-BR" smtClean="0"/>
              <a:t>‹nº›</a:t>
            </a:fld>
            <a:endParaRPr lang="pt-BR"/>
          </a:p>
        </p:txBody>
      </p:sp>
    </p:spTree>
    <p:extLst>
      <p:ext uri="{BB962C8B-B14F-4D97-AF65-F5344CB8AC3E}">
        <p14:creationId xmlns:p14="http://schemas.microsoft.com/office/powerpoint/2010/main" val="21763658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5" name="Google Shape;55;p13"/>
          <p:cNvSpPr txBox="1"/>
          <p:nvPr/>
        </p:nvSpPr>
        <p:spPr>
          <a:xfrm>
            <a:off x="871017" y="4381269"/>
            <a:ext cx="10450000" cy="1046000"/>
          </a:xfrm>
          <a:prstGeom prst="rect">
            <a:avLst/>
          </a:prstGeom>
          <a:noFill/>
          <a:ln>
            <a:noFill/>
          </a:ln>
        </p:spPr>
        <p:txBody>
          <a:bodyPr spcFirstLastPara="1" wrap="square" lIns="121900" tIns="121900" rIns="121900" bIns="121900" anchor="t" anchorCtr="0">
            <a:noAutofit/>
          </a:bodyPr>
          <a:lstStyle/>
          <a:p>
            <a:pPr algn="ctr"/>
            <a:r>
              <a:rPr lang="pt-BR" sz="5600" dirty="0">
                <a:solidFill>
                  <a:srgbClr val="D6BA32"/>
                </a:solidFill>
                <a:latin typeface="Roboto Mono Medium"/>
                <a:ea typeface="Roboto Mono Medium"/>
                <a:cs typeface="Roboto Mono Medium"/>
                <a:sym typeface="Roboto Mono Medium"/>
              </a:rPr>
              <a:t>Curso Javascript básico</a:t>
            </a:r>
          </a:p>
          <a:p>
            <a:pPr algn="ctr"/>
            <a:r>
              <a:rPr lang="pt-BR" sz="5600" dirty="0">
                <a:solidFill>
                  <a:srgbClr val="D6BA32"/>
                </a:solidFill>
                <a:latin typeface="Roboto Mono Medium"/>
                <a:ea typeface="Roboto Mono Medium"/>
                <a:cs typeface="Roboto Mono Medium"/>
                <a:sym typeface="Roboto Mono Medium"/>
              </a:rPr>
              <a:t>Aula 04 </a:t>
            </a:r>
            <a:endParaRPr sz="5600" dirty="0">
              <a:solidFill>
                <a:srgbClr val="D6BA32"/>
              </a:solidFill>
              <a:latin typeface="Roboto Mono Medium"/>
              <a:ea typeface="Roboto Mono Medium"/>
              <a:cs typeface="Roboto Mono Medium"/>
              <a:sym typeface="Roboto Mono Medium"/>
            </a:endParaRPr>
          </a:p>
          <a:p>
            <a:pPr algn="ctr"/>
            <a:endParaRPr sz="2400" dirty="0">
              <a:solidFill>
                <a:srgbClr val="264DE3"/>
              </a:solidFill>
              <a:latin typeface="Roboto Mono Medium"/>
              <a:ea typeface="Roboto Mono Medium"/>
              <a:cs typeface="Roboto Mono Medium"/>
              <a:sym typeface="Roboto Mono Medium"/>
            </a:endParaRPr>
          </a:p>
        </p:txBody>
      </p:sp>
      <p:pic>
        <p:nvPicPr>
          <p:cNvPr id="4" name="Imagem 3">
            <a:extLst>
              <a:ext uri="{FF2B5EF4-FFF2-40B4-BE49-F238E27FC236}">
                <a16:creationId xmlns:a16="http://schemas.microsoft.com/office/drawing/2014/main" id="{4C604F82-D39D-A579-B80D-9584FB8013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60496" y="841227"/>
            <a:ext cx="3534212" cy="3534212"/>
          </a:xfrm>
          <a:prstGeom prst="rect">
            <a:avLst/>
          </a:prstGeom>
        </p:spPr>
      </p:pic>
    </p:spTree>
    <p:extLst>
      <p:ext uri="{BB962C8B-B14F-4D97-AF65-F5344CB8AC3E}">
        <p14:creationId xmlns:p14="http://schemas.microsoft.com/office/powerpoint/2010/main" val="34718362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795499" y="727266"/>
            <a:ext cx="10450000" cy="1486940"/>
          </a:xfrm>
          <a:prstGeom prst="rect">
            <a:avLst/>
          </a:prstGeom>
          <a:noFill/>
          <a:ln>
            <a:noFill/>
          </a:ln>
        </p:spPr>
        <p:txBody>
          <a:bodyPr spcFirstLastPara="1" wrap="square" lIns="121900" tIns="121900" rIns="121900" bIns="121900" anchor="t" anchorCtr="0">
            <a:noAutofit/>
          </a:bodyPr>
          <a:lstStyle/>
          <a:p>
            <a:pPr algn="ctr"/>
            <a:r>
              <a:rPr lang="pt-BR" sz="5600" dirty="0">
                <a:solidFill>
                  <a:srgbClr val="D6BA32"/>
                </a:solidFill>
                <a:latin typeface="Roboto Mono Medium"/>
                <a:ea typeface="Roboto Mono Medium"/>
                <a:cs typeface="Roboto Mono Medium"/>
                <a:sym typeface="Roboto Mono Medium"/>
              </a:rPr>
              <a:t>O que são Condições?</a:t>
            </a:r>
          </a:p>
          <a:p>
            <a:pPr algn="ctr"/>
            <a:r>
              <a:rPr lang="pt-BR" sz="2800" dirty="0">
                <a:solidFill>
                  <a:srgbClr val="D6BA32"/>
                </a:solidFill>
                <a:latin typeface="Roboto Mono Medium"/>
                <a:ea typeface="Roboto Mono Medium"/>
                <a:cs typeface="Roboto Mono Medium"/>
                <a:sym typeface="Roboto Mono Medium"/>
              </a:rPr>
              <a:t>Tomando Decisões</a:t>
            </a:r>
          </a:p>
        </p:txBody>
      </p:sp>
      <p:sp>
        <p:nvSpPr>
          <p:cNvPr id="11" name="Google Shape;65;p14">
            <a:extLst>
              <a:ext uri="{FF2B5EF4-FFF2-40B4-BE49-F238E27FC236}">
                <a16:creationId xmlns:a16="http://schemas.microsoft.com/office/drawing/2014/main" id="{CF91C24E-8935-FBC9-9C57-CCD726DB9001}"/>
              </a:ext>
            </a:extLst>
          </p:cNvPr>
          <p:cNvSpPr txBox="1"/>
          <p:nvPr/>
        </p:nvSpPr>
        <p:spPr>
          <a:xfrm>
            <a:off x="232400" y="2727211"/>
            <a:ext cx="11727200" cy="3630514"/>
          </a:xfrm>
          <a:prstGeom prst="rect">
            <a:avLst/>
          </a:prstGeom>
          <a:noFill/>
          <a:ln>
            <a:noFill/>
          </a:ln>
        </p:spPr>
        <p:txBody>
          <a:bodyPr spcFirstLastPara="1" wrap="square" lIns="121900" tIns="121900" rIns="121900" bIns="121900" anchor="t" anchorCtr="0">
            <a:noAutofit/>
          </a:bodyPr>
          <a:lstStyle/>
          <a:p>
            <a:pPr marL="152396">
              <a:buSzPts val="1800"/>
            </a:pPr>
            <a:r>
              <a:rPr lang="pt-BR" dirty="0">
                <a:latin typeface="Roboto Mono"/>
                <a:ea typeface="Roboto Mono"/>
                <a:cs typeface="Roboto Mono"/>
                <a:sym typeface="Roboto Mono"/>
              </a:rPr>
              <a:t>	Em dado momento nosso código precisa tomar decisões e realizar dependendo de diferentes situações. Por exemplo, em um jogo, se o número de vidas do jogador é 0, então o jogo acaba. Em um aplicativo de clima, se estiver sendo observado pela manhã, ele mostra um gráfico do nascer do sol; Mostra estrelas e uma lua se for noite. </a:t>
            </a:r>
          </a:p>
          <a:p>
            <a:pPr marL="152396">
              <a:buSzPts val="1800"/>
            </a:pPr>
            <a:r>
              <a:rPr lang="pt-BR" dirty="0">
                <a:latin typeface="Roboto Mono"/>
                <a:ea typeface="Roboto Mono"/>
                <a:cs typeface="Roboto Mono"/>
                <a:sym typeface="Roboto Mono"/>
              </a:rPr>
              <a:t>	As declarações condicionais nos permitem representar tomadas de decisão em </a:t>
            </a:r>
            <a:r>
              <a:rPr lang="pt-BR" dirty="0" err="1">
                <a:latin typeface="Roboto Mono"/>
                <a:ea typeface="Roboto Mono"/>
                <a:cs typeface="Roboto Mono"/>
                <a:sym typeface="Roboto Mono"/>
              </a:rPr>
              <a:t>JavaScript</a:t>
            </a:r>
            <a:r>
              <a:rPr lang="pt-BR" dirty="0">
                <a:latin typeface="Roboto Mono"/>
                <a:ea typeface="Roboto Mono"/>
                <a:cs typeface="Roboto Mono"/>
                <a:sym typeface="Roboto Mono"/>
              </a:rPr>
              <a:t>, a partir da escolha que deve ser feita teremos o resultado obtido dessas escolhas.</a:t>
            </a: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04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Tree>
    <p:extLst>
      <p:ext uri="{BB962C8B-B14F-4D97-AF65-F5344CB8AC3E}">
        <p14:creationId xmlns:p14="http://schemas.microsoft.com/office/powerpoint/2010/main" val="17805160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795499" y="727266"/>
            <a:ext cx="10450000" cy="1101534"/>
          </a:xfrm>
          <a:prstGeom prst="rect">
            <a:avLst/>
          </a:prstGeom>
          <a:noFill/>
          <a:ln>
            <a:noFill/>
          </a:ln>
        </p:spPr>
        <p:txBody>
          <a:bodyPr spcFirstLastPara="1" wrap="square" lIns="121900" tIns="121900" rIns="121900" bIns="121900" anchor="t" anchorCtr="0">
            <a:noAutofit/>
          </a:bodyPr>
          <a:lstStyle/>
          <a:p>
            <a:pPr algn="ctr"/>
            <a:r>
              <a:rPr lang="pt-BR" sz="5600" dirty="0">
                <a:solidFill>
                  <a:srgbClr val="D6BA32"/>
                </a:solidFill>
                <a:latin typeface="Roboto Mono Medium"/>
                <a:ea typeface="Roboto Mono Medium"/>
                <a:cs typeface="Roboto Mono Medium"/>
                <a:sym typeface="Roboto Mono Medium"/>
              </a:rPr>
              <a:t>Tomando Decisões</a:t>
            </a: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04</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pic>
        <p:nvPicPr>
          <p:cNvPr id="9" name="Imagem 8">
            <a:extLst>
              <a:ext uri="{FF2B5EF4-FFF2-40B4-BE49-F238E27FC236}">
                <a16:creationId xmlns:a16="http://schemas.microsoft.com/office/drawing/2014/main" id="{2CAD002C-3B9F-A252-607A-EC662CF4F3C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38069" y="2059555"/>
            <a:ext cx="5829300" cy="3644900"/>
          </a:xfrm>
          <a:prstGeom prst="rect">
            <a:avLst/>
          </a:prstGeom>
        </p:spPr>
      </p:pic>
    </p:spTree>
    <p:extLst>
      <p:ext uri="{BB962C8B-B14F-4D97-AF65-F5344CB8AC3E}">
        <p14:creationId xmlns:p14="http://schemas.microsoft.com/office/powerpoint/2010/main" val="20451717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04</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pic>
        <p:nvPicPr>
          <p:cNvPr id="5" name="Imagem 4">
            <a:extLst>
              <a:ext uri="{FF2B5EF4-FFF2-40B4-BE49-F238E27FC236}">
                <a16:creationId xmlns:a16="http://schemas.microsoft.com/office/drawing/2014/main" id="{27E17CE1-092B-BE20-9A00-FB56D0B0C8D7}"/>
              </a:ext>
            </a:extLst>
          </p:cNvPr>
          <p:cNvPicPr>
            <a:picLocks noChangeAspect="1"/>
          </p:cNvPicPr>
          <p:nvPr/>
        </p:nvPicPr>
        <p:blipFill>
          <a:blip r:embed="rId4"/>
          <a:stretch>
            <a:fillRect/>
          </a:stretch>
        </p:blipFill>
        <p:spPr>
          <a:xfrm>
            <a:off x="662731" y="925543"/>
            <a:ext cx="10595295" cy="5743851"/>
          </a:xfrm>
          <a:prstGeom prst="rect">
            <a:avLst/>
          </a:prstGeom>
        </p:spPr>
      </p:pic>
    </p:spTree>
    <p:extLst>
      <p:ext uri="{BB962C8B-B14F-4D97-AF65-F5344CB8AC3E}">
        <p14:creationId xmlns:p14="http://schemas.microsoft.com/office/powerpoint/2010/main" val="20856918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795499" y="727265"/>
            <a:ext cx="10450000" cy="1655207"/>
          </a:xfrm>
          <a:prstGeom prst="rect">
            <a:avLst/>
          </a:prstGeom>
          <a:noFill/>
          <a:ln>
            <a:noFill/>
          </a:ln>
        </p:spPr>
        <p:txBody>
          <a:bodyPr spcFirstLastPara="1" wrap="square" lIns="121900" tIns="121900" rIns="121900" bIns="121900" anchor="t" anchorCtr="0">
            <a:noAutofit/>
          </a:bodyPr>
          <a:lstStyle/>
          <a:p>
            <a:pPr algn="ctr"/>
            <a:r>
              <a:rPr lang="pt-BR" sz="5600" dirty="0">
                <a:solidFill>
                  <a:srgbClr val="D6BA32"/>
                </a:solidFill>
                <a:latin typeface="Roboto Mono Medium"/>
                <a:ea typeface="Roboto Mono Medium"/>
                <a:cs typeface="Roboto Mono Medium"/>
                <a:sym typeface="Roboto Mono Medium"/>
              </a:rPr>
              <a:t>Tomando Decisões</a:t>
            </a:r>
          </a:p>
          <a:p>
            <a:pPr algn="ctr"/>
            <a:r>
              <a:rPr lang="pt-BR" sz="3200" dirty="0">
                <a:solidFill>
                  <a:srgbClr val="D6BA32"/>
                </a:solidFill>
                <a:latin typeface="Roboto Mono Medium"/>
                <a:ea typeface="Roboto Mono Medium"/>
                <a:cs typeface="Roboto Mono Medium"/>
                <a:sym typeface="Roboto Mono Medium"/>
              </a:rPr>
              <a:t>Sintaxe básica </a:t>
            </a:r>
            <a:r>
              <a:rPr lang="pt-BR" sz="4400" b="1" dirty="0" err="1">
                <a:solidFill>
                  <a:srgbClr val="D6BA32"/>
                </a:solidFill>
                <a:latin typeface="Roboto Mono Medium"/>
                <a:ea typeface="Roboto Mono Medium"/>
                <a:cs typeface="Roboto Mono Medium"/>
                <a:sym typeface="Roboto Mono Medium"/>
              </a:rPr>
              <a:t>if</a:t>
            </a:r>
            <a:endParaRPr lang="pt-BR" sz="4400" b="1" dirty="0">
              <a:solidFill>
                <a:srgbClr val="D6BA32"/>
              </a:solidFill>
              <a:latin typeface="Roboto Mono Medium"/>
              <a:ea typeface="Roboto Mono Medium"/>
              <a:cs typeface="Roboto Mono Medium"/>
              <a:sym typeface="Roboto Mono Medium"/>
            </a:endParaRPr>
          </a:p>
        </p:txBody>
      </p:sp>
      <p:sp>
        <p:nvSpPr>
          <p:cNvPr id="11" name="Google Shape;65;p14">
            <a:extLst>
              <a:ext uri="{FF2B5EF4-FFF2-40B4-BE49-F238E27FC236}">
                <a16:creationId xmlns:a16="http://schemas.microsoft.com/office/drawing/2014/main" id="{CF91C24E-8935-FBC9-9C57-CCD726DB9001}"/>
              </a:ext>
            </a:extLst>
          </p:cNvPr>
          <p:cNvSpPr txBox="1"/>
          <p:nvPr/>
        </p:nvSpPr>
        <p:spPr>
          <a:xfrm>
            <a:off x="232400" y="2727210"/>
            <a:ext cx="11727200" cy="3942183"/>
          </a:xfrm>
          <a:prstGeom prst="rect">
            <a:avLst/>
          </a:prstGeom>
          <a:noFill/>
          <a:ln>
            <a:noFill/>
          </a:ln>
        </p:spPr>
        <p:txBody>
          <a:bodyPr spcFirstLastPara="1" wrap="square" lIns="121900" tIns="121900" rIns="121900" bIns="121900" anchor="t" anchorCtr="0">
            <a:noAutofit/>
          </a:bodyPr>
          <a:lstStyle/>
          <a:p>
            <a:pPr marL="2895596" lvl="6">
              <a:buSzPts val="1800"/>
            </a:pPr>
            <a:r>
              <a:rPr lang="pt-BR" i="1" dirty="0" err="1">
                <a:latin typeface="Roboto Mono"/>
                <a:ea typeface="Roboto Mono"/>
                <a:cs typeface="Roboto Mono"/>
                <a:sym typeface="Roboto Mono"/>
              </a:rPr>
              <a:t>if</a:t>
            </a:r>
            <a:r>
              <a:rPr lang="pt-BR" i="1" dirty="0">
                <a:latin typeface="Roboto Mono"/>
                <a:ea typeface="Roboto Mono"/>
                <a:cs typeface="Roboto Mono"/>
                <a:sym typeface="Roboto Mono"/>
              </a:rPr>
              <a:t> (</a:t>
            </a:r>
            <a:r>
              <a:rPr lang="pt-BR" i="1" dirty="0" err="1">
                <a:latin typeface="Roboto Mono"/>
                <a:ea typeface="Roboto Mono"/>
                <a:cs typeface="Roboto Mono"/>
                <a:sym typeface="Roboto Mono"/>
              </a:rPr>
              <a:t>condicao</a:t>
            </a:r>
            <a:r>
              <a:rPr lang="pt-BR" i="1" dirty="0">
                <a:latin typeface="Roboto Mono"/>
                <a:ea typeface="Roboto Mono"/>
                <a:cs typeface="Roboto Mono"/>
                <a:sym typeface="Roboto Mono"/>
              </a:rPr>
              <a:t>) {</a:t>
            </a:r>
          </a:p>
          <a:p>
            <a:pPr marL="2895596" lvl="6">
              <a:buSzPts val="1800"/>
            </a:pPr>
            <a:r>
              <a:rPr lang="pt-BR" i="1" dirty="0">
                <a:latin typeface="Roboto Mono"/>
                <a:ea typeface="Roboto Mono"/>
                <a:cs typeface="Roboto Mono"/>
                <a:sym typeface="Roboto Mono"/>
              </a:rPr>
              <a:t>  </a:t>
            </a:r>
            <a:r>
              <a:rPr lang="pt-BR" i="1" dirty="0" err="1">
                <a:latin typeface="Roboto Mono"/>
                <a:ea typeface="Roboto Mono"/>
                <a:cs typeface="Roboto Mono"/>
                <a:sym typeface="Roboto Mono"/>
              </a:rPr>
              <a:t>codigo</a:t>
            </a:r>
            <a:r>
              <a:rPr lang="pt-BR" i="1" dirty="0">
                <a:latin typeface="Roboto Mono"/>
                <a:ea typeface="Roboto Mono"/>
                <a:cs typeface="Roboto Mono"/>
                <a:sym typeface="Roboto Mono"/>
              </a:rPr>
              <a:t> para executar caso a condição seja verdadeira;</a:t>
            </a:r>
          </a:p>
          <a:p>
            <a:pPr marL="2895596" lvl="6">
              <a:buSzPts val="1800"/>
            </a:pPr>
            <a:r>
              <a:rPr lang="pt-BR" i="1" dirty="0">
                <a:latin typeface="Roboto Mono"/>
                <a:ea typeface="Roboto Mono"/>
                <a:cs typeface="Roboto Mono"/>
                <a:sym typeface="Roboto Mono"/>
              </a:rPr>
              <a:t>};</a:t>
            </a:r>
          </a:p>
          <a:p>
            <a:pPr marL="2895596" lvl="6">
              <a:buSzPts val="1800"/>
            </a:pPr>
            <a:endParaRPr lang="pt-BR" i="1" dirty="0">
              <a:latin typeface="Roboto Mono"/>
              <a:ea typeface="Roboto Mono"/>
              <a:cs typeface="Roboto Mono"/>
              <a:sym typeface="Roboto Mono"/>
            </a:endParaRPr>
          </a:p>
          <a:p>
            <a:pPr marL="495296" indent="-342900">
              <a:buSzPts val="1800"/>
              <a:buFont typeface="+mj-lt"/>
              <a:buAutoNum type="arabicPeriod"/>
            </a:pPr>
            <a:r>
              <a:rPr lang="pt-BR" dirty="0">
                <a:latin typeface="Roboto Mono"/>
                <a:ea typeface="Roboto Mono"/>
                <a:cs typeface="Roboto Mono"/>
                <a:sym typeface="Roboto Mono"/>
              </a:rPr>
              <a:t>A palavra reservada </a:t>
            </a:r>
            <a:r>
              <a:rPr lang="pt-BR" b="1" dirty="0" err="1">
                <a:latin typeface="Roboto Mono"/>
                <a:ea typeface="Roboto Mono"/>
                <a:cs typeface="Roboto Mono"/>
                <a:sym typeface="Roboto Mono"/>
              </a:rPr>
              <a:t>if</a:t>
            </a:r>
            <a:r>
              <a:rPr lang="pt-BR" dirty="0">
                <a:latin typeface="Roboto Mono"/>
                <a:ea typeface="Roboto Mono"/>
                <a:cs typeface="Roboto Mono"/>
                <a:sym typeface="Roboto Mono"/>
              </a:rPr>
              <a:t> seguida de um par de parênteses.</a:t>
            </a:r>
          </a:p>
          <a:p>
            <a:pPr marL="152396">
              <a:buSzPts val="1800"/>
            </a:pPr>
            <a:r>
              <a:rPr lang="pt-BR" dirty="0">
                <a:latin typeface="Roboto Mono"/>
                <a:ea typeface="Roboto Mono"/>
                <a:cs typeface="Roboto Mono"/>
                <a:sym typeface="Roboto Mono"/>
              </a:rPr>
              <a:t>Um </a:t>
            </a:r>
            <a:r>
              <a:rPr lang="pt-BR" b="1" dirty="0">
                <a:latin typeface="Roboto Mono"/>
                <a:ea typeface="Roboto Mono"/>
                <a:cs typeface="Roboto Mono"/>
                <a:sym typeface="Roboto Mono"/>
              </a:rPr>
              <a:t>teste condicional</a:t>
            </a:r>
            <a:r>
              <a:rPr lang="pt-BR" dirty="0">
                <a:latin typeface="Roboto Mono"/>
                <a:ea typeface="Roboto Mono"/>
                <a:cs typeface="Roboto Mono"/>
                <a:sym typeface="Roboto Mono"/>
              </a:rPr>
              <a:t>, localizado dentro dos parênteses (normalmente "este valor é maior que esse", ou "este valor existe"). Esta condição pode fazer uso dos </a:t>
            </a:r>
            <a:r>
              <a:rPr lang="pt-BR" b="1" dirty="0">
                <a:latin typeface="Roboto Mono"/>
                <a:ea typeface="Roboto Mono"/>
                <a:cs typeface="Roboto Mono"/>
                <a:sym typeface="Roboto Mono"/>
              </a:rPr>
              <a:t>operadores de comparação</a:t>
            </a:r>
            <a:r>
              <a:rPr lang="pt-BR" dirty="0">
                <a:latin typeface="Roboto Mono"/>
                <a:ea typeface="Roboto Mono"/>
                <a:cs typeface="Roboto Mono"/>
                <a:sym typeface="Roboto Mono"/>
              </a:rPr>
              <a:t>, e podem retornar  </a:t>
            </a:r>
            <a:r>
              <a:rPr lang="pt-BR" b="1" dirty="0" err="1">
                <a:latin typeface="Roboto Mono"/>
                <a:ea typeface="Roboto Mono"/>
                <a:cs typeface="Roboto Mono"/>
                <a:sym typeface="Roboto Mono"/>
              </a:rPr>
              <a:t>true</a:t>
            </a:r>
            <a:r>
              <a:rPr lang="pt-BR" dirty="0">
                <a:latin typeface="Roboto Mono"/>
                <a:ea typeface="Roboto Mono"/>
                <a:cs typeface="Roboto Mono"/>
                <a:sym typeface="Roboto Mono"/>
              </a:rPr>
              <a:t> ou </a:t>
            </a:r>
            <a:r>
              <a:rPr lang="pt-BR" b="1" dirty="0">
                <a:latin typeface="Roboto Mono"/>
                <a:ea typeface="Roboto Mono"/>
                <a:cs typeface="Roboto Mono"/>
                <a:sym typeface="Roboto Mono"/>
              </a:rPr>
              <a:t>false</a:t>
            </a:r>
            <a:r>
              <a:rPr lang="pt-BR" dirty="0">
                <a:latin typeface="Roboto Mono"/>
                <a:ea typeface="Roboto Mono"/>
                <a:cs typeface="Roboto Mono"/>
                <a:sym typeface="Roboto Mono"/>
              </a:rPr>
              <a:t>.</a:t>
            </a:r>
          </a:p>
          <a:p>
            <a:pPr marL="1238246" lvl="2" indent="-171450">
              <a:buSzPts val="1800"/>
              <a:buFont typeface="Arial" panose="020B0604020202020204" pitchFamily="34" charset="0"/>
              <a:buChar char="•"/>
            </a:pPr>
            <a:r>
              <a:rPr lang="pt-BR" sz="1200" i="1" dirty="0">
                <a:latin typeface="Roboto Mono"/>
                <a:ea typeface="Roboto Mono"/>
                <a:cs typeface="Roboto Mono"/>
                <a:sym typeface="Roboto Mono"/>
              </a:rPr>
              <a:t>=== e !==    testar se um valor é idêntico ou não idêntico a outro.</a:t>
            </a:r>
          </a:p>
          <a:p>
            <a:pPr marL="1238246" lvl="2" indent="-171450">
              <a:buSzPts val="1800"/>
              <a:buFont typeface="Arial" panose="020B0604020202020204" pitchFamily="34" charset="0"/>
              <a:buChar char="•"/>
            </a:pPr>
            <a:r>
              <a:rPr lang="pt-BR" sz="1200" i="1" dirty="0">
                <a:latin typeface="Roboto Mono"/>
                <a:ea typeface="Roboto Mono"/>
                <a:cs typeface="Roboto Mono"/>
                <a:sym typeface="Roboto Mono"/>
              </a:rPr>
              <a:t>&lt; e &gt;           teste se um valor é menor ou maior que outro.</a:t>
            </a:r>
          </a:p>
          <a:p>
            <a:pPr marL="1238246" lvl="2" indent="-171450">
              <a:buSzPts val="1800"/>
              <a:buFont typeface="Arial" panose="020B0604020202020204" pitchFamily="34" charset="0"/>
              <a:buChar char="•"/>
            </a:pPr>
            <a:r>
              <a:rPr lang="pt-BR" sz="1200" i="1" dirty="0">
                <a:latin typeface="Roboto Mono"/>
                <a:ea typeface="Roboto Mono"/>
                <a:cs typeface="Roboto Mono"/>
                <a:sym typeface="Roboto Mono"/>
              </a:rPr>
              <a:t>&lt;= e &gt;=       testar se um valor é menor ou igual a, ou maior que ou igual a outro.</a:t>
            </a:r>
          </a:p>
          <a:p>
            <a:pPr marL="495296" indent="-342900">
              <a:buSzPts val="1800"/>
              <a:buFont typeface="+mj-lt"/>
              <a:buAutoNum type="arabicPeriod"/>
            </a:pPr>
            <a:r>
              <a:rPr lang="pt-BR" dirty="0">
                <a:latin typeface="Roboto Mono"/>
                <a:ea typeface="Roboto Mono"/>
                <a:cs typeface="Roboto Mono"/>
                <a:sym typeface="Roboto Mono"/>
              </a:rPr>
              <a:t>Um par de chaves, e dentro dele temos código — pode ser qualquer código que queiramos, e só vai ser executado se o teste condicional retornar </a:t>
            </a:r>
            <a:r>
              <a:rPr lang="pt-BR" b="1" dirty="0" err="1">
                <a:latin typeface="Roboto Mono"/>
                <a:ea typeface="Roboto Mono"/>
                <a:cs typeface="Roboto Mono"/>
                <a:sym typeface="Roboto Mono"/>
              </a:rPr>
              <a:t>true</a:t>
            </a:r>
            <a:r>
              <a:rPr lang="pt-BR" dirty="0">
                <a:latin typeface="Roboto Mono"/>
                <a:ea typeface="Roboto Mono"/>
                <a:cs typeface="Roboto Mono"/>
                <a:sym typeface="Roboto Mono"/>
              </a:rPr>
              <a:t>.</a:t>
            </a:r>
          </a:p>
          <a:p>
            <a:pPr marL="495296" indent="-342900">
              <a:buSzPts val="1800"/>
              <a:buFont typeface="+mj-lt"/>
              <a:buAutoNum type="arabicPeriod"/>
            </a:pPr>
            <a:endParaRPr lang="pt-BR" dirty="0">
              <a:latin typeface="Roboto Mono"/>
              <a:ea typeface="Roboto Mono"/>
              <a:cs typeface="Roboto Mono"/>
              <a:sym typeface="Roboto Mono"/>
            </a:endParaRP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04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Tree>
    <p:extLst>
      <p:ext uri="{BB962C8B-B14F-4D97-AF65-F5344CB8AC3E}">
        <p14:creationId xmlns:p14="http://schemas.microsoft.com/office/powerpoint/2010/main" val="27891533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795499" y="727265"/>
            <a:ext cx="10450000" cy="1655207"/>
          </a:xfrm>
          <a:prstGeom prst="rect">
            <a:avLst/>
          </a:prstGeom>
          <a:noFill/>
          <a:ln>
            <a:noFill/>
          </a:ln>
        </p:spPr>
        <p:txBody>
          <a:bodyPr spcFirstLastPara="1" wrap="square" lIns="121900" tIns="121900" rIns="121900" bIns="121900" anchor="t" anchorCtr="0">
            <a:noAutofit/>
          </a:bodyPr>
          <a:lstStyle/>
          <a:p>
            <a:pPr algn="ctr"/>
            <a:r>
              <a:rPr lang="pt-BR" sz="5600" dirty="0">
                <a:solidFill>
                  <a:srgbClr val="D6BA32"/>
                </a:solidFill>
                <a:latin typeface="Roboto Mono Medium"/>
                <a:ea typeface="Roboto Mono Medium"/>
                <a:cs typeface="Roboto Mono Medium"/>
                <a:sym typeface="Roboto Mono Medium"/>
              </a:rPr>
              <a:t>Tomando Decisões</a:t>
            </a:r>
          </a:p>
          <a:p>
            <a:pPr algn="ctr"/>
            <a:r>
              <a:rPr lang="pt-BR" sz="3200" dirty="0">
                <a:solidFill>
                  <a:srgbClr val="D6BA32"/>
                </a:solidFill>
                <a:latin typeface="Roboto Mono Medium"/>
                <a:ea typeface="Roboto Mono Medium"/>
                <a:cs typeface="Roboto Mono Medium"/>
                <a:sym typeface="Roboto Mono Medium"/>
              </a:rPr>
              <a:t>Sintaxe básica </a:t>
            </a:r>
            <a:r>
              <a:rPr lang="pt-BR" sz="4400" b="1" dirty="0" err="1">
                <a:solidFill>
                  <a:srgbClr val="D6BA32"/>
                </a:solidFill>
                <a:latin typeface="Roboto Mono Medium"/>
                <a:ea typeface="Roboto Mono Medium"/>
                <a:cs typeface="Roboto Mono Medium"/>
                <a:sym typeface="Roboto Mono Medium"/>
              </a:rPr>
              <a:t>if</a:t>
            </a:r>
            <a:r>
              <a:rPr lang="pt-BR" sz="4400" b="1" dirty="0">
                <a:solidFill>
                  <a:srgbClr val="D6BA32"/>
                </a:solidFill>
                <a:latin typeface="Roboto Mono Medium"/>
                <a:ea typeface="Roboto Mono Medium"/>
                <a:cs typeface="Roboto Mono Medium"/>
                <a:sym typeface="Roboto Mono Medium"/>
              </a:rPr>
              <a:t>...</a:t>
            </a:r>
            <a:r>
              <a:rPr lang="pt-BR" sz="4400" b="1" dirty="0" err="1">
                <a:solidFill>
                  <a:srgbClr val="D6BA32"/>
                </a:solidFill>
                <a:latin typeface="Roboto Mono Medium"/>
                <a:ea typeface="Roboto Mono Medium"/>
                <a:cs typeface="Roboto Mono Medium"/>
                <a:sym typeface="Roboto Mono Medium"/>
              </a:rPr>
              <a:t>else</a:t>
            </a:r>
            <a:endParaRPr lang="pt-BR" sz="4400" b="1" dirty="0">
              <a:solidFill>
                <a:srgbClr val="D6BA32"/>
              </a:solidFill>
              <a:latin typeface="Roboto Mono Medium"/>
              <a:ea typeface="Roboto Mono Medium"/>
              <a:cs typeface="Roboto Mono Medium"/>
              <a:sym typeface="Roboto Mono Medium"/>
            </a:endParaRPr>
          </a:p>
        </p:txBody>
      </p:sp>
      <p:sp>
        <p:nvSpPr>
          <p:cNvPr id="11" name="Google Shape;65;p14">
            <a:extLst>
              <a:ext uri="{FF2B5EF4-FFF2-40B4-BE49-F238E27FC236}">
                <a16:creationId xmlns:a16="http://schemas.microsoft.com/office/drawing/2014/main" id="{CF91C24E-8935-FBC9-9C57-CCD726DB9001}"/>
              </a:ext>
            </a:extLst>
          </p:cNvPr>
          <p:cNvSpPr txBox="1"/>
          <p:nvPr/>
        </p:nvSpPr>
        <p:spPr>
          <a:xfrm>
            <a:off x="232400" y="2727210"/>
            <a:ext cx="11727200" cy="3942183"/>
          </a:xfrm>
          <a:prstGeom prst="rect">
            <a:avLst/>
          </a:prstGeom>
          <a:noFill/>
          <a:ln>
            <a:noFill/>
          </a:ln>
        </p:spPr>
        <p:txBody>
          <a:bodyPr spcFirstLastPara="1" wrap="square" lIns="121900" tIns="121900" rIns="121900" bIns="121900" anchor="t" anchorCtr="0">
            <a:noAutofit/>
          </a:bodyPr>
          <a:lstStyle/>
          <a:p>
            <a:pPr marL="2895596" lvl="6">
              <a:buSzPts val="1800"/>
            </a:pPr>
            <a:r>
              <a:rPr lang="pt-BR" i="1" dirty="0" err="1">
                <a:latin typeface="Roboto Mono"/>
                <a:ea typeface="Roboto Mono"/>
                <a:cs typeface="Roboto Mono"/>
                <a:sym typeface="Roboto Mono"/>
              </a:rPr>
              <a:t>if</a:t>
            </a:r>
            <a:r>
              <a:rPr lang="pt-BR" i="1" dirty="0">
                <a:latin typeface="Roboto Mono"/>
                <a:ea typeface="Roboto Mono"/>
                <a:cs typeface="Roboto Mono"/>
                <a:sym typeface="Roboto Mono"/>
              </a:rPr>
              <a:t> (</a:t>
            </a:r>
            <a:r>
              <a:rPr lang="pt-BR" i="1" dirty="0" err="1">
                <a:latin typeface="Roboto Mono"/>
                <a:ea typeface="Roboto Mono"/>
                <a:cs typeface="Roboto Mono"/>
                <a:sym typeface="Roboto Mono"/>
              </a:rPr>
              <a:t>condicao</a:t>
            </a:r>
            <a:r>
              <a:rPr lang="pt-BR" i="1" dirty="0">
                <a:latin typeface="Roboto Mono"/>
                <a:ea typeface="Roboto Mono"/>
                <a:cs typeface="Roboto Mono"/>
                <a:sym typeface="Roboto Mono"/>
              </a:rPr>
              <a:t>) {</a:t>
            </a:r>
          </a:p>
          <a:p>
            <a:pPr marL="2895596" lvl="6">
              <a:buSzPts val="1800"/>
            </a:pPr>
            <a:r>
              <a:rPr lang="pt-BR" i="1" dirty="0">
                <a:latin typeface="Roboto Mono"/>
                <a:ea typeface="Roboto Mono"/>
                <a:cs typeface="Roboto Mono"/>
                <a:sym typeface="Roboto Mono"/>
              </a:rPr>
              <a:t>  </a:t>
            </a:r>
            <a:r>
              <a:rPr lang="pt-BR" i="1" dirty="0" err="1">
                <a:latin typeface="Roboto Mono"/>
                <a:ea typeface="Roboto Mono"/>
                <a:cs typeface="Roboto Mono"/>
                <a:sym typeface="Roboto Mono"/>
              </a:rPr>
              <a:t>codigo</a:t>
            </a:r>
            <a:r>
              <a:rPr lang="pt-BR" i="1" dirty="0">
                <a:latin typeface="Roboto Mono"/>
                <a:ea typeface="Roboto Mono"/>
                <a:cs typeface="Roboto Mono"/>
                <a:sym typeface="Roboto Mono"/>
              </a:rPr>
              <a:t> para executar caso a condição seja verdadeira</a:t>
            </a:r>
          </a:p>
          <a:p>
            <a:pPr marL="2895596" lvl="6">
              <a:buSzPts val="1800"/>
            </a:pPr>
            <a:r>
              <a:rPr lang="pt-BR" i="1" dirty="0">
                <a:latin typeface="Roboto Mono"/>
                <a:ea typeface="Roboto Mono"/>
                <a:cs typeface="Roboto Mono"/>
                <a:sym typeface="Roboto Mono"/>
              </a:rPr>
              <a:t>} </a:t>
            </a:r>
            <a:r>
              <a:rPr lang="pt-BR" i="1" dirty="0" err="1">
                <a:latin typeface="Roboto Mono"/>
                <a:ea typeface="Roboto Mono"/>
                <a:cs typeface="Roboto Mono"/>
                <a:sym typeface="Roboto Mono"/>
              </a:rPr>
              <a:t>else</a:t>
            </a:r>
            <a:r>
              <a:rPr lang="pt-BR" i="1" dirty="0">
                <a:latin typeface="Roboto Mono"/>
                <a:ea typeface="Roboto Mono"/>
                <a:cs typeface="Roboto Mono"/>
                <a:sym typeface="Roboto Mono"/>
              </a:rPr>
              <a:t> {</a:t>
            </a:r>
          </a:p>
          <a:p>
            <a:pPr marL="2895596" lvl="6">
              <a:buSzPts val="1800"/>
            </a:pPr>
            <a:r>
              <a:rPr lang="pt-BR" i="1" dirty="0">
                <a:latin typeface="Roboto Mono"/>
                <a:ea typeface="Roboto Mono"/>
                <a:cs typeface="Roboto Mono"/>
                <a:sym typeface="Roboto Mono"/>
              </a:rPr>
              <a:t>  senão, executar este código</a:t>
            </a:r>
          </a:p>
          <a:p>
            <a:pPr marL="2895596" lvl="6">
              <a:buSzPts val="1800"/>
            </a:pPr>
            <a:r>
              <a:rPr lang="pt-BR" i="1" dirty="0">
                <a:latin typeface="Roboto Mono"/>
                <a:ea typeface="Roboto Mono"/>
                <a:cs typeface="Roboto Mono"/>
                <a:sym typeface="Roboto Mono"/>
              </a:rPr>
              <a:t>}</a:t>
            </a:r>
          </a:p>
          <a:p>
            <a:pPr marL="495296" indent="-342900">
              <a:buSzPts val="1800"/>
              <a:buFont typeface="+mj-lt"/>
              <a:buAutoNum type="arabicPeriod"/>
            </a:pPr>
            <a:r>
              <a:rPr lang="pt-BR" dirty="0">
                <a:latin typeface="Roboto Mono"/>
                <a:ea typeface="Roboto Mono"/>
                <a:cs typeface="Roboto Mono"/>
                <a:sym typeface="Roboto Mono"/>
              </a:rPr>
              <a:t>A palavra reservada </a:t>
            </a:r>
            <a:r>
              <a:rPr lang="pt-BR" b="1" dirty="0" err="1">
                <a:latin typeface="Roboto Mono"/>
                <a:ea typeface="Roboto Mono"/>
                <a:cs typeface="Roboto Mono"/>
                <a:sym typeface="Roboto Mono"/>
              </a:rPr>
              <a:t>else</a:t>
            </a:r>
            <a:r>
              <a:rPr lang="pt-BR" dirty="0">
                <a:latin typeface="Roboto Mono"/>
                <a:ea typeface="Roboto Mono"/>
                <a:cs typeface="Roboto Mono"/>
                <a:sym typeface="Roboto Mono"/>
              </a:rPr>
              <a:t>.</a:t>
            </a:r>
          </a:p>
          <a:p>
            <a:pPr marL="495296" indent="-342900">
              <a:buSzPts val="1800"/>
              <a:buFont typeface="+mj-lt"/>
              <a:buAutoNum type="arabicPeriod"/>
            </a:pPr>
            <a:r>
              <a:rPr lang="pt-BR" dirty="0">
                <a:latin typeface="Roboto Mono"/>
                <a:ea typeface="Roboto Mono"/>
                <a:cs typeface="Roboto Mono"/>
                <a:sym typeface="Roboto Mono"/>
              </a:rPr>
              <a:t>Outro par de chaves, dentro dele temos mais um pouco de código — pode ser qualquer código que queiramos, e só vai executar se o teste condicional retornar um valor </a:t>
            </a:r>
            <a:r>
              <a:rPr lang="pt-BR" b="1" dirty="0">
                <a:latin typeface="Roboto Mono"/>
                <a:ea typeface="Roboto Mono"/>
                <a:cs typeface="Roboto Mono"/>
                <a:sym typeface="Roboto Mono"/>
              </a:rPr>
              <a:t>diferente de </a:t>
            </a:r>
            <a:r>
              <a:rPr lang="pt-BR" b="1" dirty="0" err="1">
                <a:latin typeface="Roboto Mono"/>
                <a:ea typeface="Roboto Mono"/>
                <a:cs typeface="Roboto Mono"/>
                <a:sym typeface="Roboto Mono"/>
              </a:rPr>
              <a:t>true</a:t>
            </a:r>
            <a:r>
              <a:rPr lang="pt-BR" dirty="0">
                <a:latin typeface="Roboto Mono"/>
                <a:ea typeface="Roboto Mono"/>
                <a:cs typeface="Roboto Mono"/>
                <a:sym typeface="Roboto Mono"/>
              </a:rPr>
              <a:t>, neste caso </a:t>
            </a:r>
            <a:r>
              <a:rPr lang="pt-BR" b="1" dirty="0" err="1">
                <a:latin typeface="Roboto Mono"/>
                <a:ea typeface="Roboto Mono"/>
                <a:cs typeface="Roboto Mono"/>
                <a:sym typeface="Roboto Mono"/>
              </a:rPr>
              <a:t>not</a:t>
            </a:r>
            <a:r>
              <a:rPr lang="pt-BR" b="1" dirty="0">
                <a:latin typeface="Roboto Mono"/>
                <a:ea typeface="Roboto Mono"/>
                <a:cs typeface="Roboto Mono"/>
                <a:sym typeface="Roboto Mono"/>
              </a:rPr>
              <a:t> </a:t>
            </a:r>
            <a:r>
              <a:rPr lang="pt-BR" b="1" dirty="0" err="1">
                <a:latin typeface="Roboto Mono"/>
                <a:ea typeface="Roboto Mono"/>
                <a:cs typeface="Roboto Mono"/>
                <a:sym typeface="Roboto Mono"/>
              </a:rPr>
              <a:t>true</a:t>
            </a:r>
            <a:r>
              <a:rPr lang="pt-BR" dirty="0">
                <a:latin typeface="Roboto Mono"/>
                <a:ea typeface="Roboto Mono"/>
                <a:cs typeface="Roboto Mono"/>
                <a:sym typeface="Roboto Mono"/>
              </a:rPr>
              <a:t>, ou </a:t>
            </a:r>
            <a:r>
              <a:rPr lang="pt-BR" b="1" dirty="0">
                <a:latin typeface="Roboto Mono"/>
                <a:ea typeface="Roboto Mono"/>
                <a:cs typeface="Roboto Mono"/>
                <a:sym typeface="Roboto Mono"/>
              </a:rPr>
              <a:t>false</a:t>
            </a:r>
            <a:r>
              <a:rPr lang="pt-BR" dirty="0">
                <a:latin typeface="Roboto Mono"/>
                <a:ea typeface="Roboto Mono"/>
                <a:cs typeface="Roboto Mono"/>
                <a:sym typeface="Roboto Mono"/>
              </a:rPr>
              <a:t>. </a:t>
            </a: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04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Tree>
    <p:extLst>
      <p:ext uri="{BB962C8B-B14F-4D97-AF65-F5344CB8AC3E}">
        <p14:creationId xmlns:p14="http://schemas.microsoft.com/office/powerpoint/2010/main" val="4623579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04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pic>
        <p:nvPicPr>
          <p:cNvPr id="3" name="Imagem 2">
            <a:extLst>
              <a:ext uri="{FF2B5EF4-FFF2-40B4-BE49-F238E27FC236}">
                <a16:creationId xmlns:a16="http://schemas.microsoft.com/office/drawing/2014/main" id="{B8800C77-7E8A-2969-5CB4-F1FAF925CE5F}"/>
              </a:ext>
            </a:extLst>
          </p:cNvPr>
          <p:cNvPicPr>
            <a:picLocks noChangeAspect="1"/>
          </p:cNvPicPr>
          <p:nvPr/>
        </p:nvPicPr>
        <p:blipFill>
          <a:blip r:embed="rId4"/>
          <a:stretch>
            <a:fillRect/>
          </a:stretch>
        </p:blipFill>
        <p:spPr>
          <a:xfrm>
            <a:off x="1028454" y="1098554"/>
            <a:ext cx="10410738" cy="5545185"/>
          </a:xfrm>
          <a:prstGeom prst="rect">
            <a:avLst/>
          </a:prstGeom>
        </p:spPr>
      </p:pic>
    </p:spTree>
    <p:extLst>
      <p:ext uri="{BB962C8B-B14F-4D97-AF65-F5344CB8AC3E}">
        <p14:creationId xmlns:p14="http://schemas.microsoft.com/office/powerpoint/2010/main" val="41030723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795499" y="727265"/>
            <a:ext cx="10450000" cy="1655207"/>
          </a:xfrm>
          <a:prstGeom prst="rect">
            <a:avLst/>
          </a:prstGeom>
          <a:noFill/>
          <a:ln>
            <a:noFill/>
          </a:ln>
        </p:spPr>
        <p:txBody>
          <a:bodyPr spcFirstLastPara="1" wrap="square" lIns="121900" tIns="121900" rIns="121900" bIns="121900" anchor="t" anchorCtr="0">
            <a:noAutofit/>
          </a:bodyPr>
          <a:lstStyle/>
          <a:p>
            <a:pPr algn="ctr"/>
            <a:r>
              <a:rPr lang="pt-BR" sz="5600" dirty="0">
                <a:solidFill>
                  <a:srgbClr val="D6BA32"/>
                </a:solidFill>
                <a:latin typeface="Roboto Mono Medium"/>
                <a:ea typeface="Roboto Mono Medium"/>
                <a:cs typeface="Roboto Mono Medium"/>
                <a:sym typeface="Roboto Mono Medium"/>
              </a:rPr>
              <a:t>Tomando Decisões</a:t>
            </a:r>
          </a:p>
          <a:p>
            <a:pPr algn="ctr"/>
            <a:r>
              <a:rPr lang="pt-BR" sz="3200" dirty="0">
                <a:solidFill>
                  <a:srgbClr val="D6BA32"/>
                </a:solidFill>
                <a:latin typeface="Roboto Mono Medium"/>
                <a:ea typeface="Roboto Mono Medium"/>
                <a:cs typeface="Roboto Mono Medium"/>
                <a:sym typeface="Roboto Mono Medium"/>
              </a:rPr>
              <a:t>Aninhando </a:t>
            </a:r>
            <a:r>
              <a:rPr lang="pt-BR" sz="3200" dirty="0" err="1">
                <a:solidFill>
                  <a:srgbClr val="D6BA32"/>
                </a:solidFill>
                <a:latin typeface="Roboto Mono Medium"/>
                <a:ea typeface="Roboto Mono Medium"/>
                <a:cs typeface="Roboto Mono Medium"/>
                <a:sym typeface="Roboto Mono Medium"/>
              </a:rPr>
              <a:t>if</a:t>
            </a:r>
            <a:r>
              <a:rPr lang="pt-BR" sz="3200" dirty="0">
                <a:solidFill>
                  <a:srgbClr val="D6BA32"/>
                </a:solidFill>
                <a:latin typeface="Roboto Mono Medium"/>
                <a:ea typeface="Roboto Mono Medium"/>
                <a:cs typeface="Roboto Mono Medium"/>
                <a:sym typeface="Roboto Mono Medium"/>
              </a:rPr>
              <a:t> ... </a:t>
            </a:r>
            <a:r>
              <a:rPr lang="pt-BR" sz="3200" dirty="0" err="1">
                <a:solidFill>
                  <a:srgbClr val="D6BA32"/>
                </a:solidFill>
                <a:latin typeface="Roboto Mono Medium"/>
                <a:ea typeface="Roboto Mono Medium"/>
                <a:cs typeface="Roboto Mono Medium"/>
                <a:sym typeface="Roboto Mono Medium"/>
              </a:rPr>
              <a:t>else</a:t>
            </a:r>
            <a:endParaRPr lang="pt-BR" sz="4400" b="1" dirty="0">
              <a:solidFill>
                <a:srgbClr val="D6BA32"/>
              </a:solidFill>
              <a:latin typeface="Roboto Mono Medium"/>
              <a:ea typeface="Roboto Mono Medium"/>
              <a:cs typeface="Roboto Mono Medium"/>
              <a:sym typeface="Roboto Mono Medium"/>
            </a:endParaRPr>
          </a:p>
        </p:txBody>
      </p:sp>
      <p:sp>
        <p:nvSpPr>
          <p:cNvPr id="11" name="Google Shape;65;p14">
            <a:extLst>
              <a:ext uri="{FF2B5EF4-FFF2-40B4-BE49-F238E27FC236}">
                <a16:creationId xmlns:a16="http://schemas.microsoft.com/office/drawing/2014/main" id="{CF91C24E-8935-FBC9-9C57-CCD726DB9001}"/>
              </a:ext>
            </a:extLst>
          </p:cNvPr>
          <p:cNvSpPr txBox="1"/>
          <p:nvPr/>
        </p:nvSpPr>
        <p:spPr>
          <a:xfrm>
            <a:off x="232400" y="2727210"/>
            <a:ext cx="11727200" cy="3942183"/>
          </a:xfrm>
          <a:prstGeom prst="rect">
            <a:avLst/>
          </a:prstGeom>
          <a:noFill/>
          <a:ln>
            <a:noFill/>
          </a:ln>
        </p:spPr>
        <p:txBody>
          <a:bodyPr spcFirstLastPara="1" wrap="square" lIns="121900" tIns="121900" rIns="121900" bIns="121900" anchor="t" anchorCtr="0">
            <a:noAutofit/>
          </a:bodyPr>
          <a:lstStyle/>
          <a:p>
            <a:pPr marL="2895596" lvl="6">
              <a:buSzPts val="1800"/>
            </a:pPr>
            <a:endParaRPr lang="pt-BR" i="1" dirty="0">
              <a:latin typeface="Roboto Mono"/>
              <a:ea typeface="Roboto Mono"/>
              <a:cs typeface="Roboto Mono"/>
              <a:sym typeface="Roboto Mono"/>
            </a:endParaRPr>
          </a:p>
          <a:p>
            <a:pPr marL="152396">
              <a:buSzPts val="1800"/>
            </a:pPr>
            <a:r>
              <a:rPr lang="pt-BR" dirty="0">
                <a:latin typeface="Roboto Mono"/>
                <a:ea typeface="Roboto Mono"/>
                <a:cs typeface="Roboto Mono"/>
                <a:sym typeface="Roboto Mono"/>
              </a:rPr>
              <a:t>Podemos também de forma correta colocar uma declaração </a:t>
            </a:r>
            <a:r>
              <a:rPr lang="pt-BR" dirty="0" err="1">
                <a:latin typeface="Roboto Mono"/>
                <a:ea typeface="Roboto Mono"/>
                <a:cs typeface="Roboto Mono"/>
                <a:sym typeface="Roboto Mono"/>
              </a:rPr>
              <a:t>if</a:t>
            </a:r>
            <a:r>
              <a:rPr lang="pt-BR" dirty="0">
                <a:latin typeface="Roboto Mono"/>
                <a:ea typeface="Roboto Mono"/>
                <a:cs typeface="Roboto Mono"/>
                <a:sym typeface="Roboto Mono"/>
              </a:rPr>
              <a:t>...</a:t>
            </a:r>
            <a:r>
              <a:rPr lang="pt-BR" dirty="0" err="1">
                <a:latin typeface="Roboto Mono"/>
                <a:ea typeface="Roboto Mono"/>
                <a:cs typeface="Roboto Mono"/>
                <a:sym typeface="Roboto Mono"/>
              </a:rPr>
              <a:t>else</a:t>
            </a:r>
            <a:r>
              <a:rPr lang="pt-BR" dirty="0">
                <a:latin typeface="Roboto Mono"/>
                <a:ea typeface="Roboto Mono"/>
                <a:cs typeface="Roboto Mono"/>
                <a:sym typeface="Roboto Mono"/>
              </a:rPr>
              <a:t> dentro de outra — para aninhá-las. Por exemplo:</a:t>
            </a:r>
          </a:p>
          <a:p>
            <a:pPr marL="2895596" lvl="6">
              <a:buSzPts val="1800"/>
            </a:pPr>
            <a:r>
              <a:rPr lang="pt-BR" i="1" dirty="0" err="1">
                <a:latin typeface="Roboto Mono"/>
                <a:ea typeface="Roboto Mono"/>
                <a:cs typeface="Roboto Mono"/>
                <a:sym typeface="Roboto Mono"/>
              </a:rPr>
              <a:t>if</a:t>
            </a:r>
            <a:r>
              <a:rPr lang="pt-BR" i="1" dirty="0">
                <a:latin typeface="Roboto Mono"/>
                <a:ea typeface="Roboto Mono"/>
                <a:cs typeface="Roboto Mono"/>
                <a:sym typeface="Roboto Mono"/>
              </a:rPr>
              <a:t> (</a:t>
            </a:r>
            <a:r>
              <a:rPr lang="pt-BR" i="1" dirty="0" err="1">
                <a:latin typeface="Roboto Mono"/>
                <a:ea typeface="Roboto Mono"/>
                <a:cs typeface="Roboto Mono"/>
                <a:sym typeface="Roboto Mono"/>
              </a:rPr>
              <a:t>condicao</a:t>
            </a:r>
            <a:r>
              <a:rPr lang="pt-BR" i="1" dirty="0">
                <a:latin typeface="Roboto Mono"/>
                <a:ea typeface="Roboto Mono"/>
                <a:cs typeface="Roboto Mono"/>
                <a:sym typeface="Roboto Mono"/>
              </a:rPr>
              <a:t>) {</a:t>
            </a:r>
          </a:p>
          <a:p>
            <a:pPr marL="2895596" lvl="6">
              <a:buSzPts val="1800"/>
            </a:pPr>
            <a:r>
              <a:rPr lang="pt-BR" i="1" dirty="0">
                <a:latin typeface="Roboto Mono"/>
                <a:ea typeface="Roboto Mono"/>
                <a:cs typeface="Roboto Mono"/>
                <a:sym typeface="Roboto Mono"/>
              </a:rPr>
              <a:t>	</a:t>
            </a:r>
            <a:r>
              <a:rPr lang="pt-BR" i="1" dirty="0" err="1">
                <a:latin typeface="Roboto Mono"/>
                <a:ea typeface="Roboto Mono"/>
                <a:cs typeface="Roboto Mono"/>
                <a:sym typeface="Roboto Mono"/>
              </a:rPr>
              <a:t>if</a:t>
            </a:r>
            <a:r>
              <a:rPr lang="pt-BR" i="1" dirty="0">
                <a:latin typeface="Roboto Mono"/>
                <a:ea typeface="Roboto Mono"/>
                <a:cs typeface="Roboto Mono"/>
                <a:sym typeface="Roboto Mono"/>
              </a:rPr>
              <a:t> (</a:t>
            </a:r>
            <a:r>
              <a:rPr lang="pt-BR" i="1" dirty="0" err="1">
                <a:latin typeface="Roboto Mono"/>
                <a:ea typeface="Roboto Mono"/>
                <a:cs typeface="Roboto Mono"/>
                <a:sym typeface="Roboto Mono"/>
              </a:rPr>
              <a:t>condicao</a:t>
            </a:r>
            <a:r>
              <a:rPr lang="pt-BR" i="1" dirty="0">
                <a:latin typeface="Roboto Mono"/>
                <a:ea typeface="Roboto Mono"/>
                <a:cs typeface="Roboto Mono"/>
                <a:sym typeface="Roboto Mono"/>
              </a:rPr>
              <a:t>) {</a:t>
            </a:r>
          </a:p>
          <a:p>
            <a:pPr marL="2895596" lvl="6">
              <a:buSzPts val="1800"/>
            </a:pPr>
            <a:r>
              <a:rPr lang="pt-BR" i="1" dirty="0">
                <a:latin typeface="Roboto Mono"/>
                <a:ea typeface="Roboto Mono"/>
                <a:cs typeface="Roboto Mono"/>
                <a:sym typeface="Roboto Mono"/>
              </a:rPr>
              <a:t>  		</a:t>
            </a:r>
            <a:r>
              <a:rPr lang="pt-BR" i="1" dirty="0" err="1">
                <a:latin typeface="Roboto Mono"/>
                <a:ea typeface="Roboto Mono"/>
                <a:cs typeface="Roboto Mono"/>
                <a:sym typeface="Roboto Mono"/>
              </a:rPr>
              <a:t>codigo</a:t>
            </a:r>
            <a:r>
              <a:rPr lang="pt-BR" i="1" dirty="0">
                <a:latin typeface="Roboto Mono"/>
                <a:ea typeface="Roboto Mono"/>
                <a:cs typeface="Roboto Mono"/>
                <a:sym typeface="Roboto Mono"/>
              </a:rPr>
              <a:t> para executar caso a condição seja verdadeira</a:t>
            </a:r>
          </a:p>
          <a:p>
            <a:pPr marL="2895596" lvl="6">
              <a:buSzPts val="1800"/>
            </a:pPr>
            <a:r>
              <a:rPr lang="pt-BR" i="1" dirty="0">
                <a:latin typeface="Roboto Mono"/>
                <a:ea typeface="Roboto Mono"/>
                <a:cs typeface="Roboto Mono"/>
                <a:sym typeface="Roboto Mono"/>
              </a:rPr>
              <a:t>	} </a:t>
            </a:r>
            <a:r>
              <a:rPr lang="pt-BR" i="1" dirty="0" err="1">
                <a:latin typeface="Roboto Mono"/>
                <a:ea typeface="Roboto Mono"/>
                <a:cs typeface="Roboto Mono"/>
                <a:sym typeface="Roboto Mono"/>
              </a:rPr>
              <a:t>else</a:t>
            </a:r>
            <a:r>
              <a:rPr lang="pt-BR" i="1" dirty="0">
                <a:latin typeface="Roboto Mono"/>
                <a:ea typeface="Roboto Mono"/>
                <a:cs typeface="Roboto Mono"/>
                <a:sym typeface="Roboto Mono"/>
              </a:rPr>
              <a:t> {</a:t>
            </a:r>
          </a:p>
          <a:p>
            <a:pPr marL="2895596" lvl="6">
              <a:buSzPts val="1800"/>
            </a:pPr>
            <a:r>
              <a:rPr lang="pt-BR" i="1" dirty="0">
                <a:latin typeface="Roboto Mono"/>
                <a:ea typeface="Roboto Mono"/>
                <a:cs typeface="Roboto Mono"/>
                <a:sym typeface="Roboto Mono"/>
              </a:rPr>
              <a:t>  		senão, executar este código</a:t>
            </a:r>
          </a:p>
          <a:p>
            <a:pPr marL="2895596" lvl="6">
              <a:buSzPts val="1800"/>
            </a:pPr>
            <a:r>
              <a:rPr lang="pt-BR" i="1" dirty="0">
                <a:latin typeface="Roboto Mono"/>
                <a:ea typeface="Roboto Mono"/>
                <a:cs typeface="Roboto Mono"/>
                <a:sym typeface="Roboto Mono"/>
              </a:rPr>
              <a:t>}</a:t>
            </a:r>
          </a:p>
          <a:p>
            <a:pPr marL="2895596" lvl="6">
              <a:buSzPts val="1800"/>
            </a:pPr>
            <a:r>
              <a:rPr lang="pt-BR" i="1" dirty="0">
                <a:latin typeface="Roboto Mono"/>
                <a:ea typeface="Roboto Mono"/>
                <a:cs typeface="Roboto Mono"/>
                <a:sym typeface="Roboto Mono"/>
              </a:rPr>
              <a:t>} </a:t>
            </a:r>
            <a:r>
              <a:rPr lang="pt-BR" i="1" dirty="0" err="1">
                <a:latin typeface="Roboto Mono"/>
                <a:ea typeface="Roboto Mono"/>
                <a:cs typeface="Roboto Mono"/>
                <a:sym typeface="Roboto Mono"/>
              </a:rPr>
              <a:t>else</a:t>
            </a:r>
            <a:r>
              <a:rPr lang="pt-BR" i="1" dirty="0">
                <a:latin typeface="Roboto Mono"/>
                <a:ea typeface="Roboto Mono"/>
                <a:cs typeface="Roboto Mono"/>
                <a:sym typeface="Roboto Mono"/>
              </a:rPr>
              <a:t> {</a:t>
            </a:r>
          </a:p>
          <a:p>
            <a:pPr marL="2895596" lvl="6">
              <a:buSzPts val="1800"/>
            </a:pPr>
            <a:r>
              <a:rPr lang="pt-BR" i="1" dirty="0">
                <a:latin typeface="Roboto Mono"/>
                <a:ea typeface="Roboto Mono"/>
                <a:cs typeface="Roboto Mono"/>
                <a:sym typeface="Roboto Mono"/>
              </a:rPr>
              <a:t>  senão, executar este código</a:t>
            </a:r>
          </a:p>
          <a:p>
            <a:pPr marL="2895596" lvl="6">
              <a:buSzPts val="1800"/>
            </a:pPr>
            <a:r>
              <a:rPr lang="pt-BR" i="1" dirty="0">
                <a:latin typeface="Roboto Mono"/>
                <a:ea typeface="Roboto Mono"/>
                <a:cs typeface="Roboto Mono"/>
                <a:sym typeface="Roboto Mono"/>
              </a:rPr>
              <a:t>}</a:t>
            </a: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04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Tree>
    <p:extLst>
      <p:ext uri="{BB962C8B-B14F-4D97-AF65-F5344CB8AC3E}">
        <p14:creationId xmlns:p14="http://schemas.microsoft.com/office/powerpoint/2010/main" val="35211259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795499" y="727265"/>
            <a:ext cx="10450000" cy="1655207"/>
          </a:xfrm>
          <a:prstGeom prst="rect">
            <a:avLst/>
          </a:prstGeom>
          <a:noFill/>
          <a:ln>
            <a:noFill/>
          </a:ln>
        </p:spPr>
        <p:txBody>
          <a:bodyPr spcFirstLastPara="1" wrap="square" lIns="121900" tIns="121900" rIns="121900" bIns="121900" anchor="t" anchorCtr="0">
            <a:noAutofit/>
          </a:bodyPr>
          <a:lstStyle/>
          <a:p>
            <a:pPr algn="ctr"/>
            <a:r>
              <a:rPr lang="pt-BR" sz="5600" dirty="0">
                <a:solidFill>
                  <a:srgbClr val="D6BA32"/>
                </a:solidFill>
                <a:latin typeface="Roboto Mono Medium"/>
                <a:ea typeface="Roboto Mono Medium"/>
                <a:cs typeface="Roboto Mono Medium"/>
                <a:sym typeface="Roboto Mono Medium"/>
              </a:rPr>
              <a:t>Tomando Decisões</a:t>
            </a:r>
          </a:p>
          <a:p>
            <a:pPr algn="ctr"/>
            <a:r>
              <a:rPr lang="pt-BR" sz="3200" dirty="0">
                <a:solidFill>
                  <a:srgbClr val="D6BA32"/>
                </a:solidFill>
                <a:latin typeface="Roboto Mono Medium"/>
                <a:ea typeface="Roboto Mono Medium"/>
                <a:cs typeface="Roboto Mono Medium"/>
                <a:sym typeface="Roboto Mono Medium"/>
              </a:rPr>
              <a:t>Instruções switch</a:t>
            </a:r>
            <a:endParaRPr lang="pt-BR" sz="4400" b="1" dirty="0">
              <a:solidFill>
                <a:srgbClr val="D6BA32"/>
              </a:solidFill>
              <a:latin typeface="Roboto Mono Medium"/>
              <a:ea typeface="Roboto Mono Medium"/>
              <a:cs typeface="Roboto Mono Medium"/>
              <a:sym typeface="Roboto Mono Medium"/>
            </a:endParaRPr>
          </a:p>
        </p:txBody>
      </p:sp>
      <p:sp>
        <p:nvSpPr>
          <p:cNvPr id="11" name="Google Shape;65;p14">
            <a:extLst>
              <a:ext uri="{FF2B5EF4-FFF2-40B4-BE49-F238E27FC236}">
                <a16:creationId xmlns:a16="http://schemas.microsoft.com/office/drawing/2014/main" id="{CF91C24E-8935-FBC9-9C57-CCD726DB9001}"/>
              </a:ext>
            </a:extLst>
          </p:cNvPr>
          <p:cNvSpPr txBox="1"/>
          <p:nvPr/>
        </p:nvSpPr>
        <p:spPr>
          <a:xfrm>
            <a:off x="232400" y="2727210"/>
            <a:ext cx="11727200" cy="3942183"/>
          </a:xfrm>
          <a:prstGeom prst="rect">
            <a:avLst/>
          </a:prstGeom>
          <a:noFill/>
          <a:ln>
            <a:noFill/>
          </a:ln>
        </p:spPr>
        <p:txBody>
          <a:bodyPr spcFirstLastPara="1" wrap="square" lIns="121900" tIns="121900" rIns="121900" bIns="121900" anchor="t" anchorCtr="0">
            <a:noAutofit/>
          </a:bodyPr>
          <a:lstStyle/>
          <a:p>
            <a:pPr marL="2895596" lvl="6">
              <a:buSzPts val="1800"/>
            </a:pPr>
            <a:endParaRPr lang="pt-BR" i="1" dirty="0">
              <a:latin typeface="Roboto Mono"/>
              <a:ea typeface="Roboto Mono"/>
              <a:cs typeface="Roboto Mono"/>
              <a:sym typeface="Roboto Mono"/>
            </a:endParaRPr>
          </a:p>
          <a:p>
            <a:pPr marL="152396">
              <a:buSzPts val="1800"/>
            </a:pPr>
            <a:r>
              <a:rPr lang="pt-BR" dirty="0">
                <a:latin typeface="Roboto Mono"/>
                <a:ea typeface="Roboto Mono"/>
                <a:cs typeface="Roboto Mono"/>
                <a:sym typeface="Roboto Mono"/>
              </a:rPr>
              <a:t>	As instruções </a:t>
            </a:r>
            <a:r>
              <a:rPr lang="pt-BR" dirty="0" err="1">
                <a:latin typeface="Roboto Mono"/>
                <a:ea typeface="Roboto Mono"/>
                <a:cs typeface="Roboto Mono"/>
                <a:sym typeface="Roboto Mono"/>
              </a:rPr>
              <a:t>if</a:t>
            </a:r>
            <a:r>
              <a:rPr lang="pt-BR" dirty="0">
                <a:latin typeface="Roboto Mono"/>
                <a:ea typeface="Roboto Mono"/>
                <a:cs typeface="Roboto Mono"/>
                <a:sym typeface="Roboto Mono"/>
              </a:rPr>
              <a:t>...</a:t>
            </a:r>
            <a:r>
              <a:rPr lang="pt-BR" dirty="0" err="1">
                <a:latin typeface="Roboto Mono"/>
                <a:ea typeface="Roboto Mono"/>
                <a:cs typeface="Roboto Mono"/>
                <a:sym typeface="Roboto Mono"/>
              </a:rPr>
              <a:t>else</a:t>
            </a:r>
            <a:r>
              <a:rPr lang="pt-BR" dirty="0">
                <a:latin typeface="Roboto Mono"/>
                <a:ea typeface="Roboto Mono"/>
                <a:cs typeface="Roboto Mono"/>
                <a:sym typeface="Roboto Mono"/>
              </a:rPr>
              <a:t> fazem o trabalho de habilitar o código condicional bem, mas elas também possuem suas desvantagens. Elas são boas principalmente para casos em que você tem algumas opções, e cada uma requer uma quantidade razoável de código para ser executado, e / ou as condições são complexas (por exemplo, vários operadores lógicos). Nos casos em que você deseja definir uma variável para uma determinada opção de valor ou imprimir uma determinada instrução dependendo de uma condição, a sintaxe pode ser um pouco incômoda, especialmente se você tiver um grande número de opções.</a:t>
            </a:r>
          </a:p>
          <a:p>
            <a:pPr marL="152396">
              <a:buSzPts val="1800"/>
            </a:pPr>
            <a:r>
              <a:rPr lang="pt-BR" dirty="0">
                <a:latin typeface="Roboto Mono"/>
                <a:ea typeface="Roboto Mono"/>
                <a:cs typeface="Roboto Mono"/>
                <a:sym typeface="Roboto Mono"/>
              </a:rPr>
              <a:t>	Elas tomam uma única expressão / valor como uma entrada e, em seguida, examinam várias opções até encontrarem um que corresponda a esse valor, executando o código correspondente que o acompanha.</a:t>
            </a:r>
          </a:p>
          <a:p>
            <a:pPr marL="152396">
              <a:buSzPts val="1800"/>
            </a:pPr>
            <a:endParaRPr lang="pt-BR" dirty="0">
              <a:latin typeface="Roboto Mono"/>
              <a:ea typeface="Roboto Mono"/>
              <a:cs typeface="Roboto Mono"/>
              <a:sym typeface="Roboto Mono"/>
            </a:endParaRP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04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Tree>
    <p:extLst>
      <p:ext uri="{BB962C8B-B14F-4D97-AF65-F5344CB8AC3E}">
        <p14:creationId xmlns:p14="http://schemas.microsoft.com/office/powerpoint/2010/main" val="24989377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795499" y="727265"/>
            <a:ext cx="10450000" cy="1655207"/>
          </a:xfrm>
          <a:prstGeom prst="rect">
            <a:avLst/>
          </a:prstGeom>
          <a:noFill/>
          <a:ln>
            <a:noFill/>
          </a:ln>
        </p:spPr>
        <p:txBody>
          <a:bodyPr spcFirstLastPara="1" wrap="square" lIns="121900" tIns="121900" rIns="121900" bIns="121900" anchor="t" anchorCtr="0">
            <a:noAutofit/>
          </a:bodyPr>
          <a:lstStyle/>
          <a:p>
            <a:pPr algn="ctr"/>
            <a:r>
              <a:rPr lang="pt-BR" sz="5600" dirty="0">
                <a:solidFill>
                  <a:srgbClr val="D6BA32"/>
                </a:solidFill>
                <a:latin typeface="Roboto Mono Medium"/>
                <a:ea typeface="Roboto Mono Medium"/>
                <a:cs typeface="Roboto Mono Medium"/>
                <a:sym typeface="Roboto Mono Medium"/>
              </a:rPr>
              <a:t>Tomando Decisões</a:t>
            </a:r>
          </a:p>
          <a:p>
            <a:pPr algn="ctr"/>
            <a:r>
              <a:rPr lang="pt-BR" sz="3200" dirty="0">
                <a:solidFill>
                  <a:srgbClr val="D6BA32"/>
                </a:solidFill>
                <a:latin typeface="Roboto Mono Medium"/>
                <a:ea typeface="Roboto Mono Medium"/>
                <a:cs typeface="Roboto Mono Medium"/>
                <a:sym typeface="Roboto Mono Medium"/>
              </a:rPr>
              <a:t>Instruções switch</a:t>
            </a:r>
            <a:endParaRPr lang="pt-BR" sz="4400" b="1" dirty="0">
              <a:solidFill>
                <a:srgbClr val="D6BA32"/>
              </a:solidFill>
              <a:latin typeface="Roboto Mono Medium"/>
              <a:ea typeface="Roboto Mono Medium"/>
              <a:cs typeface="Roboto Mono Medium"/>
              <a:sym typeface="Roboto Mono Medium"/>
            </a:endParaRP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04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pic>
        <p:nvPicPr>
          <p:cNvPr id="1026" name="Picture 2">
            <a:extLst>
              <a:ext uri="{FF2B5EF4-FFF2-40B4-BE49-F238E27FC236}">
                <a16:creationId xmlns:a16="http://schemas.microsoft.com/office/drawing/2014/main" id="{8214D0F7-BB1D-3960-FBFB-A862B12370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51098" y="2382472"/>
            <a:ext cx="2446656" cy="4319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58367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04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pic>
        <p:nvPicPr>
          <p:cNvPr id="3" name="Imagem 2">
            <a:extLst>
              <a:ext uri="{FF2B5EF4-FFF2-40B4-BE49-F238E27FC236}">
                <a16:creationId xmlns:a16="http://schemas.microsoft.com/office/drawing/2014/main" id="{AF9122A9-D809-880E-0CB9-0528C4A9C5A7}"/>
              </a:ext>
            </a:extLst>
          </p:cNvPr>
          <p:cNvPicPr>
            <a:picLocks noChangeAspect="1"/>
          </p:cNvPicPr>
          <p:nvPr/>
        </p:nvPicPr>
        <p:blipFill>
          <a:blip r:embed="rId4"/>
          <a:stretch>
            <a:fillRect/>
          </a:stretch>
        </p:blipFill>
        <p:spPr>
          <a:xfrm>
            <a:off x="1749362" y="1036419"/>
            <a:ext cx="8968922" cy="5607320"/>
          </a:xfrm>
          <a:prstGeom prst="rect">
            <a:avLst/>
          </a:prstGeom>
        </p:spPr>
      </p:pic>
    </p:spTree>
    <p:extLst>
      <p:ext uri="{BB962C8B-B14F-4D97-AF65-F5344CB8AC3E}">
        <p14:creationId xmlns:p14="http://schemas.microsoft.com/office/powerpoint/2010/main" val="33509194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795499" y="727265"/>
            <a:ext cx="10450000" cy="1655207"/>
          </a:xfrm>
          <a:prstGeom prst="rect">
            <a:avLst/>
          </a:prstGeom>
          <a:noFill/>
          <a:ln>
            <a:noFill/>
          </a:ln>
        </p:spPr>
        <p:txBody>
          <a:bodyPr spcFirstLastPara="1" wrap="square" lIns="121900" tIns="121900" rIns="121900" bIns="121900" anchor="t" anchorCtr="0">
            <a:noAutofit/>
          </a:bodyPr>
          <a:lstStyle/>
          <a:p>
            <a:pPr algn="ctr"/>
            <a:r>
              <a:rPr lang="pt-BR" sz="5600" dirty="0">
                <a:solidFill>
                  <a:srgbClr val="D6BA32"/>
                </a:solidFill>
                <a:latin typeface="Roboto Mono Medium"/>
                <a:ea typeface="Roboto Mono Medium"/>
                <a:cs typeface="Roboto Mono Medium"/>
                <a:sym typeface="Roboto Mono Medium"/>
              </a:rPr>
              <a:t>Tomando Decisões</a:t>
            </a:r>
          </a:p>
          <a:p>
            <a:pPr algn="ctr"/>
            <a:r>
              <a:rPr lang="pt-BR" sz="3200" dirty="0">
                <a:solidFill>
                  <a:srgbClr val="D6BA32"/>
                </a:solidFill>
                <a:latin typeface="Roboto Mono Medium"/>
                <a:ea typeface="Roboto Mono Medium"/>
                <a:cs typeface="Roboto Mono Medium"/>
                <a:sym typeface="Roboto Mono Medium"/>
              </a:rPr>
              <a:t>Instruções switch</a:t>
            </a:r>
            <a:endParaRPr lang="pt-BR" sz="4400" b="1" dirty="0">
              <a:solidFill>
                <a:srgbClr val="D6BA32"/>
              </a:solidFill>
              <a:latin typeface="Roboto Mono Medium"/>
              <a:ea typeface="Roboto Mono Medium"/>
              <a:cs typeface="Roboto Mono Medium"/>
              <a:sym typeface="Roboto Mono Medium"/>
            </a:endParaRPr>
          </a:p>
        </p:txBody>
      </p:sp>
      <p:sp>
        <p:nvSpPr>
          <p:cNvPr id="11" name="Google Shape;65;p14">
            <a:extLst>
              <a:ext uri="{FF2B5EF4-FFF2-40B4-BE49-F238E27FC236}">
                <a16:creationId xmlns:a16="http://schemas.microsoft.com/office/drawing/2014/main" id="{CF91C24E-8935-FBC9-9C57-CCD726DB9001}"/>
              </a:ext>
            </a:extLst>
          </p:cNvPr>
          <p:cNvSpPr txBox="1"/>
          <p:nvPr/>
        </p:nvSpPr>
        <p:spPr>
          <a:xfrm>
            <a:off x="232400" y="2727210"/>
            <a:ext cx="11727200" cy="3942183"/>
          </a:xfrm>
          <a:prstGeom prst="rect">
            <a:avLst/>
          </a:prstGeom>
          <a:noFill/>
          <a:ln>
            <a:noFill/>
          </a:ln>
        </p:spPr>
        <p:txBody>
          <a:bodyPr spcFirstLastPara="1" wrap="square" lIns="121900" tIns="121900" rIns="121900" bIns="121900" anchor="t" anchorCtr="0">
            <a:noAutofit/>
          </a:bodyPr>
          <a:lstStyle/>
          <a:p>
            <a:pPr marL="3809996" lvl="8">
              <a:buSzPts val="1800"/>
            </a:pPr>
            <a:r>
              <a:rPr lang="en-US" i="1" dirty="0">
                <a:latin typeface="Roboto Mono"/>
                <a:ea typeface="Roboto Mono"/>
                <a:cs typeface="Roboto Mono"/>
                <a:sym typeface="Roboto Mono"/>
              </a:rPr>
              <a:t>switch (expression) {</a:t>
            </a:r>
          </a:p>
          <a:p>
            <a:pPr marL="3809996" lvl="8">
              <a:buSzPts val="1800"/>
            </a:pPr>
            <a:r>
              <a:rPr lang="en-US" i="1" dirty="0">
                <a:latin typeface="Roboto Mono"/>
                <a:ea typeface="Roboto Mono"/>
                <a:cs typeface="Roboto Mono"/>
                <a:sym typeface="Roboto Mono"/>
              </a:rPr>
              <a:t>  case valor1:    </a:t>
            </a:r>
            <a:r>
              <a:rPr lang="en-US" i="1" dirty="0" err="1">
                <a:latin typeface="Roboto Mono"/>
                <a:ea typeface="Roboto Mono"/>
                <a:cs typeface="Roboto Mono"/>
                <a:sym typeface="Roboto Mono"/>
              </a:rPr>
              <a:t>faz</a:t>
            </a:r>
            <a:r>
              <a:rPr lang="en-US" i="1" dirty="0">
                <a:latin typeface="Roboto Mono"/>
                <a:ea typeface="Roboto Mono"/>
                <a:cs typeface="Roboto Mono"/>
                <a:sym typeface="Roboto Mono"/>
              </a:rPr>
              <a:t> algo </a:t>
            </a:r>
            <a:r>
              <a:rPr lang="en-US" i="1" dirty="0" err="1">
                <a:latin typeface="Roboto Mono"/>
                <a:ea typeface="Roboto Mono"/>
                <a:cs typeface="Roboto Mono"/>
                <a:sym typeface="Roboto Mono"/>
              </a:rPr>
              <a:t>aqui</a:t>
            </a:r>
            <a:r>
              <a:rPr lang="en-US" i="1" dirty="0">
                <a:latin typeface="Roboto Mono"/>
                <a:ea typeface="Roboto Mono"/>
                <a:cs typeface="Roboto Mono"/>
                <a:sym typeface="Roboto Mono"/>
              </a:rPr>
              <a:t>;</a:t>
            </a:r>
          </a:p>
          <a:p>
            <a:pPr marL="3809996" lvl="8">
              <a:buSzPts val="1800"/>
            </a:pPr>
            <a:r>
              <a:rPr lang="en-US" i="1" dirty="0">
                <a:latin typeface="Roboto Mono"/>
                <a:ea typeface="Roboto Mono"/>
                <a:cs typeface="Roboto Mono"/>
                <a:sym typeface="Roboto Mono"/>
              </a:rPr>
              <a:t>  break;</a:t>
            </a:r>
          </a:p>
          <a:p>
            <a:pPr marL="3809996" lvl="8">
              <a:buSzPts val="1800"/>
            </a:pPr>
            <a:r>
              <a:rPr lang="en-US" i="1" dirty="0">
                <a:latin typeface="Roboto Mono"/>
                <a:ea typeface="Roboto Mono"/>
                <a:cs typeface="Roboto Mono"/>
                <a:sym typeface="Roboto Mono"/>
              </a:rPr>
              <a:t>  case valor2:  </a:t>
            </a:r>
            <a:r>
              <a:rPr lang="en-US" i="1" dirty="0" err="1">
                <a:latin typeface="Roboto Mono"/>
                <a:ea typeface="Roboto Mono"/>
                <a:cs typeface="Roboto Mono"/>
                <a:sym typeface="Roboto Mono"/>
              </a:rPr>
              <a:t>ou</a:t>
            </a:r>
            <a:r>
              <a:rPr lang="en-US" i="1" dirty="0">
                <a:latin typeface="Roboto Mono"/>
                <a:ea typeface="Roboto Mono"/>
                <a:cs typeface="Roboto Mono"/>
                <a:sym typeface="Roboto Mono"/>
              </a:rPr>
              <a:t> </a:t>
            </a:r>
            <a:r>
              <a:rPr lang="en-US" i="1" dirty="0" err="1">
                <a:latin typeface="Roboto Mono"/>
                <a:ea typeface="Roboto Mono"/>
                <a:cs typeface="Roboto Mono"/>
                <a:sym typeface="Roboto Mono"/>
              </a:rPr>
              <a:t>faz</a:t>
            </a:r>
            <a:r>
              <a:rPr lang="en-US" i="1" dirty="0">
                <a:latin typeface="Roboto Mono"/>
                <a:ea typeface="Roboto Mono"/>
                <a:cs typeface="Roboto Mono"/>
                <a:sym typeface="Roboto Mono"/>
              </a:rPr>
              <a:t> algo </a:t>
            </a:r>
            <a:r>
              <a:rPr lang="en-US" i="1" dirty="0" err="1">
                <a:latin typeface="Roboto Mono"/>
                <a:ea typeface="Roboto Mono"/>
                <a:cs typeface="Roboto Mono"/>
                <a:sym typeface="Roboto Mono"/>
              </a:rPr>
              <a:t>aqui</a:t>
            </a:r>
            <a:r>
              <a:rPr lang="en-US" i="1" dirty="0">
                <a:latin typeface="Roboto Mono"/>
                <a:ea typeface="Roboto Mono"/>
                <a:cs typeface="Roboto Mono"/>
                <a:sym typeface="Roboto Mono"/>
              </a:rPr>
              <a:t>;</a:t>
            </a:r>
          </a:p>
          <a:p>
            <a:pPr marL="3809996" lvl="8">
              <a:buSzPts val="1800"/>
            </a:pPr>
            <a:r>
              <a:rPr lang="en-US" i="1" dirty="0">
                <a:latin typeface="Roboto Mono"/>
                <a:ea typeface="Roboto Mono"/>
                <a:cs typeface="Roboto Mono"/>
                <a:sym typeface="Roboto Mono"/>
              </a:rPr>
              <a:t>  break;</a:t>
            </a:r>
          </a:p>
          <a:p>
            <a:pPr marL="3809996" lvl="8">
              <a:buSzPts val="1800"/>
            </a:pPr>
            <a:r>
              <a:rPr lang="en-US" i="1" dirty="0">
                <a:latin typeface="Roboto Mono"/>
                <a:ea typeface="Roboto Mono"/>
                <a:cs typeface="Roboto Mono"/>
                <a:sym typeface="Roboto Mono"/>
              </a:rPr>
              <a:t>  …</a:t>
            </a:r>
          </a:p>
          <a:p>
            <a:pPr marL="3809996" lvl="8">
              <a:buSzPts val="1800"/>
            </a:pPr>
            <a:r>
              <a:rPr lang="en-US" i="1" dirty="0">
                <a:latin typeface="Roboto Mono"/>
                <a:ea typeface="Roboto Mono"/>
                <a:cs typeface="Roboto Mono"/>
                <a:sym typeface="Roboto Mono"/>
              </a:rPr>
              <a:t>  case valor999:  </a:t>
            </a:r>
            <a:r>
              <a:rPr lang="en-US" i="1" dirty="0" err="1">
                <a:latin typeface="Roboto Mono"/>
                <a:ea typeface="Roboto Mono"/>
                <a:cs typeface="Roboto Mono"/>
                <a:sym typeface="Roboto Mono"/>
              </a:rPr>
              <a:t>ou</a:t>
            </a:r>
            <a:r>
              <a:rPr lang="en-US" i="1" dirty="0">
                <a:latin typeface="Roboto Mono"/>
                <a:ea typeface="Roboto Mono"/>
                <a:cs typeface="Roboto Mono"/>
                <a:sym typeface="Roboto Mono"/>
              </a:rPr>
              <a:t> </a:t>
            </a:r>
            <a:r>
              <a:rPr lang="en-US" i="1" dirty="0" err="1">
                <a:latin typeface="Roboto Mono"/>
                <a:ea typeface="Roboto Mono"/>
                <a:cs typeface="Roboto Mono"/>
                <a:sym typeface="Roboto Mono"/>
              </a:rPr>
              <a:t>então</a:t>
            </a:r>
            <a:r>
              <a:rPr lang="en-US" i="1" dirty="0">
                <a:latin typeface="Roboto Mono"/>
                <a:ea typeface="Roboto Mono"/>
                <a:cs typeface="Roboto Mono"/>
                <a:sym typeface="Roboto Mono"/>
              </a:rPr>
              <a:t> </a:t>
            </a:r>
            <a:r>
              <a:rPr lang="en-US" i="1" dirty="0" err="1">
                <a:latin typeface="Roboto Mono"/>
                <a:ea typeface="Roboto Mono"/>
                <a:cs typeface="Roboto Mono"/>
                <a:sym typeface="Roboto Mono"/>
              </a:rPr>
              <a:t>depois</a:t>
            </a:r>
            <a:r>
              <a:rPr lang="en-US" i="1" dirty="0">
                <a:latin typeface="Roboto Mono"/>
                <a:ea typeface="Roboto Mono"/>
                <a:cs typeface="Roboto Mono"/>
                <a:sym typeface="Roboto Mono"/>
              </a:rPr>
              <a:t> de 998 </a:t>
            </a:r>
            <a:r>
              <a:rPr lang="en-US" i="1" dirty="0" err="1">
                <a:latin typeface="Roboto Mono"/>
                <a:ea typeface="Roboto Mono"/>
                <a:cs typeface="Roboto Mono"/>
                <a:sym typeface="Roboto Mono"/>
              </a:rPr>
              <a:t>opçoes</a:t>
            </a:r>
            <a:r>
              <a:rPr lang="en-US" i="1" dirty="0">
                <a:latin typeface="Roboto Mono"/>
                <a:ea typeface="Roboto Mono"/>
                <a:cs typeface="Roboto Mono"/>
                <a:sym typeface="Roboto Mono"/>
              </a:rPr>
              <a:t> </a:t>
            </a:r>
            <a:r>
              <a:rPr lang="en-US" i="1" dirty="0" err="1">
                <a:latin typeface="Roboto Mono"/>
                <a:ea typeface="Roboto Mono"/>
                <a:cs typeface="Roboto Mono"/>
                <a:sym typeface="Roboto Mono"/>
              </a:rPr>
              <a:t>faz</a:t>
            </a:r>
            <a:r>
              <a:rPr lang="en-US" i="1" dirty="0">
                <a:latin typeface="Roboto Mono"/>
                <a:ea typeface="Roboto Mono"/>
                <a:cs typeface="Roboto Mono"/>
                <a:sym typeface="Roboto Mono"/>
              </a:rPr>
              <a:t> algo </a:t>
            </a:r>
            <a:r>
              <a:rPr lang="en-US" i="1" dirty="0" err="1">
                <a:latin typeface="Roboto Mono"/>
                <a:ea typeface="Roboto Mono"/>
                <a:cs typeface="Roboto Mono"/>
                <a:sym typeface="Roboto Mono"/>
              </a:rPr>
              <a:t>aqui</a:t>
            </a:r>
            <a:r>
              <a:rPr lang="en-US" i="1" dirty="0">
                <a:latin typeface="Roboto Mono"/>
                <a:ea typeface="Roboto Mono"/>
                <a:cs typeface="Roboto Mono"/>
                <a:sym typeface="Roboto Mono"/>
              </a:rPr>
              <a:t>;</a:t>
            </a:r>
          </a:p>
          <a:p>
            <a:pPr marL="3809996" lvl="8">
              <a:buSzPts val="1800"/>
            </a:pPr>
            <a:r>
              <a:rPr lang="en-US" i="1" dirty="0">
                <a:latin typeface="Roboto Mono"/>
                <a:ea typeface="Roboto Mono"/>
                <a:cs typeface="Roboto Mono"/>
                <a:sym typeface="Roboto Mono"/>
              </a:rPr>
              <a:t>  break;</a:t>
            </a:r>
          </a:p>
          <a:p>
            <a:pPr marL="3809996" lvl="8">
              <a:buSzPts val="1800"/>
            </a:pPr>
            <a:r>
              <a:rPr lang="en-US" i="1" dirty="0">
                <a:latin typeface="Roboto Mono"/>
                <a:ea typeface="Roboto Mono"/>
                <a:cs typeface="Roboto Mono"/>
                <a:sym typeface="Roboto Mono"/>
              </a:rPr>
              <a:t>  default: se </a:t>
            </a:r>
            <a:r>
              <a:rPr lang="en-US" i="1" dirty="0" err="1">
                <a:latin typeface="Roboto Mono"/>
                <a:ea typeface="Roboto Mono"/>
                <a:cs typeface="Roboto Mono"/>
                <a:sym typeface="Roboto Mono"/>
              </a:rPr>
              <a:t>depois</a:t>
            </a:r>
            <a:r>
              <a:rPr lang="en-US" i="1" dirty="0">
                <a:latin typeface="Roboto Mono"/>
                <a:ea typeface="Roboto Mono"/>
                <a:cs typeface="Roboto Mono"/>
                <a:sym typeface="Roboto Mono"/>
              </a:rPr>
              <a:t> de </a:t>
            </a:r>
            <a:r>
              <a:rPr lang="en-US" i="1" dirty="0" err="1">
                <a:latin typeface="Roboto Mono"/>
                <a:ea typeface="Roboto Mono"/>
                <a:cs typeface="Roboto Mono"/>
                <a:sym typeface="Roboto Mono"/>
              </a:rPr>
              <a:t>tudo</a:t>
            </a:r>
            <a:r>
              <a:rPr lang="en-US" i="1" dirty="0">
                <a:latin typeface="Roboto Mono"/>
                <a:ea typeface="Roboto Mono"/>
                <a:cs typeface="Roboto Mono"/>
                <a:sym typeface="Roboto Mono"/>
              </a:rPr>
              <a:t> </a:t>
            </a:r>
            <a:r>
              <a:rPr lang="en-US" i="1" dirty="0" err="1">
                <a:latin typeface="Roboto Mono"/>
                <a:ea typeface="Roboto Mono"/>
                <a:cs typeface="Roboto Mono"/>
                <a:sym typeface="Roboto Mono"/>
              </a:rPr>
              <a:t>não</a:t>
            </a:r>
            <a:r>
              <a:rPr lang="en-US" i="1" dirty="0">
                <a:latin typeface="Roboto Mono"/>
                <a:ea typeface="Roboto Mono"/>
                <a:cs typeface="Roboto Mono"/>
                <a:sym typeface="Roboto Mono"/>
              </a:rPr>
              <a:t> </a:t>
            </a:r>
            <a:r>
              <a:rPr lang="en-US" i="1" dirty="0" err="1">
                <a:latin typeface="Roboto Mono"/>
                <a:ea typeface="Roboto Mono"/>
                <a:cs typeface="Roboto Mono"/>
                <a:sym typeface="Roboto Mono"/>
              </a:rPr>
              <a:t>encontrar</a:t>
            </a:r>
            <a:r>
              <a:rPr lang="en-US" i="1" dirty="0">
                <a:latin typeface="Roboto Mono"/>
                <a:ea typeface="Roboto Mono"/>
                <a:cs typeface="Roboto Mono"/>
                <a:sym typeface="Roboto Mono"/>
              </a:rPr>
              <a:t> </a:t>
            </a:r>
            <a:r>
              <a:rPr lang="en-US" i="1" dirty="0" err="1">
                <a:latin typeface="Roboto Mono"/>
                <a:ea typeface="Roboto Mono"/>
                <a:cs typeface="Roboto Mono"/>
                <a:sym typeface="Roboto Mono"/>
              </a:rPr>
              <a:t>faz</a:t>
            </a:r>
            <a:r>
              <a:rPr lang="en-US" i="1" dirty="0">
                <a:latin typeface="Roboto Mono"/>
                <a:ea typeface="Roboto Mono"/>
                <a:cs typeface="Roboto Mono"/>
                <a:sym typeface="Roboto Mono"/>
              </a:rPr>
              <a:t> </a:t>
            </a:r>
            <a:r>
              <a:rPr lang="en-US" i="1" dirty="0" err="1">
                <a:latin typeface="Roboto Mono"/>
                <a:ea typeface="Roboto Mono"/>
                <a:cs typeface="Roboto Mono"/>
                <a:sym typeface="Roboto Mono"/>
              </a:rPr>
              <a:t>isto</a:t>
            </a:r>
            <a:r>
              <a:rPr lang="en-US" i="1" dirty="0">
                <a:latin typeface="Roboto Mono"/>
                <a:ea typeface="Roboto Mono"/>
                <a:cs typeface="Roboto Mono"/>
                <a:sym typeface="Roboto Mono"/>
              </a:rPr>
              <a:t>;</a:t>
            </a:r>
          </a:p>
          <a:p>
            <a:pPr marL="3809996" lvl="8">
              <a:buSzPts val="1800"/>
            </a:pPr>
            <a:r>
              <a:rPr lang="en-US" i="1" dirty="0">
                <a:latin typeface="Roboto Mono"/>
                <a:ea typeface="Roboto Mono"/>
                <a:cs typeface="Roboto Mono"/>
                <a:sym typeface="Roboto Mono"/>
              </a:rPr>
              <a:t>}</a:t>
            </a:r>
            <a:endParaRPr lang="pt-BR" dirty="0">
              <a:latin typeface="Roboto Mono"/>
              <a:ea typeface="Roboto Mono"/>
              <a:cs typeface="Roboto Mono"/>
              <a:sym typeface="Roboto Mono"/>
            </a:endParaRP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04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Tree>
    <p:extLst>
      <p:ext uri="{BB962C8B-B14F-4D97-AF65-F5344CB8AC3E}">
        <p14:creationId xmlns:p14="http://schemas.microsoft.com/office/powerpoint/2010/main" val="36590774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795499" y="727265"/>
            <a:ext cx="10450000" cy="1655207"/>
          </a:xfrm>
          <a:prstGeom prst="rect">
            <a:avLst/>
          </a:prstGeom>
          <a:noFill/>
          <a:ln>
            <a:noFill/>
          </a:ln>
        </p:spPr>
        <p:txBody>
          <a:bodyPr spcFirstLastPara="1" wrap="square" lIns="121900" tIns="121900" rIns="121900" bIns="121900" anchor="t" anchorCtr="0">
            <a:noAutofit/>
          </a:bodyPr>
          <a:lstStyle/>
          <a:p>
            <a:pPr algn="ctr"/>
            <a:r>
              <a:rPr lang="pt-BR" sz="5600" dirty="0">
                <a:solidFill>
                  <a:srgbClr val="D6BA32"/>
                </a:solidFill>
                <a:latin typeface="Roboto Mono Medium"/>
                <a:ea typeface="Roboto Mono Medium"/>
                <a:cs typeface="Roboto Mono Medium"/>
                <a:sym typeface="Roboto Mono Medium"/>
              </a:rPr>
              <a:t>Tomando Decisões</a:t>
            </a:r>
          </a:p>
          <a:p>
            <a:pPr algn="ctr"/>
            <a:r>
              <a:rPr lang="pt-BR" sz="3200" dirty="0">
                <a:solidFill>
                  <a:srgbClr val="D6BA32"/>
                </a:solidFill>
                <a:latin typeface="Roboto Mono Medium"/>
                <a:ea typeface="Roboto Mono Medium"/>
                <a:cs typeface="Roboto Mono Medium"/>
                <a:sym typeface="Roboto Mono Medium"/>
              </a:rPr>
              <a:t>Instruções switch</a:t>
            </a:r>
            <a:endParaRPr lang="pt-BR" sz="4400" b="1" dirty="0">
              <a:solidFill>
                <a:srgbClr val="D6BA32"/>
              </a:solidFill>
              <a:latin typeface="Roboto Mono Medium"/>
              <a:ea typeface="Roboto Mono Medium"/>
              <a:cs typeface="Roboto Mono Medium"/>
              <a:sym typeface="Roboto Mono Medium"/>
            </a:endParaRP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04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
        <p:nvSpPr>
          <p:cNvPr id="7" name="Google Shape;65;p14">
            <a:extLst>
              <a:ext uri="{FF2B5EF4-FFF2-40B4-BE49-F238E27FC236}">
                <a16:creationId xmlns:a16="http://schemas.microsoft.com/office/drawing/2014/main" id="{091EDD01-F26C-FBB8-95B4-65DBB13A78EC}"/>
              </a:ext>
            </a:extLst>
          </p:cNvPr>
          <p:cNvSpPr txBox="1"/>
          <p:nvPr/>
        </p:nvSpPr>
        <p:spPr>
          <a:xfrm>
            <a:off x="232400" y="2727210"/>
            <a:ext cx="11727200" cy="3942183"/>
          </a:xfrm>
          <a:prstGeom prst="rect">
            <a:avLst/>
          </a:prstGeom>
          <a:noFill/>
          <a:ln>
            <a:noFill/>
          </a:ln>
        </p:spPr>
        <p:txBody>
          <a:bodyPr spcFirstLastPara="1" wrap="square" lIns="121900" tIns="121900" rIns="121900" bIns="121900" anchor="t" anchorCtr="0">
            <a:noAutofit/>
          </a:bodyPr>
          <a:lstStyle/>
          <a:p>
            <a:pPr marL="495296" indent="-342900">
              <a:buSzPts val="1800"/>
              <a:buFont typeface="+mj-lt"/>
              <a:buAutoNum type="arabicPeriod"/>
            </a:pPr>
            <a:r>
              <a:rPr lang="pt-BR" dirty="0">
                <a:latin typeface="Roboto Mono"/>
                <a:ea typeface="Roboto Mono"/>
                <a:cs typeface="Roboto Mono"/>
                <a:sym typeface="Roboto Mono"/>
              </a:rPr>
              <a:t>A palavra-chave switch, seguido por um par de parênteses.</a:t>
            </a:r>
          </a:p>
          <a:p>
            <a:pPr marL="495296" indent="-342900">
              <a:buSzPts val="1800"/>
              <a:buFont typeface="+mj-lt"/>
              <a:buAutoNum type="arabicPeriod"/>
            </a:pPr>
            <a:r>
              <a:rPr lang="pt-BR" dirty="0">
                <a:latin typeface="Roboto Mono"/>
                <a:ea typeface="Roboto Mono"/>
                <a:cs typeface="Roboto Mono"/>
                <a:sym typeface="Roboto Mono"/>
              </a:rPr>
              <a:t>Uma expressão ou valor dentro dos parênteses.</a:t>
            </a:r>
          </a:p>
          <a:p>
            <a:pPr marL="495296" indent="-342900">
              <a:buSzPts val="1800"/>
              <a:buFont typeface="+mj-lt"/>
              <a:buAutoNum type="arabicPeriod"/>
            </a:pPr>
            <a:r>
              <a:rPr lang="pt-BR" dirty="0">
                <a:latin typeface="Roboto Mono"/>
                <a:ea typeface="Roboto Mono"/>
                <a:cs typeface="Roboto Mono"/>
                <a:sym typeface="Roboto Mono"/>
              </a:rPr>
              <a:t>A palavra-chave case, seguido por uma escolha que a expressão / valor poderia ser, seguido por dois pontos.</a:t>
            </a:r>
          </a:p>
          <a:p>
            <a:pPr marL="495296" indent="-342900">
              <a:buSzPts val="1800"/>
              <a:buFont typeface="+mj-lt"/>
              <a:buAutoNum type="arabicPeriod"/>
            </a:pPr>
            <a:r>
              <a:rPr lang="pt-BR" dirty="0">
                <a:latin typeface="Roboto Mono"/>
                <a:ea typeface="Roboto Mono"/>
                <a:cs typeface="Roboto Mono"/>
                <a:sym typeface="Roboto Mono"/>
              </a:rPr>
              <a:t>Algum código para ser executado se a escolha corresponder à expressão.</a:t>
            </a:r>
          </a:p>
          <a:p>
            <a:pPr marL="495296" indent="-342900">
              <a:buSzPts val="1800"/>
              <a:buFont typeface="+mj-lt"/>
              <a:buAutoNum type="arabicPeriod"/>
            </a:pPr>
            <a:r>
              <a:rPr lang="pt-BR" dirty="0">
                <a:latin typeface="Roboto Mono"/>
                <a:ea typeface="Roboto Mono"/>
                <a:cs typeface="Roboto Mono"/>
                <a:sym typeface="Roboto Mono"/>
              </a:rPr>
              <a:t>Uma instrução break, seguido de um ponto e vírgula. Se a opção anterior corresponder à expressão / valor, o navegador interromperá a execução do bloco de código aqui e passará para qualquer código que aparecer abaixo da instrução switch.</a:t>
            </a:r>
          </a:p>
          <a:p>
            <a:pPr marL="495296" indent="-342900">
              <a:buSzPts val="1800"/>
              <a:buFont typeface="+mj-lt"/>
              <a:buAutoNum type="arabicPeriod"/>
            </a:pPr>
            <a:r>
              <a:rPr lang="pt-BR" dirty="0">
                <a:latin typeface="Roboto Mono"/>
                <a:ea typeface="Roboto Mono"/>
                <a:cs typeface="Roboto Mono"/>
                <a:sym typeface="Roboto Mono"/>
              </a:rPr>
              <a:t>Como muitos outros casos (marcadores 3 a 5) que você quiser.</a:t>
            </a:r>
          </a:p>
          <a:p>
            <a:pPr marL="495296" indent="-342900">
              <a:buSzPts val="1800"/>
              <a:buFont typeface="+mj-lt"/>
              <a:buAutoNum type="arabicPeriod"/>
            </a:pPr>
            <a:r>
              <a:rPr lang="pt-BR" dirty="0">
                <a:latin typeface="Roboto Mono"/>
                <a:ea typeface="Roboto Mono"/>
                <a:cs typeface="Roboto Mono"/>
                <a:sym typeface="Roboto Mono"/>
              </a:rPr>
              <a:t>A palavra-chave default, seguido por exatamente o mesmo padrão de código de um dos casos (marcadores 3 a 5), exceto que o default não tem escolha após ele, e você não precisa da instrução break, pois não há nada para executar depois disso o bloco de qualquer maneira. Esta é a opção padrão que é executada se nenhuma das opções corresponder.</a:t>
            </a:r>
          </a:p>
        </p:txBody>
      </p:sp>
    </p:spTree>
    <p:extLst>
      <p:ext uri="{BB962C8B-B14F-4D97-AF65-F5344CB8AC3E}">
        <p14:creationId xmlns:p14="http://schemas.microsoft.com/office/powerpoint/2010/main" val="26791625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Google Shape;63;p14"/>
          <p:cNvSpPr txBox="1"/>
          <p:nvPr/>
        </p:nvSpPr>
        <p:spPr>
          <a:xfrm>
            <a:off x="795499" y="727265"/>
            <a:ext cx="10450000" cy="1655207"/>
          </a:xfrm>
          <a:prstGeom prst="rect">
            <a:avLst/>
          </a:prstGeom>
          <a:noFill/>
          <a:ln>
            <a:noFill/>
          </a:ln>
        </p:spPr>
        <p:txBody>
          <a:bodyPr spcFirstLastPara="1" wrap="square" lIns="121900" tIns="121900" rIns="121900" bIns="121900" anchor="t" anchorCtr="0">
            <a:noAutofit/>
          </a:bodyPr>
          <a:lstStyle/>
          <a:p>
            <a:pPr algn="ctr"/>
            <a:r>
              <a:rPr lang="pt-BR" sz="5600" dirty="0">
                <a:solidFill>
                  <a:srgbClr val="D6BA32"/>
                </a:solidFill>
                <a:latin typeface="Roboto Mono Medium"/>
                <a:ea typeface="Roboto Mono Medium"/>
                <a:cs typeface="Roboto Mono Medium"/>
                <a:sym typeface="Roboto Mono Medium"/>
              </a:rPr>
              <a:t>Tomando Decisões</a:t>
            </a:r>
          </a:p>
          <a:p>
            <a:pPr algn="ctr"/>
            <a:r>
              <a:rPr lang="pt-BR" sz="3200" dirty="0">
                <a:solidFill>
                  <a:srgbClr val="D6BA32"/>
                </a:solidFill>
                <a:latin typeface="Roboto Mono Medium"/>
                <a:ea typeface="Roboto Mono Medium"/>
                <a:cs typeface="Roboto Mono Medium"/>
                <a:sym typeface="Roboto Mono Medium"/>
              </a:rPr>
              <a:t>Operador ternário</a:t>
            </a:r>
            <a:endParaRPr lang="pt-BR" sz="4400" b="1" dirty="0">
              <a:solidFill>
                <a:srgbClr val="D6BA32"/>
              </a:solidFill>
              <a:latin typeface="Roboto Mono Medium"/>
              <a:ea typeface="Roboto Mono Medium"/>
              <a:cs typeface="Roboto Mono Medium"/>
              <a:sym typeface="Roboto Mono Medium"/>
            </a:endParaRPr>
          </a:p>
        </p:txBody>
      </p:sp>
      <p:sp>
        <p:nvSpPr>
          <p:cNvPr id="6" name="Google Shape;62;p14">
            <a:extLst>
              <a:ext uri="{FF2B5EF4-FFF2-40B4-BE49-F238E27FC236}">
                <a16:creationId xmlns:a16="http://schemas.microsoft.com/office/drawing/2014/main" id="{9CADA192-C9A8-B9C0-227F-815B950732DA}"/>
              </a:ext>
            </a:extLst>
          </p:cNvPr>
          <p:cNvSpPr txBox="1"/>
          <p:nvPr/>
        </p:nvSpPr>
        <p:spPr>
          <a:xfrm>
            <a:off x="731622" y="214261"/>
            <a:ext cx="11004402" cy="513200"/>
          </a:xfrm>
          <a:prstGeom prst="rect">
            <a:avLst/>
          </a:prstGeom>
          <a:noFill/>
          <a:ln>
            <a:noFill/>
          </a:ln>
        </p:spPr>
        <p:txBody>
          <a:bodyPr spcFirstLastPara="1" wrap="square" lIns="121900" tIns="121900" rIns="121900" bIns="121900" anchor="t" anchorCtr="0">
            <a:noAutofit/>
          </a:bodyPr>
          <a:lstStyle/>
          <a:p>
            <a:r>
              <a:rPr lang="pt-BR" sz="1600" dirty="0">
                <a:solidFill>
                  <a:srgbClr val="D6BA32"/>
                </a:solidFill>
                <a:latin typeface="Roboto Mono Medium"/>
                <a:ea typeface="Roboto Mono Medium"/>
                <a:cs typeface="Roboto Mono Medium"/>
                <a:sym typeface="Roboto Mono Medium"/>
              </a:rPr>
              <a:t>Curso Javascript básico – Aula 04 </a:t>
            </a:r>
          </a:p>
          <a:p>
            <a:endParaRPr sz="1600" dirty="0">
              <a:solidFill>
                <a:srgbClr val="1572B6"/>
              </a:solidFill>
              <a:latin typeface="Roboto Mono Medium"/>
              <a:ea typeface="Roboto Mono Medium"/>
              <a:cs typeface="Roboto Mono Medium"/>
              <a:sym typeface="Roboto Mono Medium"/>
            </a:endParaRPr>
          </a:p>
        </p:txBody>
      </p:sp>
      <p:pic>
        <p:nvPicPr>
          <p:cNvPr id="8" name="Imagem 7">
            <a:extLst>
              <a:ext uri="{FF2B5EF4-FFF2-40B4-BE49-F238E27FC236}">
                <a16:creationId xmlns:a16="http://schemas.microsoft.com/office/drawing/2014/main" id="{6CAB4A95-049E-FA42-9A48-687C191F8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112" y="188606"/>
            <a:ext cx="564510" cy="564510"/>
          </a:xfrm>
          <a:prstGeom prst="rect">
            <a:avLst/>
          </a:prstGeom>
        </p:spPr>
      </p:pic>
      <p:sp>
        <p:nvSpPr>
          <p:cNvPr id="7" name="Google Shape;65;p14">
            <a:extLst>
              <a:ext uri="{FF2B5EF4-FFF2-40B4-BE49-F238E27FC236}">
                <a16:creationId xmlns:a16="http://schemas.microsoft.com/office/drawing/2014/main" id="{091EDD01-F26C-FBB8-95B4-65DBB13A78EC}"/>
              </a:ext>
            </a:extLst>
          </p:cNvPr>
          <p:cNvSpPr txBox="1"/>
          <p:nvPr/>
        </p:nvSpPr>
        <p:spPr>
          <a:xfrm>
            <a:off x="232400" y="2727210"/>
            <a:ext cx="11727200" cy="3942183"/>
          </a:xfrm>
          <a:prstGeom prst="rect">
            <a:avLst/>
          </a:prstGeom>
          <a:noFill/>
          <a:ln>
            <a:noFill/>
          </a:ln>
        </p:spPr>
        <p:txBody>
          <a:bodyPr spcFirstLastPara="1" wrap="square" lIns="121900" tIns="121900" rIns="121900" bIns="121900" anchor="t" anchorCtr="0">
            <a:noAutofit/>
          </a:bodyPr>
          <a:lstStyle/>
          <a:p>
            <a:pPr marL="152396">
              <a:buSzPts val="1800"/>
            </a:pPr>
            <a:r>
              <a:rPr lang="pt-BR" dirty="0">
                <a:latin typeface="Roboto Mono"/>
                <a:ea typeface="Roboto Mono"/>
                <a:cs typeface="Roboto Mono"/>
                <a:sym typeface="Roboto Mono"/>
              </a:rPr>
              <a:t>O operado ternário pode ser útil em algumas situações e pode ocupar muito menos código que um bloco </a:t>
            </a:r>
            <a:r>
              <a:rPr lang="pt-BR" dirty="0" err="1">
                <a:latin typeface="Roboto Mono"/>
                <a:ea typeface="Roboto Mono"/>
                <a:cs typeface="Roboto Mono"/>
                <a:sym typeface="Roboto Mono"/>
              </a:rPr>
              <a:t>if</a:t>
            </a:r>
            <a:r>
              <a:rPr lang="pt-BR" dirty="0">
                <a:latin typeface="Roboto Mono"/>
                <a:ea typeface="Roboto Mono"/>
                <a:cs typeface="Roboto Mono"/>
                <a:sym typeface="Roboto Mono"/>
              </a:rPr>
              <a:t>...</a:t>
            </a:r>
            <a:r>
              <a:rPr lang="pt-BR" dirty="0" err="1">
                <a:latin typeface="Roboto Mono"/>
                <a:ea typeface="Roboto Mono"/>
                <a:cs typeface="Roboto Mono"/>
                <a:sym typeface="Roboto Mono"/>
              </a:rPr>
              <a:t>else</a:t>
            </a:r>
            <a:r>
              <a:rPr lang="pt-BR" dirty="0">
                <a:latin typeface="Roboto Mono"/>
                <a:ea typeface="Roboto Mono"/>
                <a:cs typeface="Roboto Mono"/>
                <a:sym typeface="Roboto Mono"/>
              </a:rPr>
              <a:t> se você simplesmente tiver duas opções escolhidas entre uma condição </a:t>
            </a:r>
            <a:r>
              <a:rPr lang="pt-BR" dirty="0" err="1">
                <a:latin typeface="Roboto Mono"/>
                <a:ea typeface="Roboto Mono"/>
                <a:cs typeface="Roboto Mono"/>
                <a:sym typeface="Roboto Mono"/>
              </a:rPr>
              <a:t>true</a:t>
            </a:r>
            <a:r>
              <a:rPr lang="pt-BR" dirty="0">
                <a:latin typeface="Roboto Mono"/>
                <a:ea typeface="Roboto Mono"/>
                <a:cs typeface="Roboto Mono"/>
                <a:sym typeface="Roboto Mono"/>
              </a:rPr>
              <a:t>/false.</a:t>
            </a:r>
          </a:p>
          <a:p>
            <a:pPr marL="152396">
              <a:buSzPts val="1800"/>
            </a:pPr>
            <a:endParaRPr lang="pt-BR" dirty="0">
              <a:latin typeface="Roboto Mono"/>
              <a:ea typeface="Roboto Mono"/>
              <a:cs typeface="Roboto Mono"/>
              <a:sym typeface="Roboto Mono"/>
            </a:endParaRPr>
          </a:p>
          <a:p>
            <a:pPr marL="2895596" lvl="6">
              <a:buSzPts val="1800"/>
            </a:pPr>
            <a:r>
              <a:rPr lang="en-US" i="1" dirty="0">
                <a:latin typeface="Roboto Mono"/>
                <a:ea typeface="Roboto Mono"/>
                <a:cs typeface="Roboto Mono"/>
                <a:sym typeface="Roboto Mono"/>
              </a:rPr>
              <a:t>( </a:t>
            </a:r>
            <a:r>
              <a:rPr lang="en-US" i="1" dirty="0" err="1">
                <a:latin typeface="Roboto Mono"/>
                <a:ea typeface="Roboto Mono"/>
                <a:cs typeface="Roboto Mono"/>
                <a:sym typeface="Roboto Mono"/>
              </a:rPr>
              <a:t>condição</a:t>
            </a:r>
            <a:r>
              <a:rPr lang="en-US" i="1" dirty="0">
                <a:latin typeface="Roboto Mono"/>
                <a:ea typeface="Roboto Mono"/>
                <a:cs typeface="Roboto Mono"/>
                <a:sym typeface="Roboto Mono"/>
              </a:rPr>
              <a:t> ) </a:t>
            </a:r>
            <a:r>
              <a:rPr lang="en-US" sz="3200" b="1" i="1" dirty="0">
                <a:solidFill>
                  <a:srgbClr val="D6BA32"/>
                </a:solidFill>
                <a:latin typeface="Roboto Mono"/>
                <a:ea typeface="Roboto Mono"/>
                <a:cs typeface="Roboto Mono"/>
                <a:sym typeface="Roboto Mono"/>
              </a:rPr>
              <a:t>?</a:t>
            </a:r>
            <a:r>
              <a:rPr lang="en-US" i="1" dirty="0">
                <a:latin typeface="Roboto Mono"/>
                <a:ea typeface="Roboto Mono"/>
                <a:cs typeface="Roboto Mono"/>
                <a:sym typeface="Roboto Mono"/>
              </a:rPr>
              <a:t> </a:t>
            </a:r>
            <a:r>
              <a:rPr lang="en-US" i="1" dirty="0" err="1">
                <a:latin typeface="Roboto Mono"/>
                <a:ea typeface="Roboto Mono"/>
                <a:cs typeface="Roboto Mono"/>
                <a:sym typeface="Roboto Mono"/>
              </a:rPr>
              <a:t>Roda</a:t>
            </a:r>
            <a:r>
              <a:rPr lang="en-US" i="1" dirty="0">
                <a:latin typeface="Roboto Mono"/>
                <a:ea typeface="Roboto Mono"/>
                <a:cs typeface="Roboto Mono"/>
                <a:sym typeface="Roboto Mono"/>
              </a:rPr>
              <a:t> </a:t>
            </a:r>
            <a:r>
              <a:rPr lang="en-US" i="1" dirty="0" err="1">
                <a:latin typeface="Roboto Mono"/>
                <a:ea typeface="Roboto Mono"/>
                <a:cs typeface="Roboto Mono"/>
                <a:sym typeface="Roboto Mono"/>
              </a:rPr>
              <a:t>este</a:t>
            </a:r>
            <a:r>
              <a:rPr lang="en-US" i="1" dirty="0">
                <a:latin typeface="Roboto Mono"/>
                <a:ea typeface="Roboto Mono"/>
                <a:cs typeface="Roboto Mono"/>
                <a:sym typeface="Roboto Mono"/>
              </a:rPr>
              <a:t> Código </a:t>
            </a:r>
            <a:r>
              <a:rPr lang="en-US" sz="3200" b="1" i="1" dirty="0">
                <a:solidFill>
                  <a:srgbClr val="D6BA32"/>
                </a:solidFill>
                <a:latin typeface="Roboto Mono"/>
                <a:ea typeface="Roboto Mono"/>
                <a:cs typeface="Roboto Mono"/>
                <a:sym typeface="Roboto Mono"/>
              </a:rPr>
              <a:t>:</a:t>
            </a:r>
            <a:r>
              <a:rPr lang="en-US" i="1" dirty="0">
                <a:latin typeface="Roboto Mono"/>
                <a:ea typeface="Roboto Mono"/>
                <a:cs typeface="Roboto Mono"/>
                <a:sym typeface="Roboto Mono"/>
              </a:rPr>
              <a:t> </a:t>
            </a:r>
            <a:r>
              <a:rPr lang="en-US" i="1" dirty="0" err="1">
                <a:latin typeface="Roboto Mono"/>
                <a:ea typeface="Roboto Mono"/>
                <a:cs typeface="Roboto Mono"/>
                <a:sym typeface="Roboto Mono"/>
              </a:rPr>
              <a:t>roda</a:t>
            </a:r>
            <a:r>
              <a:rPr lang="en-US" i="1" dirty="0">
                <a:latin typeface="Roboto Mono"/>
                <a:ea typeface="Roboto Mono"/>
                <a:cs typeface="Roboto Mono"/>
                <a:sym typeface="Roboto Mono"/>
              </a:rPr>
              <a:t> </a:t>
            </a:r>
            <a:r>
              <a:rPr lang="en-US" i="1" dirty="0" err="1">
                <a:latin typeface="Roboto Mono"/>
                <a:ea typeface="Roboto Mono"/>
                <a:cs typeface="Roboto Mono"/>
                <a:sym typeface="Roboto Mono"/>
              </a:rPr>
              <a:t>este</a:t>
            </a:r>
            <a:r>
              <a:rPr lang="en-US" i="1" dirty="0">
                <a:latin typeface="Roboto Mono"/>
                <a:ea typeface="Roboto Mono"/>
                <a:cs typeface="Roboto Mono"/>
                <a:sym typeface="Roboto Mono"/>
              </a:rPr>
              <a:t> Código;</a:t>
            </a:r>
            <a:endParaRPr lang="pt-BR" i="1" dirty="0">
              <a:latin typeface="Roboto Mono"/>
              <a:ea typeface="Roboto Mono"/>
              <a:cs typeface="Roboto Mono"/>
              <a:sym typeface="Roboto Mono"/>
            </a:endParaRPr>
          </a:p>
        </p:txBody>
      </p:sp>
    </p:spTree>
    <p:extLst>
      <p:ext uri="{BB962C8B-B14F-4D97-AF65-F5344CB8AC3E}">
        <p14:creationId xmlns:p14="http://schemas.microsoft.com/office/powerpoint/2010/main" val="4033088372"/>
      </p:ext>
    </p:extLst>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4250</TotalTime>
  <Words>941</Words>
  <Application>Microsoft Office PowerPoint</Application>
  <PresentationFormat>Widescreen</PresentationFormat>
  <Paragraphs>87</Paragraphs>
  <Slides>14</Slides>
  <Notes>14</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14</vt:i4>
      </vt:variant>
    </vt:vector>
  </HeadingPairs>
  <TitlesOfParts>
    <vt:vector size="20" baseType="lpstr">
      <vt:lpstr>Arial</vt:lpstr>
      <vt:lpstr>Calibri</vt:lpstr>
      <vt:lpstr>Calibri Light</vt:lpstr>
      <vt:lpstr>Roboto Mono</vt:lpstr>
      <vt:lpstr>Roboto Mono Medium</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João Henrique Cunha Rangel</dc:creator>
  <cp:lastModifiedBy>Marcelo Vieira</cp:lastModifiedBy>
  <cp:revision>42</cp:revision>
  <dcterms:created xsi:type="dcterms:W3CDTF">2018-09-27T21:57:56Z</dcterms:created>
  <dcterms:modified xsi:type="dcterms:W3CDTF">2022-06-25T18:12:26Z</dcterms:modified>
</cp:coreProperties>
</file>