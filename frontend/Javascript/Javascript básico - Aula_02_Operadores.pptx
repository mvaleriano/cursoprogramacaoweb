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769" r:id="rId2"/>
    <p:sldId id="778" r:id="rId3"/>
    <p:sldId id="797" r:id="rId4"/>
    <p:sldId id="802" r:id="rId5"/>
    <p:sldId id="803" r:id="rId6"/>
    <p:sldId id="804" r:id="rId7"/>
    <p:sldId id="805" r:id="rId8"/>
    <p:sldId id="806" r:id="rId9"/>
    <p:sldId id="807" r:id="rId10"/>
    <p:sldId id="808" r:id="rId11"/>
    <p:sldId id="809" r:id="rId12"/>
    <p:sldId id="810" r:id="rId13"/>
    <p:sldId id="811" r:id="rId14"/>
    <p:sldId id="812" r:id="rId15"/>
    <p:sldId id="817" r:id="rId16"/>
    <p:sldId id="818" r:id="rId17"/>
    <p:sldId id="813" r:id="rId18"/>
    <p:sldId id="815" r:id="rId19"/>
    <p:sldId id="814" r:id="rId20"/>
    <p:sldId id="816" r:id="rId21"/>
    <p:sldId id="819" r:id="rId22"/>
    <p:sldId id="820" r:id="rId23"/>
    <p:sldId id="821" r:id="rId24"/>
    <p:sldId id="822" r:id="rId25"/>
    <p:sldId id="823" r:id="rId26"/>
    <p:sldId id="824" r:id="rId27"/>
    <p:sldId id="825" r:id="rId28"/>
    <p:sldId id="826" r:id="rId29"/>
    <p:sldId id="827" r:id="rId30"/>
    <p:sldId id="828" r:id="rId31"/>
    <p:sldId id="829" r:id="rId32"/>
    <p:sldId id="830" r:id="rId33"/>
    <p:sldId id="831" r:id="rId34"/>
    <p:sldId id="832" r:id="rId35"/>
    <p:sldId id="833" r:id="rId36"/>
    <p:sldId id="834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BA32"/>
    <a:srgbClr val="FFDA3E"/>
    <a:srgbClr val="F47920"/>
    <a:srgbClr val="1572B6"/>
    <a:srgbClr val="35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5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10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1794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8497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6830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500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6639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04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70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927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3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4532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2667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8125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88981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18742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3402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98563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23909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55643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0006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85759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9088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96383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6503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35496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74824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30090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20101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03437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34590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97332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93545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68647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562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19/06/2022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</a:t>
            </a:r>
          </a:p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Aula 02 - Operadores </a:t>
            </a:r>
            <a:endParaRPr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604F82-D39D-A579-B80D-9584FB80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6" y="841227"/>
            <a:ext cx="3534212" cy="35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operadores?</a:t>
            </a: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Operadores em Javascript são símbolos especiais que envolvem um ou mais operandos com a finalidade de produzir um determinado resultado. </a:t>
            </a: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O </a:t>
            </a:r>
            <a:r>
              <a:rPr lang="pt-BR" dirty="0" err="1">
                <a:latin typeface="Roboto Mono"/>
                <a:ea typeface="Roboto Mono"/>
                <a:cs typeface="Roboto Mono"/>
                <a:sym typeface="Roboto Mono"/>
              </a:rPr>
              <a:t>JavaScript</a:t>
            </a: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 possui tanto operadores binários quanto unários e um operador ternário, o operador condicional.</a:t>
            </a: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O </a:t>
            </a:r>
            <a:r>
              <a:rPr lang="pt-BR" b="1" dirty="0">
                <a:latin typeface="Roboto Mono"/>
                <a:ea typeface="Roboto Mono"/>
                <a:cs typeface="Roboto Mono"/>
                <a:sym typeface="Roboto Mono"/>
              </a:rPr>
              <a:t>operador binário </a:t>
            </a: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exige dois operandos, um antes do operador e outro depois: Por exemplo, 3+4 ou x*y;</a:t>
            </a: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O </a:t>
            </a:r>
            <a:r>
              <a:rPr lang="pt-BR" b="1" dirty="0">
                <a:latin typeface="Roboto Mono"/>
                <a:ea typeface="Roboto Mono"/>
                <a:cs typeface="Roboto Mono"/>
                <a:sym typeface="Roboto Mono"/>
              </a:rPr>
              <a:t>operador unário </a:t>
            </a: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exige um único operando, seja antes ou depois do operador: Por exemplo, x++ ou  ++x;</a:t>
            </a: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O </a:t>
            </a:r>
            <a:r>
              <a:rPr lang="pt-BR" b="1" dirty="0">
                <a:latin typeface="Roboto Mono"/>
                <a:ea typeface="Roboto Mono"/>
                <a:cs typeface="Roboto Mono"/>
                <a:sym typeface="Roboto Mono"/>
              </a:rPr>
              <a:t>operador condicional (ternário) </a:t>
            </a: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é o único operador </a:t>
            </a:r>
            <a:r>
              <a:rPr lang="pt-BR" dirty="0" err="1">
                <a:latin typeface="Roboto Mono"/>
                <a:ea typeface="Roboto Mono"/>
                <a:cs typeface="Roboto Mono"/>
                <a:sym typeface="Roboto Mono"/>
              </a:rPr>
              <a:t>JavaScript</a:t>
            </a: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 que utiliza três operadores. operador pode ter um de dois valores em uma condição: Por exemplo, var status = (idade &gt;= 18) ? "adulto" : "menor de idade“.</a:t>
            </a: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51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de atribuição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  Um operador de atribuição atribui um valor ao operando à sua esquerda baseado no valor do operando à direita. O operador de atribuição básico é o igual (=), que atribui o valor do operando à direita ao operando à esquerda. 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Isto é, x = y atribui o valor de y a x, ou, x = 5 atribui o valor de 5 a x.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  Existem também os operadores de atribuição composta que serão explicados com exemplos. 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Atribuição composta de soma (+=)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x += 10;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código acima irá verificar o valor de x, somá-lo a 10 e atribuí-lo novamente a x. Por exemplo, se o valor de x for 5, será feita a soma de 5 com 10 e o valor final, 15, será atribuído novamente a variável x.</a:t>
            </a:r>
          </a:p>
        </p:txBody>
      </p:sp>
    </p:spTree>
    <p:extLst>
      <p:ext uri="{BB962C8B-B14F-4D97-AF65-F5344CB8AC3E}">
        <p14:creationId xmlns:p14="http://schemas.microsoft.com/office/powerpoint/2010/main" val="204517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de atribuição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Atribuição composta de subtração (-=)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 x -= 3;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Como na adição composta, a subtração irá considerar o valor da variável x, subtrair dela o segundo operando, 3, e armazená-lo de volta na variável x.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Atribuição composta de multiplicação (*=)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  x *= 8;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Você já deve ter entendido como é o funcionamento da composição do operador de atribuição com operadores aritméticos. No código acima, portanto, o valor de x será multiplicado por 8 e atribuído novamente a x. </a:t>
            </a: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30518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de atribuição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0"/>
            <a:ext cx="11727200" cy="442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Atribuição composta de divisão (/=) e resto (%=)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 x /= 2;    x %= 3;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Por fim, a atribuição composta de divisão e resto armazenará na variável x o resultado da divisão de x por 2, e o resto da divisão de x por 3, respectivamente.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Esses operadores compostos são uma contração de uma operação aritmética e outra de atribuição. Por exemplo, a instrução: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  p += 7;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é equivalente a: 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  p = p + 7;</a:t>
            </a: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46561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656121" y="248304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F952D07-81FC-1192-F406-6AFC94D7F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977" y="964733"/>
            <a:ext cx="5113128" cy="575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5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de comparação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902591"/>
            <a:ext cx="11727200" cy="376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Os operadores de comparação envolvem dois operandos e retornam um resultado lógico. O operador de igualdade (==), por exemplo, retorna verdadeiro (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), caso os operandos tenham o valor igual, e retornará falso (false), caso sejam diferentes.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Vamos ver em detalhes quais são os operadores de comparação que podemos usar quando programamos em Javascript:</a:t>
            </a: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295257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de comparação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0" y="2239860"/>
            <a:ext cx="12192000" cy="461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Igual (==)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operador de igualdade compara dois operandos e retorna verdadeiro, se eles forem iguais, e falso, se forem diferentes. Veja os exemplos abaixo: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96" lvl="3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5 == 5; // retornará verdadeiro</a:t>
            </a:r>
          </a:p>
          <a:p>
            <a:pPr marL="1523996" lvl="3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5 == ‘5’ // também retornará verdadeiro</a:t>
            </a:r>
          </a:p>
          <a:p>
            <a:pPr marL="1523996" lvl="3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5 == 4 // retornará falso</a:t>
            </a:r>
          </a:p>
          <a:p>
            <a:pPr marL="1523996" lvl="3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5 == ‘c’ // também retornará falso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Observe que para o Javascript não importa se os operandos recebidos pelo operador de igualdade são do mesmo tipo. No exemplo acima, o Javascript faz a conversão (casting) de um dos operandos e depois faz a comparação. </a:t>
            </a: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670934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de comparação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0"/>
            <a:ext cx="11727200" cy="442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Diferente (!=)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Esse operador compara os dois operandos e retorna verdadeiro, se eles forem diferentes, e falso, se forem iguais. A lógica é a inversa do operador de igualdade.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‘string1’ != ‘string2’ // retorna verdadeiro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exemplo acima também serve para mostrar que além de caracteres, os operadores de comparação também podem ser aplicados 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</a:t>
            </a: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288291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de comparação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0"/>
            <a:ext cx="11727200" cy="442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Igualdade estrita (===)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A igualdade estrita, além de considerar o valor dos operandos, leva em conta também seu tipo:</a:t>
            </a:r>
          </a:p>
          <a:p>
            <a:pPr marL="1066796" lvl="2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96" lvl="3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100 === 100; // retorna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96" lvl="3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100 === ‘100’ // retorna false</a:t>
            </a:r>
          </a:p>
          <a:p>
            <a:pPr marL="1523996" lvl="3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100 === 3 // também retorna false</a:t>
            </a:r>
            <a:endParaRPr lang="pt-BR" i="1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691097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de comparação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0"/>
            <a:ext cx="11727200" cy="442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Diferença estrita (!==)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Tem funcionamento análogo à diferença (!=), no entanto, considera se o tipo dos operandos é o mesmo, como o operador de igualdade estrita.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96" lvl="3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100 !== 100; // retorna false</a:t>
            </a:r>
          </a:p>
          <a:p>
            <a:pPr marL="1523996" lvl="3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100 !== ‘100’ // retorna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96" lvl="3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100 !== 3 // também retorna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endParaRPr lang="pt-BR" sz="2400" i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741045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de comparação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0"/>
            <a:ext cx="11727200" cy="442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Maior (&gt;)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É usado para indicar se o operador da esquerda é maior que o operador da direita: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5 &gt; 4 // retornará verdadeiro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Menor (&lt;)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Retorna verdadeiro se o operador da esquerda for menor que o operador da direita: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6 &lt; 10 // retornará verdadeiro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139622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de comparação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0"/>
            <a:ext cx="11727200" cy="442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Maior ou igual (&gt;=)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Seu funcionamento é semelhante ao operador ‘maior’, mas retorna verdadeiro caso o operador da esquerda seja maior ou igual ao operador da direita. Veja: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96" lvl="3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6 &gt;= 4 // retorna verdadeiro </a:t>
            </a:r>
          </a:p>
          <a:p>
            <a:pPr marL="1523996" lvl="3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6 &gt;= 6 // também retorna verdadeiro</a:t>
            </a:r>
          </a:p>
          <a:p>
            <a:pPr marL="1523996" lvl="3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4 &gt;= 6 // retorna falso</a:t>
            </a: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594830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de comparação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0"/>
            <a:ext cx="11727200" cy="442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Menor ou igual (&lt;=)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Partindo da declaração das variáveis acima, vamos analisar o seguinte trecho de código: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6 &lt;= 4 // retorna falso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Essa instrução retornará falso, já que 6 é maior que 4. Por outro lado, se invertermos os operandos, a instrução abaixo retornará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4 &lt;= 6 // retorna verdadeiro </a:t>
            </a:r>
            <a:endParaRPr lang="pt-BR" i="1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652095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de comparação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0"/>
            <a:ext cx="11727200" cy="442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Menor ou igual (&lt;=)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Partindo da declaração das variáveis acima, vamos analisar o seguinte trecho de código: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6 &lt;= 4 // retorna falso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Essa instrução retornará falso, já que 6 é maior que 4. Por outro lado, se invertermos os operandos, a instrução abaixo retornará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4 &lt;= 6 // retorna verdadeiro </a:t>
            </a:r>
            <a:endParaRPr lang="pt-BR" i="1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822785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542C3917-2F0D-D20F-82E9-8CD4A9D9E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870458"/>
              </p:ext>
            </p:extLst>
          </p:nvPr>
        </p:nvGraphicFramePr>
        <p:xfrm>
          <a:off x="0" y="1385654"/>
          <a:ext cx="12192000" cy="4655053"/>
        </p:xfrm>
        <a:graphic>
          <a:graphicData uri="http://schemas.openxmlformats.org/drawingml/2006/table">
            <a:tbl>
              <a:tblPr/>
              <a:tblGrid>
                <a:gridCol w="2223083">
                  <a:extLst>
                    <a:ext uri="{9D8B030D-6E8A-4147-A177-3AD203B41FA5}">
                      <a16:colId xmlns:a16="http://schemas.microsoft.com/office/drawing/2014/main" val="2244918471"/>
                    </a:ext>
                  </a:extLst>
                </a:gridCol>
                <a:gridCol w="6551801">
                  <a:extLst>
                    <a:ext uri="{9D8B030D-6E8A-4147-A177-3AD203B41FA5}">
                      <a16:colId xmlns:a16="http://schemas.microsoft.com/office/drawing/2014/main" val="2659001052"/>
                    </a:ext>
                  </a:extLst>
                </a:gridCol>
                <a:gridCol w="3417116">
                  <a:extLst>
                    <a:ext uri="{9D8B030D-6E8A-4147-A177-3AD203B41FA5}">
                      <a16:colId xmlns:a16="http://schemas.microsoft.com/office/drawing/2014/main" val="2775319737"/>
                    </a:ext>
                  </a:extLst>
                </a:gridCol>
              </a:tblGrid>
              <a:tr h="149638">
                <a:tc gridSpan="3"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rgbClr val="D6BA32"/>
                          </a:solidFill>
                        </a:rPr>
                        <a:t>Operadores de comparação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179604"/>
                  </a:ext>
                </a:extLst>
              </a:tr>
              <a:tr h="374097"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>
                          <a:solidFill>
                            <a:srgbClr val="FFDA3E"/>
                          </a:solidFill>
                        </a:rPr>
                        <a:t>Operador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>
                          <a:solidFill>
                            <a:srgbClr val="FFDA3E"/>
                          </a:solidFill>
                        </a:rPr>
                        <a:t>Descrição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>
                          <a:solidFill>
                            <a:srgbClr val="FFDA3E"/>
                          </a:solidFill>
                        </a:rPr>
                        <a:t>Exemplos que retornam verdadeiro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280267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Igual (==)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Retorna verdadeiro caso os operandos sejam iguais.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dirty="0">
                          <a:effectLst/>
                        </a:rPr>
                        <a:t>3 == var1 | "3" == var1 | 3 == '3'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066849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Não igual (!=)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Retorna verdadeiro caso os operandos não sejam iguais.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dirty="0">
                          <a:effectLst/>
                        </a:rPr>
                        <a:t>var1 != 4   | var2 != "3"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953879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Estritamente igual (===)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Retorna verdadeiro caso os operandos sejam iguais e do mesmo tipo.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dirty="0">
                          <a:effectLst/>
                        </a:rPr>
                        <a:t>3 === var1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44285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Estritamente não igual (!==)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Retorna verdadeiro caso os operandos não sejam iguais e/ou não sejam do mesmo tipo.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dirty="0">
                          <a:effectLst/>
                        </a:rPr>
                        <a:t>var1 !== "3“  | 3 !== '3'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13726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Maior que (&gt;)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Retorna verdadeiro caso o operando da esquerda seja maior que o da direita.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dirty="0">
                          <a:effectLst/>
                        </a:rPr>
                        <a:t>var2 &gt; var1 | "12" &gt; 2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931110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Maior que ou igual (&gt;=)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Retorna verdadeiro caso o operando da esquerda seja maior ou igual ao da direita.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dirty="0">
                          <a:effectLst/>
                        </a:rPr>
                        <a:t>var2 &gt;= var1 | var1 &gt;= 3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61250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Menor que (&lt;)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Retorna verdadeiro caso o operando da esquerda seja menor que o da direita.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dirty="0">
                          <a:effectLst/>
                        </a:rPr>
                        <a:t>var1 &lt; var2 | "12" &lt; "2"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127026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Menor que ou igual (&lt;=)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dirty="0">
                          <a:effectLst/>
                        </a:rPr>
                        <a:t>Retorna verdadeiro caso o operando da esquerda seja menor ou igual ao da direita.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dirty="0">
                          <a:effectLst/>
                        </a:rPr>
                        <a:t>var1 &lt;= var2 | var2 &lt;= 5</a:t>
                      </a:r>
                    </a:p>
                  </a:txBody>
                  <a:tcPr marL="27196" marR="27196" marT="13598" marB="135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323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6685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aritméticos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818701"/>
            <a:ext cx="11727200" cy="385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Esses operadores podem ser velhos conhecidos se você já frequentou aulas de matemática elementar. São usados para fazer operações de soma, subtração, multiplicação, divisão, módulo e exponenciação.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Vamos explorar o uso desses operadores por meio de exemplos. </a:t>
            </a:r>
          </a:p>
        </p:txBody>
      </p:sp>
    </p:spTree>
    <p:extLst>
      <p:ext uri="{BB962C8B-B14F-4D97-AF65-F5344CB8AC3E}">
        <p14:creationId xmlns:p14="http://schemas.microsoft.com/office/powerpoint/2010/main" val="1708147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aritméticos</a:t>
            </a: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0"/>
            <a:ext cx="11727200" cy="442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somando dois operandos: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2 + 4; // o resultado será 6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Agora, a subtração: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4 - 2; // o resultado será 2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A multiplicação: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2 * 4; // o valor da operação será 8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E a divisão: 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2 / 4 // como 2 dividido por 4 é 0.5, o resultado será esse valor. </a:t>
            </a:r>
            <a:endParaRPr lang="pt-BR" i="1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4141045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aritméticos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441197"/>
            <a:ext cx="11727200" cy="37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Para a exponenciação, a sintaxe é: 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4 ** 2 // retornará 16 que é 4 ao quadrado.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operador de módulo (%) :</a:t>
            </a: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12 % 5; // o valor de resto será 2 que é o resto da divisão de 12 por 5.</a:t>
            </a:r>
          </a:p>
          <a:p>
            <a:pPr marL="152396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</a:rPr>
              <a:t>Incremento (++)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 : </a:t>
            </a: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Adiciona um ao seu operando.    </a:t>
            </a:r>
            <a:r>
              <a:rPr lang="pt-BR" sz="2400" b="0" i="1" dirty="0">
                <a:solidFill>
                  <a:srgbClr val="1B1B1B"/>
                </a:solidFill>
                <a:effectLst/>
                <a:latin typeface="Inter"/>
              </a:rPr>
              <a:t>3++ // resulta em 4</a:t>
            </a:r>
            <a:endParaRPr lang="pt-BR" sz="2200" b="1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</a:rPr>
              <a:t>Decremento (--)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 : </a:t>
            </a: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 Subtrai um de seu operando.     </a:t>
            </a:r>
            <a:r>
              <a:rPr lang="pt-BR" sz="2400" b="0" i="1" dirty="0">
                <a:solidFill>
                  <a:srgbClr val="1B1B1B"/>
                </a:solidFill>
                <a:effectLst/>
                <a:latin typeface="Inter"/>
              </a:rPr>
              <a:t>3-- // resulta em 2</a:t>
            </a:r>
            <a:endParaRPr lang="pt-BR" sz="2400" b="0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e </a:t>
            </a:r>
            <a:r>
              <a:rPr lang="pt-BR" sz="2200" b="1" dirty="0">
                <a:solidFill>
                  <a:srgbClr val="1B1B1B"/>
                </a:solidFill>
                <a:latin typeface="Roboto Mono"/>
              </a:rPr>
              <a:t>Negação (-) : </a:t>
            </a: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Retorna a negação de seu operando.    </a:t>
            </a:r>
            <a:r>
              <a:rPr lang="pt-BR" sz="2400" i="1" dirty="0">
                <a:solidFill>
                  <a:srgbClr val="1B1B1B"/>
                </a:solidFill>
                <a:latin typeface="Inter"/>
              </a:rPr>
              <a:t>3 usando o operador fica -3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  <a:p>
            <a:pPr marL="152396">
              <a:buSzPts val="1800"/>
            </a:pPr>
            <a:endParaRPr lang="pt-BR" i="1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002304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B9BFF3C-56A3-5399-D08E-68306370E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635042"/>
              </p:ext>
            </p:extLst>
          </p:nvPr>
        </p:nvGraphicFramePr>
        <p:xfrm>
          <a:off x="0" y="1593907"/>
          <a:ext cx="12192000" cy="4247903"/>
        </p:xfrm>
        <a:graphic>
          <a:graphicData uri="http://schemas.openxmlformats.org/drawingml/2006/table">
            <a:tbl>
              <a:tblPr/>
              <a:tblGrid>
                <a:gridCol w="2181138">
                  <a:extLst>
                    <a:ext uri="{9D8B030D-6E8A-4147-A177-3AD203B41FA5}">
                      <a16:colId xmlns:a16="http://schemas.microsoft.com/office/drawing/2014/main" val="3111620154"/>
                    </a:ext>
                  </a:extLst>
                </a:gridCol>
                <a:gridCol w="5946862">
                  <a:extLst>
                    <a:ext uri="{9D8B030D-6E8A-4147-A177-3AD203B41FA5}">
                      <a16:colId xmlns:a16="http://schemas.microsoft.com/office/drawing/2014/main" val="155486212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56227311"/>
                    </a:ext>
                  </a:extLst>
                </a:gridCol>
              </a:tblGrid>
              <a:tr h="31769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dirty="0">
                          <a:solidFill>
                            <a:srgbClr val="FFDA3E"/>
                          </a:solidFill>
                          <a:effectLst/>
                        </a:rPr>
                        <a:t>Operador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dirty="0">
                          <a:solidFill>
                            <a:srgbClr val="FFDA3E"/>
                          </a:solidFill>
                          <a:effectLst/>
                        </a:rPr>
                        <a:t>Descrição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dirty="0">
                          <a:solidFill>
                            <a:srgbClr val="FFDA3E"/>
                          </a:solidFill>
                          <a:effectLst/>
                        </a:rPr>
                        <a:t>Exemplo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055555"/>
                  </a:ext>
                </a:extLst>
              </a:tr>
              <a:tr h="796881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 dirty="0">
                          <a:effectLst/>
                        </a:rPr>
                        <a:t>Módulo (%)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Operador binário. Retorna o inteiro restante da divisão dos dois operandos.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12 % 5 retorna 2.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870051"/>
                  </a:ext>
                </a:extLst>
              </a:tr>
              <a:tr h="764564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>
                          <a:effectLst/>
                        </a:rPr>
                        <a:t>Incremento (++)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Operador unário. Adiciona um ao seu operando. Se usado como operador prefixado (++x), retorna o valor de seu operando após a adição. Se usado como operador </a:t>
                      </a:r>
                      <a:r>
                        <a:rPr lang="pt-BR" sz="1200" dirty="0" err="1">
                          <a:effectLst/>
                        </a:rPr>
                        <a:t>pósfixado</a:t>
                      </a:r>
                      <a:r>
                        <a:rPr lang="pt-BR" sz="1200" dirty="0">
                          <a:effectLst/>
                        </a:rPr>
                        <a:t> (x++), retorna o valor de seu operando antes da adição.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Se x é 3, então ++x define x como 4 e retorna 4, enquanto x++ retorna 3 e, somente então, define x como 4.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1340997"/>
                  </a:ext>
                </a:extLst>
              </a:tr>
              <a:tr h="696286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>
                          <a:effectLst/>
                        </a:rPr>
                        <a:t>Decremento (--)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Operador unário. Subtrai um de seu operando. O valor de retorno é análogo àquele do operador de incremento.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Se x é 3, então --x define x como 2 e retorna 2, enquanto x-- retorna 3 e, somente então, define x como 2.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262350"/>
                  </a:ext>
                </a:extLst>
              </a:tr>
              <a:tr h="557286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>
                          <a:effectLst/>
                        </a:rPr>
                        <a:t>Negação (-)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Operador unário. Retorna a negação de seu operando.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Se x é 3, então -x retorna -3.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797763"/>
                  </a:ext>
                </a:extLst>
              </a:tr>
              <a:tr h="541672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>
                          <a:effectLst/>
                        </a:rPr>
                        <a:t>Adição (+)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Operador unário. Tenta converter o operando em um número, sempre que possível.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+"3" retorna 3.</a:t>
                      </a:r>
                    </a:p>
                    <a:p>
                      <a:pPr fontAlgn="ctr"/>
                      <a:r>
                        <a:rPr lang="pt-BR" sz="1200">
                          <a:effectLst/>
                        </a:rPr>
                        <a:t>+true retorna 1.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3334406"/>
                  </a:ext>
                </a:extLst>
              </a:tr>
              <a:tr h="557286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 dirty="0">
                          <a:effectLst/>
                        </a:rPr>
                        <a:t>Operador de exponenciação (**) 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</a:rPr>
                        <a:t>Calcula a base elevada á potência do expoente, que é, base</a:t>
                      </a:r>
                      <a:r>
                        <a:rPr lang="pt-BR" sz="1200" baseline="30000">
                          <a:effectLst/>
                        </a:rPr>
                        <a:t>expoente</a:t>
                      </a:r>
                      <a:endParaRPr lang="pt-BR" sz="1200">
                        <a:effectLst/>
                      </a:endParaRP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2 ** 3 retorna 8.</a:t>
                      </a:r>
                    </a:p>
                    <a:p>
                      <a:pPr fontAlgn="ctr"/>
                      <a:r>
                        <a:rPr lang="pt-BR" sz="1200" dirty="0">
                          <a:effectLst/>
                        </a:rPr>
                        <a:t>10 ** -1 retorna 0.1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93544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C1D11F2-58CB-5C5E-18D0-3EE78863B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8668" y="956140"/>
            <a:ext cx="33858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6BA32"/>
                </a:solidFill>
                <a:effectLst/>
                <a:latin typeface="Arial" panose="020B0604020202020204" pitchFamily="34" charset="0"/>
              </a:rPr>
              <a:t>Operadores aritméticos</a:t>
            </a:r>
          </a:p>
        </p:txBody>
      </p:sp>
    </p:spTree>
    <p:extLst>
      <p:ext uri="{BB962C8B-B14F-4D97-AF65-F5344CB8AC3E}">
        <p14:creationId xmlns:p14="http://schemas.microsoft.com/office/powerpoint/2010/main" val="514090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bit a bit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441197"/>
            <a:ext cx="11727200" cy="37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Os operadores bit a bit são utilizados para manipular valores para comparações e cálculos, comparando cada bit do primeiro operando com o correspondente do segundo.</a:t>
            </a:r>
          </a:p>
          <a:p>
            <a:pPr marL="152396">
              <a:buSzPts val="1800"/>
            </a:pPr>
            <a:endParaRPr lang="pt-BR" sz="2400" b="0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6">
              <a:buSzPts val="1800"/>
            </a:pP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Eles não são considerados operadores lógicos, já que os operandos são tratados como uma sequência de 32 bits, representados por zeros e uns, em vez de números decimais, hexadecimais ou octais.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753634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5A53214-821A-7B9B-40F8-544B06DF9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281917"/>
              </p:ext>
            </p:extLst>
          </p:nvPr>
        </p:nvGraphicFramePr>
        <p:xfrm>
          <a:off x="167112" y="2197915"/>
          <a:ext cx="11753644" cy="3160760"/>
        </p:xfrm>
        <a:graphic>
          <a:graphicData uri="http://schemas.openxmlformats.org/drawingml/2006/table">
            <a:tbl>
              <a:tblPr/>
              <a:tblGrid>
                <a:gridCol w="3339486">
                  <a:extLst>
                    <a:ext uri="{9D8B030D-6E8A-4147-A177-3AD203B41FA5}">
                      <a16:colId xmlns:a16="http://schemas.microsoft.com/office/drawing/2014/main" val="757996124"/>
                    </a:ext>
                  </a:extLst>
                </a:gridCol>
                <a:gridCol w="1178854">
                  <a:extLst>
                    <a:ext uri="{9D8B030D-6E8A-4147-A177-3AD203B41FA5}">
                      <a16:colId xmlns:a16="http://schemas.microsoft.com/office/drawing/2014/main" val="52900154"/>
                    </a:ext>
                  </a:extLst>
                </a:gridCol>
                <a:gridCol w="7235304">
                  <a:extLst>
                    <a:ext uri="{9D8B030D-6E8A-4147-A177-3AD203B41FA5}">
                      <a16:colId xmlns:a16="http://schemas.microsoft.com/office/drawing/2014/main" val="1671084379"/>
                    </a:ext>
                  </a:extLst>
                </a:gridCol>
              </a:tblGrid>
              <a:tr h="296014">
                <a:tc gridSpan="3"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D6BA32"/>
                          </a:solidFill>
                        </a:rPr>
                        <a:t>Operadores bit a bit</a:t>
                      </a:r>
                    </a:p>
                  </a:txBody>
                  <a:tcPr marL="25901" marR="25901" marT="12950" marB="129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275892"/>
                  </a:ext>
                </a:extLst>
              </a:tr>
              <a:tr h="20111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dirty="0">
                          <a:solidFill>
                            <a:srgbClr val="FFDA3E"/>
                          </a:solidFill>
                          <a:effectLst/>
                        </a:rPr>
                        <a:t>Operador</a:t>
                      </a:r>
                    </a:p>
                  </a:txBody>
                  <a:tcPr marL="25901" marR="25901" marT="12950" marB="129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dirty="0">
                          <a:solidFill>
                            <a:srgbClr val="FFDA3E"/>
                          </a:solidFill>
                          <a:effectLst/>
                        </a:rPr>
                        <a:t>Expressão</a:t>
                      </a:r>
                    </a:p>
                  </a:txBody>
                  <a:tcPr marL="25901" marR="25901" marT="12950" marB="129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dirty="0">
                          <a:solidFill>
                            <a:srgbClr val="FFDA3E"/>
                          </a:solidFill>
                          <a:effectLst/>
                        </a:rPr>
                        <a:t>Descrição</a:t>
                      </a:r>
                    </a:p>
                  </a:txBody>
                  <a:tcPr marL="25901" marR="25901" marT="12950" marB="129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0824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 dirty="0">
                          <a:effectLst/>
                        </a:rPr>
                        <a:t>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>
                          <a:effectLst/>
                        </a:rPr>
                        <a:t>a &amp; b</a:t>
                      </a:r>
                    </a:p>
                  </a:txBody>
                  <a:tcPr marL="25901" marR="25901" marT="12950" marB="129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Retorna um 1 para cada posição em que os bits da posição correspondente de ambos operandos sejam uns.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2955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 dirty="0">
                          <a:effectLst/>
                        </a:rPr>
                        <a:t>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>
                          <a:effectLst/>
                        </a:rPr>
                        <a:t>a | b</a:t>
                      </a:r>
                    </a:p>
                  </a:txBody>
                  <a:tcPr marL="25901" marR="25901" marT="12950" marB="129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Retorna um 0 para cada posição em que os bits da posição correspondente de  ambos os operandos sejam zeros.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1925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 dirty="0">
                          <a:effectLst/>
                        </a:rPr>
                        <a:t>XOR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>
                          <a:effectLst/>
                        </a:rPr>
                        <a:t>a ^ b</a:t>
                      </a:r>
                    </a:p>
                  </a:txBody>
                  <a:tcPr marL="25901" marR="25901" marT="12950" marB="129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Retorna um 0 para cada posição em que os bits da posição correspondente são os mesmos.</a:t>
                      </a:r>
                      <a:br>
                        <a:rPr lang="pt-BR" sz="1200" dirty="0">
                          <a:effectLst/>
                        </a:rPr>
                      </a:br>
                      <a:br>
                        <a:rPr lang="pt-BR" sz="1200" dirty="0">
                          <a:effectLst/>
                        </a:rPr>
                      </a:br>
                      <a:r>
                        <a:rPr lang="pt-BR" sz="1200" dirty="0">
                          <a:effectLst/>
                        </a:rPr>
                        <a:t>[Retorna um 1 para cada posição em que os bits da posição correspondente sejam diferentes.]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05034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 dirty="0">
                          <a:effectLst/>
                        </a:rPr>
                        <a:t>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>
                          <a:effectLst/>
                        </a:rPr>
                        <a:t>~ a</a:t>
                      </a:r>
                    </a:p>
                  </a:txBody>
                  <a:tcPr marL="25901" marR="25901" marT="12950" marB="129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Inverte os bits do operando.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59181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 dirty="0">
                          <a:effectLst/>
                        </a:rPr>
                        <a:t>Deslocamento à esquerda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dirty="0">
                          <a:effectLst/>
                        </a:rPr>
                        <a:t>a &lt;&lt; b</a:t>
                      </a:r>
                    </a:p>
                  </a:txBody>
                  <a:tcPr marL="25901" marR="25901" marT="12950" marB="129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Desloca a em representação binária b bits à esquerda, preenchendo com zeros à direita.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41206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 dirty="0">
                          <a:effectLst/>
                        </a:rPr>
                        <a:t>Deslocamento à direita com propagação de sinal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dirty="0">
                          <a:effectLst/>
                        </a:rPr>
                        <a:t>a &gt;&gt; b</a:t>
                      </a:r>
                    </a:p>
                  </a:txBody>
                  <a:tcPr marL="25901" marR="25901" marT="12950" marB="129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Desloca a em representação binária b bits à direita, descartando bits excedentes.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478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fontAlgn="ctr"/>
                      <a:r>
                        <a:rPr lang="pt-BR" sz="1200" b="1" dirty="0">
                          <a:effectLst/>
                        </a:rPr>
                        <a:t>Deslocamento à direita com preenchimento zero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dirty="0">
                          <a:effectLst/>
                        </a:rPr>
                        <a:t>a &gt;&gt;&gt; b</a:t>
                      </a:r>
                    </a:p>
                  </a:txBody>
                  <a:tcPr marL="25901" marR="25901" marT="12950" marB="129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dirty="0">
                          <a:effectLst/>
                        </a:rPr>
                        <a:t>Desloca a em representação binária b bits à direita, descartando bits excedentes e preenchendo com zeros à esquerda.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700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838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lógicos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3154261"/>
            <a:ext cx="11727200" cy="334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	São usados para realizar operações lógicas. Elas podem ser do tipo AND, OR e NOT. Os operandos devem ser lógicos, verdadeiro ou falso. Também podem operar sobre expressões lógicas, ou seja, que retornem valores verdadeiro ou falso. 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945085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lógicos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44477"/>
            <a:ext cx="11727200" cy="37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i="0" dirty="0">
                <a:solidFill>
                  <a:srgbClr val="1B1B1B"/>
                </a:solidFill>
                <a:effectLst/>
                <a:latin typeface="Inter"/>
              </a:rPr>
              <a:t>AND (&amp;&amp;) </a:t>
            </a:r>
          </a:p>
          <a:p>
            <a:pPr marL="152396">
              <a:buSzPts val="1800"/>
            </a:pP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O operador AND (&amp;&amp;) recebe dois operandos e retorna verdadeiro se, e somente se ambos os operandos sejam verdadeiros. Retorna falso, caso contrário. </a:t>
            </a:r>
          </a:p>
          <a:p>
            <a:pPr marL="152396">
              <a:buSzPts val="1800"/>
            </a:pPr>
            <a:endParaRPr lang="pt-BR" sz="2400" b="0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6">
              <a:buSzPts val="1800"/>
            </a:pP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Por exemplo, a expressão:</a:t>
            </a:r>
          </a:p>
          <a:p>
            <a:pPr marL="152396">
              <a:buSzPts val="1800"/>
            </a:pPr>
            <a:r>
              <a:rPr lang="pt-BR" sz="2400" dirty="0">
                <a:solidFill>
                  <a:srgbClr val="1B1B1B"/>
                </a:solidFill>
                <a:latin typeface="Inter"/>
              </a:rPr>
              <a:t>	</a:t>
            </a: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 </a:t>
            </a:r>
            <a:r>
              <a:rPr lang="pt-BR" sz="2400" b="0" i="1" dirty="0" err="1">
                <a:solidFill>
                  <a:srgbClr val="1B1B1B"/>
                </a:solidFill>
                <a:effectLst/>
                <a:latin typeface="Inter"/>
              </a:rPr>
              <a:t>true</a:t>
            </a:r>
            <a:r>
              <a:rPr lang="pt-BR" sz="2400" b="0" i="1" dirty="0">
                <a:solidFill>
                  <a:srgbClr val="1B1B1B"/>
                </a:solidFill>
                <a:effectLst/>
                <a:latin typeface="Inter"/>
              </a:rPr>
              <a:t> &amp;&amp; </a:t>
            </a:r>
            <a:r>
              <a:rPr lang="pt-BR" sz="2400" b="0" i="1" dirty="0" err="1">
                <a:solidFill>
                  <a:srgbClr val="1B1B1B"/>
                </a:solidFill>
                <a:effectLst/>
                <a:latin typeface="Inter"/>
              </a:rPr>
              <a:t>true</a:t>
            </a:r>
            <a:r>
              <a:rPr lang="pt-BR" sz="2400" i="1" dirty="0">
                <a:solidFill>
                  <a:srgbClr val="1B1B1B"/>
                </a:solidFill>
                <a:latin typeface="Inter"/>
              </a:rPr>
              <a:t>    // </a:t>
            </a:r>
            <a:r>
              <a:rPr lang="pt-BR" sz="2400" b="0" i="1" dirty="0">
                <a:solidFill>
                  <a:srgbClr val="1B1B1B"/>
                </a:solidFill>
                <a:effectLst/>
                <a:latin typeface="Inter"/>
              </a:rPr>
              <a:t>retorna </a:t>
            </a:r>
            <a:r>
              <a:rPr lang="pt-BR" sz="2400" b="0" i="1" dirty="0" err="1">
                <a:solidFill>
                  <a:srgbClr val="1B1B1B"/>
                </a:solidFill>
                <a:effectLst/>
                <a:latin typeface="Inter"/>
              </a:rPr>
              <a:t>true</a:t>
            </a:r>
            <a:r>
              <a:rPr lang="pt-BR" sz="2400" b="0" i="1" dirty="0">
                <a:solidFill>
                  <a:srgbClr val="1B1B1B"/>
                </a:solidFill>
                <a:effectLst/>
                <a:latin typeface="Inter"/>
              </a:rPr>
              <a:t>. </a:t>
            </a:r>
          </a:p>
          <a:p>
            <a:pPr marL="152396">
              <a:buSzPts val="1800"/>
            </a:pPr>
            <a:endParaRPr lang="pt-BR" sz="2400" b="0" i="1" dirty="0">
              <a:solidFill>
                <a:srgbClr val="1B1B1B"/>
              </a:solidFill>
              <a:effectLst/>
              <a:latin typeface="Inter"/>
            </a:endParaRPr>
          </a:p>
          <a:p>
            <a:pPr marL="152396">
              <a:buSzPts val="1800"/>
            </a:pP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Já a expressão: </a:t>
            </a:r>
          </a:p>
          <a:p>
            <a:pPr marL="152396">
              <a:buSzPts val="1800"/>
            </a:pPr>
            <a:r>
              <a:rPr lang="pt-BR" sz="2400" dirty="0">
                <a:solidFill>
                  <a:srgbClr val="1B1B1B"/>
                </a:solidFill>
                <a:latin typeface="Inter"/>
              </a:rPr>
              <a:t>	</a:t>
            </a:r>
            <a:r>
              <a:rPr lang="pt-BR" sz="2400" b="0" i="1" dirty="0" err="1">
                <a:solidFill>
                  <a:srgbClr val="1B1B1B"/>
                </a:solidFill>
                <a:effectLst/>
                <a:latin typeface="Inter"/>
              </a:rPr>
              <a:t>true</a:t>
            </a:r>
            <a:r>
              <a:rPr lang="pt-BR" sz="2400" b="0" i="1" dirty="0">
                <a:solidFill>
                  <a:srgbClr val="1B1B1B"/>
                </a:solidFill>
                <a:effectLst/>
                <a:latin typeface="Inter"/>
              </a:rPr>
              <a:t> &amp;&amp; false;   // retorna false. 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819060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lógicos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44476"/>
            <a:ext cx="11727200" cy="392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i="0" dirty="0">
                <a:solidFill>
                  <a:srgbClr val="1B1B1B"/>
                </a:solidFill>
                <a:effectLst/>
                <a:latin typeface="Inter"/>
              </a:rPr>
              <a:t>OR (||)</a:t>
            </a:r>
          </a:p>
          <a:p>
            <a:pPr marL="152396">
              <a:buSzPts val="1800"/>
            </a:pP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Para o operador OR (||) retornar verdadeiro, basta que um dos operandos seja verdadeiro. Ele também retorna verdadeiro caso os dois operandos sejam verdadeiros. Retorna falso, se os dois forem falsos. </a:t>
            </a:r>
          </a:p>
          <a:p>
            <a:pPr marL="152396">
              <a:buSzPts val="1800"/>
            </a:pPr>
            <a:endParaRPr lang="pt-BR" sz="2400" b="0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6">
              <a:buSzPts val="1800"/>
            </a:pP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A expressão: </a:t>
            </a:r>
            <a:r>
              <a:rPr lang="pt-BR" sz="2400" b="0" i="1" dirty="0" err="1">
                <a:solidFill>
                  <a:srgbClr val="1B1B1B"/>
                </a:solidFill>
                <a:effectLst/>
                <a:latin typeface="Inter"/>
              </a:rPr>
              <a:t>true</a:t>
            </a:r>
            <a:r>
              <a:rPr lang="pt-BR" sz="2400" b="0" i="1" dirty="0">
                <a:solidFill>
                  <a:srgbClr val="1B1B1B"/>
                </a:solidFill>
                <a:effectLst/>
                <a:latin typeface="Inter"/>
              </a:rPr>
              <a:t> || </a:t>
            </a:r>
            <a:r>
              <a:rPr lang="pt-BR" sz="2400" b="0" i="1" dirty="0" err="1">
                <a:solidFill>
                  <a:srgbClr val="1B1B1B"/>
                </a:solidFill>
                <a:effectLst/>
                <a:latin typeface="Inter"/>
              </a:rPr>
              <a:t>true</a:t>
            </a:r>
            <a:r>
              <a:rPr lang="pt-BR" sz="2400" b="0" i="1" dirty="0">
                <a:solidFill>
                  <a:srgbClr val="1B1B1B"/>
                </a:solidFill>
                <a:effectLst/>
                <a:latin typeface="Inter"/>
              </a:rPr>
              <a:t>;  // retorna </a:t>
            </a:r>
            <a:r>
              <a:rPr lang="pt-BR" sz="2400" b="0" i="1" dirty="0" err="1">
                <a:solidFill>
                  <a:srgbClr val="1B1B1B"/>
                </a:solidFill>
                <a:effectLst/>
                <a:latin typeface="Inter"/>
              </a:rPr>
              <a:t>true</a:t>
            </a:r>
            <a:r>
              <a:rPr lang="pt-BR" sz="2400" b="0" i="1" dirty="0">
                <a:solidFill>
                  <a:srgbClr val="1B1B1B"/>
                </a:solidFill>
                <a:effectLst/>
                <a:latin typeface="Inter"/>
              </a:rPr>
              <a:t> ;</a:t>
            </a:r>
          </a:p>
          <a:p>
            <a:pPr marL="152396">
              <a:buSzPts val="1800"/>
            </a:pPr>
            <a:endParaRPr lang="pt-BR" sz="2400" dirty="0">
              <a:solidFill>
                <a:srgbClr val="1B1B1B"/>
              </a:solidFill>
              <a:latin typeface="Inter"/>
            </a:endParaRPr>
          </a:p>
          <a:p>
            <a:pPr marL="152396">
              <a:buSzPts val="1800"/>
            </a:pP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bem como a expressão:  </a:t>
            </a:r>
            <a:r>
              <a:rPr lang="pt-BR" sz="2400" i="1" dirty="0" err="1">
                <a:solidFill>
                  <a:srgbClr val="1B1B1B"/>
                </a:solidFill>
                <a:latin typeface="Inter"/>
              </a:rPr>
              <a:t>true</a:t>
            </a:r>
            <a:r>
              <a:rPr lang="pt-BR" sz="2400" i="1" dirty="0">
                <a:solidFill>
                  <a:srgbClr val="1B1B1B"/>
                </a:solidFill>
                <a:latin typeface="Inter"/>
              </a:rPr>
              <a:t> || false; // retorna false. </a:t>
            </a:r>
          </a:p>
          <a:p>
            <a:pPr marL="152396">
              <a:buSzPts val="1800"/>
            </a:pPr>
            <a:endParaRPr lang="pt-BR" sz="2400" b="0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6">
              <a:buSzPts val="1800"/>
            </a:pP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Já a expressão:  </a:t>
            </a:r>
            <a:r>
              <a:rPr lang="pt-BR" sz="2400" b="0" i="1" dirty="0">
                <a:solidFill>
                  <a:srgbClr val="1B1B1B"/>
                </a:solidFill>
                <a:effectLst/>
                <a:latin typeface="Inter"/>
              </a:rPr>
              <a:t>false || false;  // retorna false. 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875518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lógicos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44477"/>
            <a:ext cx="11727200" cy="37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i="0" dirty="0">
                <a:solidFill>
                  <a:srgbClr val="1B1B1B"/>
                </a:solidFill>
                <a:effectLst/>
                <a:latin typeface="Inter"/>
              </a:rPr>
              <a:t>NOT (!)</a:t>
            </a:r>
          </a:p>
          <a:p>
            <a:pPr marL="152396">
              <a:buSzPts val="1800"/>
            </a:pP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O operador de negação (!) é um operando unário, isto é, opera sobre apenas um operando. Ele nega, inverte o valor lógico do operando. Veja os exemplos: </a:t>
            </a:r>
          </a:p>
          <a:p>
            <a:pPr marL="152396">
              <a:buSzPts val="1800"/>
            </a:pPr>
            <a:endParaRPr lang="pt-BR" sz="2400" b="0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96" lvl="3">
              <a:buSzPts val="1800"/>
            </a:pPr>
            <a:r>
              <a:rPr lang="pt-BR" sz="2400" b="0" i="1" dirty="0">
                <a:solidFill>
                  <a:srgbClr val="1B1B1B"/>
                </a:solidFill>
                <a:effectLst/>
                <a:latin typeface="Inter"/>
              </a:rPr>
              <a:t>var x = 2 &gt; 1; // o valor de x é </a:t>
            </a:r>
            <a:r>
              <a:rPr lang="pt-BR" sz="2400" b="0" i="1" dirty="0" err="1">
                <a:solidFill>
                  <a:srgbClr val="1B1B1B"/>
                </a:solidFill>
                <a:effectLst/>
                <a:latin typeface="Inter"/>
              </a:rPr>
              <a:t>true</a:t>
            </a:r>
            <a:endParaRPr lang="pt-BR" sz="2400" b="0" i="1" dirty="0">
              <a:solidFill>
                <a:srgbClr val="1B1B1B"/>
              </a:solidFill>
              <a:effectLst/>
              <a:latin typeface="Inter"/>
            </a:endParaRPr>
          </a:p>
          <a:p>
            <a:pPr marL="1523996" lvl="3">
              <a:buSzPts val="1800"/>
            </a:pPr>
            <a:endParaRPr lang="pt-BR" sz="2400" b="0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96" lvl="3">
              <a:buSzPts val="1800"/>
            </a:pPr>
            <a:r>
              <a:rPr lang="pt-BR" sz="2400" b="0" i="1" dirty="0">
                <a:solidFill>
                  <a:srgbClr val="1B1B1B"/>
                </a:solidFill>
                <a:effectLst/>
                <a:latin typeface="Inter"/>
              </a:rPr>
              <a:t>!x; // o valor retornado por essa expressão é false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125611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45FB61A-65A2-ED01-760C-5B48F52FA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458096"/>
              </p:ext>
            </p:extLst>
          </p:nvPr>
        </p:nvGraphicFramePr>
        <p:xfrm>
          <a:off x="1" y="1640730"/>
          <a:ext cx="12192000" cy="4616683"/>
        </p:xfrm>
        <a:graphic>
          <a:graphicData uri="http://schemas.openxmlformats.org/drawingml/2006/table">
            <a:tbl>
              <a:tblPr/>
              <a:tblGrid>
                <a:gridCol w="2055302">
                  <a:extLst>
                    <a:ext uri="{9D8B030D-6E8A-4147-A177-3AD203B41FA5}">
                      <a16:colId xmlns:a16="http://schemas.microsoft.com/office/drawing/2014/main" val="3104814131"/>
                    </a:ext>
                  </a:extLst>
                </a:gridCol>
                <a:gridCol w="1904301">
                  <a:extLst>
                    <a:ext uri="{9D8B030D-6E8A-4147-A177-3AD203B41FA5}">
                      <a16:colId xmlns:a16="http://schemas.microsoft.com/office/drawing/2014/main" val="2433783792"/>
                    </a:ext>
                  </a:extLst>
                </a:gridCol>
                <a:gridCol w="8232397">
                  <a:extLst>
                    <a:ext uri="{9D8B030D-6E8A-4147-A177-3AD203B41FA5}">
                      <a16:colId xmlns:a16="http://schemas.microsoft.com/office/drawing/2014/main" val="2502487942"/>
                    </a:ext>
                  </a:extLst>
                </a:gridCol>
              </a:tblGrid>
              <a:tr h="1338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dirty="0">
                          <a:solidFill>
                            <a:srgbClr val="FFDA3E"/>
                          </a:solidFill>
                          <a:effectLst/>
                        </a:rPr>
                        <a:t>Operador</a:t>
                      </a:r>
                    </a:p>
                  </a:txBody>
                  <a:tcPr marL="33472" marR="33472" marT="16736" marB="16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dirty="0">
                          <a:solidFill>
                            <a:srgbClr val="FFDA3E"/>
                          </a:solidFill>
                          <a:effectLst/>
                        </a:rPr>
                        <a:t>Utilização</a:t>
                      </a:r>
                    </a:p>
                  </a:txBody>
                  <a:tcPr marL="33472" marR="33472" marT="16736" marB="16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dirty="0">
                          <a:solidFill>
                            <a:srgbClr val="FFDA3E"/>
                          </a:solidFill>
                          <a:effectLst/>
                        </a:rPr>
                        <a:t>Descrição</a:t>
                      </a:r>
                    </a:p>
                  </a:txBody>
                  <a:tcPr marL="33472" marR="33472" marT="16736" marB="167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064782"/>
                  </a:ext>
                </a:extLst>
              </a:tr>
              <a:tr h="1640120">
                <a:tc>
                  <a:txBody>
                    <a:bodyPr/>
                    <a:lstStyle/>
                    <a:p>
                      <a:pPr fontAlgn="ctr"/>
                      <a:r>
                        <a:rPr lang="pt-BR" sz="1400" b="1" dirty="0">
                          <a:effectLst/>
                        </a:rPr>
                        <a:t>AND lógico (&amp;&amp;)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400" dirty="0">
                          <a:effectLst/>
                        </a:rPr>
                        <a:t>expr1 &amp;&amp; expr2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400" dirty="0">
                          <a:effectLst/>
                        </a:rPr>
                        <a:t>(E lógico) - Retorna expr1 caso possa ser convertido para falso; senão, retorna expr2. Assim, quando utilizado com valores booleanos, &amp;&amp; retorna verdadeiro caso ambos operandos sejam verdadeiros; caso contrário, retorna falso.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903837"/>
                  </a:ext>
                </a:extLst>
              </a:tr>
              <a:tr h="1740535">
                <a:tc>
                  <a:txBody>
                    <a:bodyPr/>
                    <a:lstStyle/>
                    <a:p>
                      <a:pPr fontAlgn="ctr"/>
                      <a:r>
                        <a:rPr lang="pt-BR" sz="1400" b="1">
                          <a:effectLst/>
                        </a:rPr>
                        <a:t>OU lógico (||)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400">
                          <a:effectLst/>
                        </a:rPr>
                        <a:t>expr1 || expr2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400" dirty="0">
                          <a:effectLst/>
                        </a:rPr>
                        <a:t>(OU lógico) -  Retorna expr1 caso possa ser convertido para verdadeiro; senão, retorna expr2. Assim, quando utilizado com valores booleanos, || retorna verdadeiro caso ambos os operandos sejam verdadeiro; se ambos forem falsos, retorna falso.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93437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 fontAlgn="ctr"/>
                      <a:r>
                        <a:rPr lang="pt-BR" sz="1400" b="1" dirty="0">
                          <a:effectLst/>
                        </a:rPr>
                        <a:t>NOT lógico (!)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400">
                          <a:effectLst/>
                        </a:rPr>
                        <a:t>!expr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400" dirty="0">
                          <a:effectLst/>
                        </a:rPr>
                        <a:t>(Negação lógica) Retorna falso caso o único operando possa ser convertido para verdadeiro; senão, retorna verdadeiro.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096830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F48C9300-091F-C508-65A7-2A3E4CF958F5}"/>
              </a:ext>
            </a:extLst>
          </p:cNvPr>
          <p:cNvSpPr txBox="1"/>
          <p:nvPr/>
        </p:nvSpPr>
        <p:spPr>
          <a:xfrm>
            <a:off x="2491531" y="860930"/>
            <a:ext cx="6107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lógicos</a:t>
            </a:r>
          </a:p>
        </p:txBody>
      </p:sp>
    </p:spTree>
    <p:extLst>
      <p:ext uri="{BB962C8B-B14F-4D97-AF65-F5344CB8AC3E}">
        <p14:creationId xmlns:p14="http://schemas.microsoft.com/office/powerpoint/2010/main" val="3134963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de </a:t>
            </a:r>
            <a:r>
              <a:rPr lang="pt-BR" sz="32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44477"/>
            <a:ext cx="11727200" cy="37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i="0" dirty="0">
                <a:solidFill>
                  <a:srgbClr val="1B1B1B"/>
                </a:solidFill>
                <a:effectLst/>
                <a:latin typeface="Inter"/>
              </a:rPr>
              <a:t>Concatenação (+) </a:t>
            </a:r>
          </a:p>
          <a:p>
            <a:pPr marL="152396">
              <a:buSzPts val="1800"/>
            </a:pP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	O operador de concatenação é usado para unir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strings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 em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JavaScript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. Este operador irá avaliar os valores dos operandos, que podem ser mais de dois neste caso, e retornar uma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string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 que é a junção desses valores. Vale notar que os operandos não precisam necessariamente ser todos do tipo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string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. </a:t>
            </a:r>
          </a:p>
          <a:p>
            <a:pPr marL="152396">
              <a:buSzPts val="1800"/>
            </a:pPr>
            <a:r>
              <a:rPr lang="pt-BR" sz="2400" dirty="0">
                <a:solidFill>
                  <a:srgbClr val="1B1B1B"/>
                </a:solidFill>
                <a:latin typeface="Inter"/>
              </a:rPr>
              <a:t>	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O operador de concatenação (+) concatena dois valores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string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, retornando outra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string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 que é a união dos dois operandos.</a:t>
            </a:r>
          </a:p>
          <a:p>
            <a:pPr marL="152396">
              <a:buSzPts val="1800"/>
            </a:pPr>
            <a:r>
              <a:rPr lang="pt-BR" sz="2400" dirty="0">
                <a:solidFill>
                  <a:srgbClr val="1B1B1B"/>
                </a:solidFill>
                <a:latin typeface="Inter"/>
              </a:rPr>
              <a:t>		</a:t>
            </a:r>
            <a:r>
              <a:rPr lang="sv-SE" sz="2400" i="1" dirty="0">
                <a:solidFill>
                  <a:srgbClr val="1B1B1B"/>
                </a:solidFill>
                <a:latin typeface="Inter"/>
              </a:rPr>
              <a:t>"minha " + "string"; // exibe a string "minha string".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2438242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condicional (ternário)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44477"/>
            <a:ext cx="11727200" cy="37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i="0" dirty="0">
                <a:solidFill>
                  <a:srgbClr val="1B1B1B"/>
                </a:solidFill>
                <a:effectLst/>
                <a:latin typeface="Inter"/>
              </a:rPr>
              <a:t>O operador condicional (ternário)</a:t>
            </a:r>
          </a:p>
          <a:p>
            <a:pPr marL="152396">
              <a:buSzPts val="1800"/>
            </a:pPr>
            <a:r>
              <a:rPr lang="pt-BR" sz="2400" b="1" dirty="0">
                <a:solidFill>
                  <a:srgbClr val="1B1B1B"/>
                </a:solidFill>
                <a:latin typeface="Inter"/>
              </a:rPr>
              <a:t>	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é o único operador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JavaScript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 que utiliza três operandos. O operador pode ter um de dois valores baseados em uma condição. A sintaxe é:  </a:t>
            </a:r>
            <a:r>
              <a:rPr lang="pt-BR" sz="2400" i="1" dirty="0" err="1">
                <a:solidFill>
                  <a:srgbClr val="1B1B1B"/>
                </a:solidFill>
                <a:effectLst/>
                <a:latin typeface="Inter"/>
              </a:rPr>
              <a:t>condicao</a:t>
            </a: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 ? valor1 : valor2.</a:t>
            </a:r>
          </a:p>
          <a:p>
            <a:pPr marL="152396">
              <a:buSzPts val="1800"/>
            </a:pPr>
            <a:r>
              <a:rPr lang="pt-BR" sz="2400" dirty="0">
                <a:solidFill>
                  <a:srgbClr val="1B1B1B"/>
                </a:solidFill>
                <a:latin typeface="Inter"/>
                <a:sym typeface="Roboto Mono"/>
              </a:rPr>
              <a:t>	Se </a:t>
            </a:r>
            <a:r>
              <a:rPr lang="pt-BR" sz="2400" dirty="0" err="1">
                <a:solidFill>
                  <a:srgbClr val="1B1B1B"/>
                </a:solidFill>
                <a:latin typeface="Inter"/>
                <a:sym typeface="Roboto Mono"/>
              </a:rPr>
              <a:t>condicao</a:t>
            </a:r>
            <a:r>
              <a:rPr lang="pt-BR" sz="2400" dirty="0">
                <a:solidFill>
                  <a:srgbClr val="1B1B1B"/>
                </a:solidFill>
                <a:latin typeface="Inter"/>
                <a:sym typeface="Roboto Mono"/>
              </a:rPr>
              <a:t> for verdadeira, o operador terá o valor de valor1. Caso contrário, terá o valor de valor2. podemos utilizar o operador condicional em qualquer lugar onde utilizaria um operador padrão.</a:t>
            </a:r>
          </a:p>
          <a:p>
            <a:pPr marL="152396">
              <a:buSzPts val="1800"/>
            </a:pP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  <a:p>
            <a:pPr marL="152396">
              <a:buSzPts val="1800"/>
            </a:pP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			var status = (idade &gt;= 18) ? "adulto" : "menor de idade";</a:t>
            </a:r>
          </a:p>
        </p:txBody>
      </p:sp>
    </p:spTree>
    <p:extLst>
      <p:ext uri="{BB962C8B-B14F-4D97-AF65-F5344CB8AC3E}">
        <p14:creationId xmlns:p14="http://schemas.microsoft.com/office/powerpoint/2010/main" val="1349330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vírgula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44477"/>
            <a:ext cx="11727200" cy="37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i="0" dirty="0">
                <a:solidFill>
                  <a:srgbClr val="1B1B1B"/>
                </a:solidFill>
                <a:effectLst/>
                <a:latin typeface="Inter"/>
              </a:rPr>
              <a:t>A vírgula </a:t>
            </a:r>
          </a:p>
          <a:p>
            <a:pPr marL="152396">
              <a:buSzPts val="1800"/>
            </a:pP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	É usada para denotar uma lista de valores. Ela pode ser usada para declarar várias variáveis de uma vez:</a:t>
            </a:r>
          </a:p>
          <a:p>
            <a:pPr marL="152396">
              <a:buSzPts val="1800"/>
            </a:pPr>
            <a:endParaRPr lang="pt-BR" sz="2400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6">
              <a:buSzPts val="1800"/>
            </a:pP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			</a:t>
            </a: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var x, y, z;</a:t>
            </a:r>
          </a:p>
          <a:p>
            <a:pPr marL="152396">
              <a:buSzPts val="1800"/>
            </a:pPr>
            <a:endParaRPr lang="pt-BR" sz="2400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6">
              <a:buSzPts val="1800"/>
            </a:pP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Para denotar elementos de uma lista: </a:t>
            </a:r>
          </a:p>
          <a:p>
            <a:pPr marL="152396">
              <a:buSzPts val="1800"/>
            </a:pPr>
            <a:endParaRPr lang="pt-BR" sz="2400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6">
              <a:buSzPts val="1800"/>
            </a:pP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			</a:t>
            </a: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var lista = [0, 1, 2, 3];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055696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unário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44477"/>
            <a:ext cx="11727200" cy="37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i="0" dirty="0">
                <a:solidFill>
                  <a:srgbClr val="1B1B1B"/>
                </a:solidFill>
                <a:effectLst/>
                <a:latin typeface="Inter"/>
              </a:rPr>
              <a:t>Operadores unários </a:t>
            </a:r>
          </a:p>
          <a:p>
            <a:pPr marL="152396">
              <a:buSzPts val="1800"/>
            </a:pPr>
            <a:r>
              <a:rPr lang="pt-BR" sz="2400" b="1" dirty="0">
                <a:solidFill>
                  <a:srgbClr val="1B1B1B"/>
                </a:solidFill>
                <a:latin typeface="Inter"/>
              </a:rPr>
              <a:t>	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são aqueles que realizam uma operação sobre apenas um operador. Um exemplo de operador unário é o operador de negação (!) que irá inverter o valor lógico do único operador que precede. 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784049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</a:t>
            </a:r>
            <a:r>
              <a:rPr lang="pt-BR" sz="32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typeof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44477"/>
            <a:ext cx="11727200" cy="37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i="0" dirty="0">
                <a:solidFill>
                  <a:srgbClr val="1B1B1B"/>
                </a:solidFill>
                <a:effectLst/>
                <a:latin typeface="Inter"/>
              </a:rPr>
              <a:t>O operador </a:t>
            </a:r>
            <a:r>
              <a:rPr lang="pt-BR" sz="2400" b="1" i="0" dirty="0" err="1">
                <a:solidFill>
                  <a:srgbClr val="1B1B1B"/>
                </a:solidFill>
                <a:effectLst/>
                <a:latin typeface="Inter"/>
              </a:rPr>
              <a:t>typeof</a:t>
            </a:r>
            <a:r>
              <a:rPr lang="pt-BR" sz="2400" b="1" i="0" dirty="0">
                <a:solidFill>
                  <a:srgbClr val="1B1B1B"/>
                </a:solidFill>
                <a:effectLst/>
                <a:latin typeface="Inter"/>
              </a:rPr>
              <a:t> </a:t>
            </a:r>
          </a:p>
          <a:p>
            <a:pPr marL="152396">
              <a:buSzPts val="1800"/>
            </a:pP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	Retorna uma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string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 indicando o tipo do operando sem avaliação. operando é uma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string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, variável, palavra-chave ou objeto cujo tipo deve ser retornado. Os parênteses são opcionais, é utilizado em qualquer uma das seguintes formas:</a:t>
            </a:r>
          </a:p>
          <a:p>
            <a:pPr marL="152396">
              <a:buSzPts val="1800"/>
            </a:pPr>
            <a:endParaRPr lang="pt-BR" sz="2400" i="0" dirty="0">
              <a:solidFill>
                <a:srgbClr val="1B1B1B"/>
              </a:solidFill>
              <a:effectLst/>
              <a:latin typeface="Inter"/>
            </a:endParaRPr>
          </a:p>
          <a:p>
            <a:pPr marL="1981196" lvl="4">
              <a:buSzPts val="1800"/>
            </a:pP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typeof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 operando</a:t>
            </a:r>
          </a:p>
          <a:p>
            <a:pPr marL="1981196" lvl="4">
              <a:buSzPts val="1800"/>
            </a:pP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typeof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 (operando)</a:t>
            </a:r>
          </a:p>
          <a:p>
            <a:pPr marL="1981196" lvl="4">
              <a:buSzPts val="1800"/>
            </a:pP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0076347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 </a:t>
            </a:r>
            <a:r>
              <a:rPr lang="pt-BR" sz="32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typeof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44477"/>
            <a:ext cx="11727200" cy="37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O operador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typeof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 retornaria o seguinte resultado para aquelas variáveis:</a:t>
            </a:r>
          </a:p>
          <a:p>
            <a:pPr marL="609596" lvl="1">
              <a:buSzPts val="1800"/>
            </a:pP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typeof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 </a:t>
            </a: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meuLazer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();  // retorna "</a:t>
            </a: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function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"</a:t>
            </a:r>
          </a:p>
          <a:p>
            <a:pPr marL="609596" lvl="1">
              <a:buSzPts val="1800"/>
            </a:pP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typeof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 “forma”;     // retorna "</a:t>
            </a: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string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"</a:t>
            </a:r>
          </a:p>
          <a:p>
            <a:pPr marL="609596" lvl="1">
              <a:buSzPts val="1800"/>
            </a:pP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typeof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 36;   // retorna "</a:t>
            </a: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number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“</a:t>
            </a:r>
          </a:p>
          <a:p>
            <a:pPr marL="609596" lvl="1">
              <a:buSzPts val="1800"/>
            </a:pP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typeof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 12.6;   // retorna "</a:t>
            </a: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number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"</a:t>
            </a:r>
          </a:p>
          <a:p>
            <a:pPr marL="609596" lvl="1">
              <a:buSzPts val="1800"/>
            </a:pP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typeof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 {hoje};      // retorna "</a:t>
            </a: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object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"</a:t>
            </a:r>
          </a:p>
          <a:p>
            <a:pPr marL="609596" lvl="1">
              <a:buSzPts val="1800"/>
            </a:pP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typeof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 </a:t>
            </a: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naoExiste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; // retorna "</a:t>
            </a: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undefined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“</a:t>
            </a:r>
          </a:p>
          <a:p>
            <a:pPr marL="609596" lvl="1">
              <a:buSzPts val="1800"/>
            </a:pPr>
            <a:r>
              <a:rPr lang="en-US" sz="2400" i="1" dirty="0" err="1">
                <a:solidFill>
                  <a:srgbClr val="1B1B1B"/>
                </a:solidFill>
                <a:latin typeface="Inter"/>
                <a:sym typeface="Roboto Mono"/>
              </a:rPr>
              <a:t>typeof</a:t>
            </a:r>
            <a:r>
              <a:rPr lang="en-US" sz="2400" i="1" dirty="0">
                <a:solidFill>
                  <a:srgbClr val="1B1B1B"/>
                </a:solidFill>
                <a:latin typeface="Inter"/>
                <a:sym typeface="Roboto Mono"/>
              </a:rPr>
              <a:t> true; // </a:t>
            </a:r>
            <a:r>
              <a:rPr lang="en-US" sz="2400" i="1" dirty="0" err="1">
                <a:solidFill>
                  <a:srgbClr val="1B1B1B"/>
                </a:solidFill>
                <a:latin typeface="Inter"/>
                <a:sym typeface="Roboto Mono"/>
              </a:rPr>
              <a:t>retorna</a:t>
            </a:r>
            <a:r>
              <a:rPr lang="en-US" sz="2400" i="1" dirty="0">
                <a:solidFill>
                  <a:srgbClr val="1B1B1B"/>
                </a:solidFill>
                <a:latin typeface="Inter"/>
                <a:sym typeface="Roboto Mono"/>
              </a:rPr>
              <a:t> "</a:t>
            </a:r>
            <a:r>
              <a:rPr lang="en-US" sz="2400" i="1" dirty="0" err="1">
                <a:solidFill>
                  <a:srgbClr val="1B1B1B"/>
                </a:solidFill>
                <a:latin typeface="Inter"/>
                <a:sym typeface="Roboto Mono"/>
              </a:rPr>
              <a:t>boolean</a:t>
            </a:r>
            <a:r>
              <a:rPr lang="en-US" sz="2400" i="1" dirty="0">
                <a:solidFill>
                  <a:srgbClr val="1B1B1B"/>
                </a:solidFill>
                <a:latin typeface="Inter"/>
                <a:sym typeface="Roboto Mono"/>
              </a:rPr>
              <a:t>"</a:t>
            </a:r>
          </a:p>
          <a:p>
            <a:pPr marL="609596" lvl="1">
              <a:buSzPts val="1800"/>
            </a:pPr>
            <a:r>
              <a:rPr lang="en-US" sz="2400" i="1" dirty="0" err="1">
                <a:solidFill>
                  <a:srgbClr val="1B1B1B"/>
                </a:solidFill>
                <a:latin typeface="Inter"/>
                <a:sym typeface="Roboto Mono"/>
              </a:rPr>
              <a:t>typeof</a:t>
            </a:r>
            <a:r>
              <a:rPr lang="en-US" sz="2400" i="1" dirty="0">
                <a:solidFill>
                  <a:srgbClr val="1B1B1B"/>
                </a:solidFill>
                <a:latin typeface="Inter"/>
                <a:sym typeface="Roboto Mono"/>
              </a:rPr>
              <a:t> null; // </a:t>
            </a:r>
            <a:r>
              <a:rPr lang="en-US" sz="2400" i="1" dirty="0" err="1">
                <a:solidFill>
                  <a:srgbClr val="1B1B1B"/>
                </a:solidFill>
                <a:latin typeface="Inter"/>
                <a:sym typeface="Roboto Mono"/>
              </a:rPr>
              <a:t>retorna</a:t>
            </a:r>
            <a:r>
              <a:rPr lang="en-US" sz="2400" i="1" dirty="0">
                <a:solidFill>
                  <a:srgbClr val="1B1B1B"/>
                </a:solidFill>
                <a:latin typeface="Inter"/>
                <a:sym typeface="Roboto Mono"/>
              </a:rPr>
              <a:t> "object"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9578921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relacionais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1472"/>
            <a:ext cx="11727200" cy="4437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i="0" dirty="0">
                <a:solidFill>
                  <a:srgbClr val="1B1B1B"/>
                </a:solidFill>
                <a:effectLst/>
                <a:latin typeface="Inter"/>
              </a:rPr>
              <a:t>in </a:t>
            </a:r>
          </a:p>
          <a:p>
            <a:pPr marL="152396">
              <a:buSzPts val="1800"/>
            </a:pPr>
            <a:r>
              <a:rPr lang="pt-BR" sz="2400" dirty="0">
                <a:solidFill>
                  <a:srgbClr val="1B1B1B"/>
                </a:solidFill>
                <a:latin typeface="Inter"/>
              </a:rPr>
              <a:t>	É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 usado para definir se um objeto tem uma determinada propriedade. Ele retorna os valores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true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 ou false. Um uso bastante comum do operador in é para verificar se um elemento pertente a um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array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: </a:t>
            </a:r>
          </a:p>
          <a:p>
            <a:pPr marL="152396">
              <a:buSzPts val="1800"/>
            </a:pPr>
            <a:endParaRPr lang="pt-BR" sz="2400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6">
              <a:buSzPts val="1800"/>
            </a:pP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		</a:t>
            </a: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1 in [1,2,3,4];  // retorna </a:t>
            </a:r>
            <a:r>
              <a:rPr lang="pt-BR" sz="2400" i="1" dirty="0" err="1">
                <a:solidFill>
                  <a:srgbClr val="1B1B1B"/>
                </a:solidFill>
                <a:effectLst/>
                <a:latin typeface="Inter"/>
              </a:rPr>
              <a:t>true</a:t>
            </a: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 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pois 1 pertence ao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array</a:t>
            </a: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 </a:t>
            </a:r>
          </a:p>
          <a:p>
            <a:pPr marL="152396">
              <a:buSzPts val="1800"/>
            </a:pP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		1 in [];  // </a:t>
            </a: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retorna </a:t>
            </a:r>
            <a:r>
              <a:rPr lang="pt-BR" sz="2400" i="1" dirty="0" err="1">
                <a:solidFill>
                  <a:srgbClr val="1B1B1B"/>
                </a:solidFill>
                <a:effectLst/>
                <a:latin typeface="Inter"/>
              </a:rPr>
              <a:t>true</a:t>
            </a: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 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pois o valor 1 não está no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array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 (que é vazio)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791729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relacionais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1472"/>
            <a:ext cx="11727200" cy="4437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i="0" dirty="0" err="1">
                <a:solidFill>
                  <a:srgbClr val="1B1B1B"/>
                </a:solidFill>
                <a:effectLst/>
                <a:latin typeface="Inter"/>
              </a:rPr>
              <a:t>Instanceof</a:t>
            </a:r>
            <a:endParaRPr lang="pt-BR" sz="2400" b="1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6">
              <a:buSzPts val="1800"/>
            </a:pPr>
            <a:r>
              <a:rPr lang="pt-BR" sz="2400" dirty="0">
                <a:solidFill>
                  <a:srgbClr val="1B1B1B"/>
                </a:solidFill>
                <a:latin typeface="Inter"/>
              </a:rPr>
              <a:t>	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outro operador relacional, retorna verdadeiro se um objeto é uma instância de outro objeto. Caso contrário, retorna falso. </a:t>
            </a:r>
          </a:p>
          <a:p>
            <a:pPr marL="152396">
              <a:buSzPts val="1800"/>
            </a:pPr>
            <a:endParaRPr lang="pt-BR" sz="2400" dirty="0">
              <a:solidFill>
                <a:srgbClr val="1B1B1B"/>
              </a:solidFill>
              <a:latin typeface="Inter"/>
              <a:sym typeface="Roboto Mono"/>
            </a:endParaRPr>
          </a:p>
          <a:p>
            <a:pPr marL="152396">
              <a:buSzPts val="1800"/>
            </a:pP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		</a:t>
            </a: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nomeObjeto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 </a:t>
            </a: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instanceof</a:t>
            </a:r>
            <a:r>
              <a:rPr lang="pt-BR" sz="2400" i="1" dirty="0">
                <a:solidFill>
                  <a:srgbClr val="1B1B1B"/>
                </a:solidFill>
                <a:latin typeface="Inter"/>
                <a:sym typeface="Roboto Mono"/>
              </a:rPr>
              <a:t> </a:t>
            </a:r>
            <a:r>
              <a:rPr lang="pt-BR" sz="2400" i="1" dirty="0" err="1">
                <a:solidFill>
                  <a:srgbClr val="1B1B1B"/>
                </a:solidFill>
                <a:latin typeface="Inter"/>
                <a:sym typeface="Roboto Mono"/>
              </a:rPr>
              <a:t>tipoObjeto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  <a:p>
            <a:pPr marL="152396">
              <a:buSzPts val="1800"/>
            </a:pPr>
            <a:endParaRPr lang="pt-BR" sz="2400" dirty="0">
              <a:solidFill>
                <a:srgbClr val="1B1B1B"/>
              </a:solidFill>
              <a:latin typeface="Inter"/>
              <a:sym typeface="Roboto Mono"/>
            </a:endParaRPr>
          </a:p>
          <a:p>
            <a:pPr marL="152396">
              <a:buSzPts val="1800"/>
            </a:pPr>
            <a:r>
              <a:rPr lang="pt-BR" sz="2400" dirty="0">
                <a:solidFill>
                  <a:srgbClr val="1B1B1B"/>
                </a:solidFill>
                <a:latin typeface="Inter"/>
                <a:sym typeface="Roboto Mono"/>
              </a:rPr>
              <a:t>Utilize o </a:t>
            </a:r>
            <a:r>
              <a:rPr lang="pt-BR" sz="2400" dirty="0" err="1">
                <a:solidFill>
                  <a:srgbClr val="1B1B1B"/>
                </a:solidFill>
                <a:latin typeface="Inter"/>
                <a:sym typeface="Roboto Mono"/>
              </a:rPr>
              <a:t>instanceof</a:t>
            </a:r>
            <a:r>
              <a:rPr lang="pt-BR" sz="2400" dirty="0">
                <a:solidFill>
                  <a:srgbClr val="1B1B1B"/>
                </a:solidFill>
                <a:latin typeface="Inter"/>
                <a:sym typeface="Roboto Mono"/>
              </a:rPr>
              <a:t> quando você precisar confirmar o tipo de um objeto em tempo de execução. Por exemplo, ao capturar exceções você pode desviar para um código de manipulação de exceção diferente dependendo do tipo de exceção lançada.</a:t>
            </a:r>
          </a:p>
        </p:txBody>
      </p:sp>
    </p:spTree>
    <p:extLst>
      <p:ext uri="{BB962C8B-B14F-4D97-AF65-F5344CB8AC3E}">
        <p14:creationId xmlns:p14="http://schemas.microsoft.com/office/powerpoint/2010/main" val="4231019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operadores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relacionais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02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1472"/>
            <a:ext cx="11727200" cy="4437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Por exemplo, o código a seguir utiliza o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instanceof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 para determinar se dia é um objeto Date. Como dia é um objeto Date, as declarações do </a:t>
            </a:r>
            <a:r>
              <a:rPr lang="pt-BR" sz="2400" i="0" dirty="0" err="1">
                <a:solidFill>
                  <a:srgbClr val="1B1B1B"/>
                </a:solidFill>
                <a:effectLst/>
                <a:latin typeface="Inter"/>
              </a:rPr>
              <a:t>if</a:t>
            </a:r>
            <a:r>
              <a:rPr lang="pt-BR" sz="2400" i="0" dirty="0">
                <a:solidFill>
                  <a:srgbClr val="1B1B1B"/>
                </a:solidFill>
                <a:effectLst/>
                <a:latin typeface="Inter"/>
              </a:rPr>
              <a:t> são executadas.</a:t>
            </a:r>
          </a:p>
          <a:p>
            <a:pPr marL="152396">
              <a:buSzPts val="1800"/>
            </a:pPr>
            <a:endParaRPr lang="pt-BR" sz="2400" b="1" i="0" dirty="0">
              <a:solidFill>
                <a:srgbClr val="1B1B1B"/>
              </a:solidFill>
              <a:effectLst/>
              <a:latin typeface="Inter"/>
            </a:endParaRPr>
          </a:p>
          <a:p>
            <a:pPr marL="1523996" lvl="3">
              <a:buSzPts val="1800"/>
            </a:pP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var dia = new Date(1995, 12, 17);</a:t>
            </a:r>
          </a:p>
          <a:p>
            <a:pPr marL="1523996" lvl="3">
              <a:buSzPts val="1800"/>
            </a:pPr>
            <a:r>
              <a:rPr lang="pt-BR" sz="2400" i="1" dirty="0" err="1">
                <a:solidFill>
                  <a:srgbClr val="1B1B1B"/>
                </a:solidFill>
                <a:effectLst/>
                <a:latin typeface="Inter"/>
              </a:rPr>
              <a:t>if</a:t>
            </a: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 (dia </a:t>
            </a:r>
            <a:r>
              <a:rPr lang="pt-BR" sz="2400" i="1" dirty="0" err="1">
                <a:solidFill>
                  <a:srgbClr val="1B1B1B"/>
                </a:solidFill>
                <a:effectLst/>
                <a:latin typeface="Inter"/>
              </a:rPr>
              <a:t>instanceof</a:t>
            </a: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 Date) {</a:t>
            </a:r>
          </a:p>
          <a:p>
            <a:pPr marL="1523996" lvl="3">
              <a:buSzPts val="1800"/>
            </a:pP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  	// declarações a serem executadas</a:t>
            </a:r>
          </a:p>
          <a:p>
            <a:pPr marL="1523996" lvl="3">
              <a:buSzPts val="1800"/>
            </a:pPr>
            <a:r>
              <a:rPr lang="pt-BR" sz="2400" i="1" dirty="0">
                <a:solidFill>
                  <a:srgbClr val="1B1B1B"/>
                </a:solidFill>
                <a:effectLst/>
                <a:latin typeface="Inter"/>
              </a:rPr>
              <a:t>}</a:t>
            </a:r>
            <a:endParaRPr lang="pt-BR" sz="2400" i="1" dirty="0">
              <a:solidFill>
                <a:srgbClr val="1B1B1B"/>
              </a:solidFill>
              <a:latin typeface="Inter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9044858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4550</TotalTime>
  <Words>3312</Words>
  <Application>Microsoft Office PowerPoint</Application>
  <PresentationFormat>Widescreen</PresentationFormat>
  <Paragraphs>385</Paragraphs>
  <Slides>36</Slides>
  <Notes>36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Calibri Light</vt:lpstr>
      <vt:lpstr>Inter</vt:lpstr>
      <vt:lpstr>Roboto Mono</vt:lpstr>
      <vt:lpstr>Roboto Mono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Marcelo Vieira</cp:lastModifiedBy>
  <cp:revision>52</cp:revision>
  <dcterms:created xsi:type="dcterms:W3CDTF">2018-09-27T21:57:56Z</dcterms:created>
  <dcterms:modified xsi:type="dcterms:W3CDTF">2022-06-19T21:55:30Z</dcterms:modified>
</cp:coreProperties>
</file>