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769" r:id="rId2"/>
    <p:sldId id="778" r:id="rId3"/>
    <p:sldId id="790" r:id="rId4"/>
    <p:sldId id="791" r:id="rId5"/>
    <p:sldId id="792" r:id="rId6"/>
    <p:sldId id="785" r:id="rId7"/>
    <p:sldId id="793" r:id="rId8"/>
    <p:sldId id="786" r:id="rId9"/>
    <p:sldId id="787" r:id="rId10"/>
    <p:sldId id="788" r:id="rId11"/>
    <p:sldId id="789" r:id="rId1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3E"/>
    <a:srgbClr val="D6BA32"/>
    <a:srgbClr val="F47920"/>
    <a:srgbClr val="1572B6"/>
    <a:srgbClr val="35A8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6" d="100"/>
          <a:sy n="86" d="100"/>
        </p:scale>
        <p:origin x="51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C8844-F009-45FC-92E0-5330E07D2391}" type="datetimeFigureOut">
              <a:rPr lang="pt-BR" smtClean="0"/>
              <a:t>16/06/2022</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88C18-FEF5-4A10-8A62-F4039403FDD5}" type="slidenum">
              <a:rPr lang="pt-BR" smtClean="0"/>
              <a:t>‹nº›</a:t>
            </a:fld>
            <a:endParaRPr lang="pt-BR"/>
          </a:p>
        </p:txBody>
      </p:sp>
    </p:spTree>
    <p:extLst>
      <p:ext uri="{BB962C8B-B14F-4D97-AF65-F5344CB8AC3E}">
        <p14:creationId xmlns:p14="http://schemas.microsoft.com/office/powerpoint/2010/main" val="28920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61b130686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61b130686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452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59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060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9667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6819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2934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7328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752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3227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538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448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10734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4098692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26987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7094C45-9102-437E-AE66-F57C174F1152}" type="datetimeFigureOut">
              <a:rPr lang="pt-BR" smtClean="0"/>
              <a:t>16/06/2022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604696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7094C45-9102-437E-AE66-F57C174F1152}" type="datetimeFigureOut">
              <a:rPr lang="pt-BR" smtClean="0"/>
              <a:t>16/06/2022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72101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094C45-9102-437E-AE66-F57C174F1152}" type="datetimeFigureOut">
              <a:rPr lang="pt-BR" smtClean="0"/>
              <a:t>16/06/2022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52192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7094C45-9102-437E-AE66-F57C174F1152}" type="datetimeFigureOut">
              <a:rPr lang="pt-BR" smtClean="0"/>
              <a:t>16/06/2022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4155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16/06/2022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40833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16/06/2022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82592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96411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70688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94C45-9102-437E-AE66-F57C174F1152}" type="datetimeFigureOut">
              <a:rPr lang="pt-BR" smtClean="0"/>
              <a:t>16/06/2022</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BABEC-0FAF-4CB4-8A95-78DD35F8A712}" type="slidenum">
              <a:rPr lang="pt-BR" smtClean="0"/>
              <a:t>‹nº›</a:t>
            </a:fld>
            <a:endParaRPr lang="pt-BR"/>
          </a:p>
        </p:txBody>
      </p:sp>
    </p:spTree>
    <p:extLst>
      <p:ext uri="{BB962C8B-B14F-4D97-AF65-F5344CB8AC3E}">
        <p14:creationId xmlns:p14="http://schemas.microsoft.com/office/powerpoint/2010/main" val="217636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txBox="1"/>
          <p:nvPr/>
        </p:nvSpPr>
        <p:spPr>
          <a:xfrm>
            <a:off x="871017" y="4381269"/>
            <a:ext cx="10450000" cy="104600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Curso Javascript básico</a:t>
            </a:r>
          </a:p>
          <a:p>
            <a:pPr algn="ctr"/>
            <a:r>
              <a:rPr lang="pt-BR" sz="5600" dirty="0">
                <a:solidFill>
                  <a:srgbClr val="D6BA32"/>
                </a:solidFill>
                <a:latin typeface="Roboto Mono Medium"/>
                <a:ea typeface="Roboto Mono Medium"/>
                <a:cs typeface="Roboto Mono Medium"/>
                <a:sym typeface="Roboto Mono Medium"/>
              </a:rPr>
              <a:t>Aula 01 </a:t>
            </a:r>
            <a:endParaRPr sz="5600" dirty="0">
              <a:solidFill>
                <a:srgbClr val="D6BA32"/>
              </a:solidFill>
              <a:latin typeface="Roboto Mono Medium"/>
              <a:ea typeface="Roboto Mono Medium"/>
              <a:cs typeface="Roboto Mono Medium"/>
              <a:sym typeface="Roboto Mono Medium"/>
            </a:endParaRPr>
          </a:p>
          <a:p>
            <a:pPr algn="ctr"/>
            <a:endParaRPr sz="2400" dirty="0">
              <a:solidFill>
                <a:srgbClr val="264DE3"/>
              </a:solidFill>
              <a:latin typeface="Roboto Mono Medium"/>
              <a:ea typeface="Roboto Mono Medium"/>
              <a:cs typeface="Roboto Mono Medium"/>
              <a:sym typeface="Roboto Mono Medium"/>
            </a:endParaRPr>
          </a:p>
        </p:txBody>
      </p:sp>
      <p:pic>
        <p:nvPicPr>
          <p:cNvPr id="4" name="Imagem 3">
            <a:extLst>
              <a:ext uri="{FF2B5EF4-FFF2-40B4-BE49-F238E27FC236}">
                <a16:creationId xmlns:a16="http://schemas.microsoft.com/office/drawing/2014/main" id="{4C604F82-D39D-A579-B80D-9584FB801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96" y="841227"/>
            <a:ext cx="3534212" cy="3534212"/>
          </a:xfrm>
          <a:prstGeom prst="rect">
            <a:avLst/>
          </a:prstGeom>
        </p:spPr>
      </p:pic>
    </p:spTree>
    <p:extLst>
      <p:ext uri="{BB962C8B-B14F-4D97-AF65-F5344CB8AC3E}">
        <p14:creationId xmlns:p14="http://schemas.microsoft.com/office/powerpoint/2010/main" val="347183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6"/>
            <a:ext cx="10450000" cy="1101534"/>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O que é </a:t>
            </a:r>
            <a:r>
              <a:rPr lang="pt-BR" sz="5600" dirty="0" err="1">
                <a:solidFill>
                  <a:srgbClr val="D6BA32"/>
                </a:solidFill>
                <a:latin typeface="Roboto Mono Medium"/>
                <a:ea typeface="Roboto Mono Medium"/>
                <a:cs typeface="Roboto Mono Medium"/>
                <a:sym typeface="Roboto Mono Medium"/>
              </a:rPr>
              <a:t>JavaScript</a:t>
            </a:r>
            <a:r>
              <a:rPr lang="pt-BR" sz="5600" dirty="0">
                <a:solidFill>
                  <a:srgbClr val="D6BA32"/>
                </a:solidFill>
                <a:latin typeface="Roboto Mono Medium"/>
                <a:ea typeface="Roboto Mono Medium"/>
                <a:cs typeface="Roboto Mono Medium"/>
                <a:sym typeface="Roboto Mono Medium"/>
              </a:rPr>
              <a:t>?</a:t>
            </a: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239861"/>
            <a:ext cx="11727200" cy="4117864"/>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latin typeface="Roboto Mono"/>
                <a:ea typeface="Roboto Mono"/>
                <a:cs typeface="Roboto Mono"/>
                <a:sym typeface="Roboto Mono"/>
              </a:rPr>
              <a:t>	</a:t>
            </a:r>
            <a:r>
              <a:rPr lang="pt-BR" dirty="0">
                <a:latin typeface="Roboto Mono"/>
                <a:ea typeface="Roboto Mono"/>
                <a:cs typeface="Roboto Mono"/>
                <a:sym typeface="Roboto Mono"/>
              </a:rPr>
              <a:t>O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foi introduzido em 1995 como uma forma de adicionar programas a páginas da Web no navegador Netscape </a:t>
            </a:r>
            <a:r>
              <a:rPr lang="pt-BR" dirty="0" err="1">
                <a:latin typeface="Roboto Mono"/>
                <a:ea typeface="Roboto Mono"/>
                <a:cs typeface="Roboto Mono"/>
                <a:sym typeface="Roboto Mono"/>
              </a:rPr>
              <a:t>Navigator</a:t>
            </a:r>
            <a:r>
              <a:rPr lang="pt-BR" dirty="0">
                <a:latin typeface="Roboto Mono"/>
                <a:ea typeface="Roboto Mono"/>
                <a:cs typeface="Roboto Mono"/>
                <a:sym typeface="Roboto Mono"/>
              </a:rPr>
              <a:t>. A linguagem já foi adotada por todos os outros principais navegadores gráficos da web. Ele tornou possíveis aplicativos da Web modernos — aplicativos com os quais você pode interagir diretamente sem precisar recarregar uma página para cada ação.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também é usado em sites mais tradicionais para fornecer várias formas de interatividade e inteligência. </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178051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6"/>
            <a:ext cx="10450000" cy="1101534"/>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O que é </a:t>
            </a:r>
            <a:r>
              <a:rPr lang="pt-BR" sz="5600" dirty="0" err="1">
                <a:solidFill>
                  <a:srgbClr val="D6BA32"/>
                </a:solidFill>
                <a:latin typeface="Roboto Mono Medium"/>
                <a:ea typeface="Roboto Mono Medium"/>
                <a:cs typeface="Roboto Mono Medium"/>
                <a:sym typeface="Roboto Mono Medium"/>
              </a:rPr>
              <a:t>JavaScript</a:t>
            </a:r>
            <a:r>
              <a:rPr lang="pt-BR" sz="5600" dirty="0">
                <a:solidFill>
                  <a:srgbClr val="D6BA32"/>
                </a:solidFill>
                <a:latin typeface="Roboto Mono Medium"/>
                <a:ea typeface="Roboto Mono Medium"/>
                <a:cs typeface="Roboto Mono Medium"/>
                <a:sym typeface="Roboto Mono Medium"/>
              </a:rPr>
              <a:t>?</a:t>
            </a: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449585"/>
            <a:ext cx="11727200" cy="3908140"/>
          </a:xfrm>
          <a:prstGeom prst="rect">
            <a:avLst/>
          </a:prstGeom>
          <a:noFill/>
          <a:ln>
            <a:noFill/>
          </a:ln>
        </p:spPr>
        <p:txBody>
          <a:bodyPr spcFirstLastPara="1" wrap="square" lIns="121900" tIns="121900" rIns="121900" bIns="121900" anchor="t" anchorCtr="0">
            <a:noAutofit/>
          </a:bodyPr>
          <a:lstStyle/>
          <a:p>
            <a:pPr marL="152396">
              <a:buSzPts val="1800"/>
            </a:pPr>
            <a:r>
              <a:rPr lang="pt-BR" dirty="0">
                <a:latin typeface="Roboto Mono"/>
                <a:ea typeface="Roboto Mono"/>
                <a:cs typeface="Roboto Mono"/>
                <a:sym typeface="Roboto Mono"/>
              </a:rPr>
              <a:t>	É importante notar que o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não tem quase nada a ver com a linguagem de programação chamada Java. O nome semelhante foi inspirado por considerações de marketing e não por bom senso. Quando o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estava sendo introduzido, a linguagem Java estava sendo fortemente comercializada e estava ganhando popularidade. Alguém achou que era uma boa ideia tentar acompanhar esse sucesso. Agora estamos presos ao nome.</a:t>
            </a:r>
          </a:p>
          <a:p>
            <a:pPr marL="152396">
              <a:buSzPts val="1800"/>
            </a:pPr>
            <a:r>
              <a:rPr lang="pt-BR" dirty="0">
                <a:latin typeface="Roboto Mono"/>
                <a:ea typeface="Roboto Mono"/>
                <a:cs typeface="Roboto Mono"/>
                <a:sym typeface="Roboto Mono"/>
              </a:rPr>
              <a:t>	</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946710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6"/>
            <a:ext cx="10450000" cy="1101534"/>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O que é </a:t>
            </a:r>
            <a:r>
              <a:rPr lang="pt-BR" sz="5600" dirty="0" err="1">
                <a:solidFill>
                  <a:srgbClr val="D6BA32"/>
                </a:solidFill>
                <a:latin typeface="Roboto Mono Medium"/>
                <a:ea typeface="Roboto Mono Medium"/>
                <a:cs typeface="Roboto Mono Medium"/>
                <a:sym typeface="Roboto Mono Medium"/>
              </a:rPr>
              <a:t>JavaScript</a:t>
            </a:r>
            <a:r>
              <a:rPr lang="pt-BR" sz="5600" dirty="0">
                <a:solidFill>
                  <a:srgbClr val="D6BA32"/>
                </a:solidFill>
                <a:latin typeface="Roboto Mono Medium"/>
                <a:ea typeface="Roboto Mono Medium"/>
                <a:cs typeface="Roboto Mono Medium"/>
                <a:sym typeface="Roboto Mono Medium"/>
              </a:rPr>
              <a:t>?</a:t>
            </a: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441196"/>
            <a:ext cx="11727200" cy="3916529"/>
          </a:xfrm>
          <a:prstGeom prst="rect">
            <a:avLst/>
          </a:prstGeom>
          <a:noFill/>
          <a:ln>
            <a:noFill/>
          </a:ln>
        </p:spPr>
        <p:txBody>
          <a:bodyPr spcFirstLastPara="1" wrap="square" lIns="121900" tIns="121900" rIns="121900" bIns="121900" anchor="t" anchorCtr="0">
            <a:noAutofit/>
          </a:bodyPr>
          <a:lstStyle/>
          <a:p>
            <a:pPr marL="152396">
              <a:buSzPts val="1800"/>
            </a:pPr>
            <a:r>
              <a:rPr lang="pt-BR" sz="2200" dirty="0">
                <a:latin typeface="Roboto Mono"/>
                <a:ea typeface="Roboto Mono"/>
                <a:cs typeface="Roboto Mono"/>
                <a:sym typeface="Roboto Mono"/>
              </a:rPr>
              <a:t>	</a:t>
            </a:r>
            <a:r>
              <a:rPr lang="pt-BR" dirty="0">
                <a:latin typeface="Roboto Mono"/>
                <a:ea typeface="Roboto Mono"/>
                <a:cs typeface="Roboto Mono"/>
                <a:sym typeface="Roboto Mono"/>
              </a:rPr>
              <a:t>Após sua adoção fora do Netscape, um documento padrão foi escrito para descrever como a linguagem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deveria funcionar para que os vários softwares que alegavam suportar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estivessem realmente falando sobre a mesma linguagem. Isso é chamado de padrão </a:t>
            </a:r>
            <a:r>
              <a:rPr lang="pt-BR" dirty="0" err="1">
                <a:latin typeface="Roboto Mono"/>
                <a:ea typeface="Roboto Mono"/>
                <a:cs typeface="Roboto Mono"/>
                <a:sym typeface="Roboto Mono"/>
              </a:rPr>
              <a:t>ECMAScript</a:t>
            </a:r>
            <a:r>
              <a:rPr lang="pt-BR" dirty="0">
                <a:latin typeface="Roboto Mono"/>
                <a:ea typeface="Roboto Mono"/>
                <a:cs typeface="Roboto Mono"/>
                <a:sym typeface="Roboto Mono"/>
              </a:rPr>
              <a:t>, em homenagem à organização </a:t>
            </a:r>
            <a:r>
              <a:rPr lang="pt-BR" dirty="0" err="1">
                <a:latin typeface="Roboto Mono"/>
                <a:ea typeface="Roboto Mono"/>
                <a:cs typeface="Roboto Mono"/>
                <a:sym typeface="Roboto Mono"/>
              </a:rPr>
              <a:t>Ecma</a:t>
            </a:r>
            <a:r>
              <a:rPr lang="pt-BR" dirty="0">
                <a:latin typeface="Roboto Mono"/>
                <a:ea typeface="Roboto Mono"/>
                <a:cs typeface="Roboto Mono"/>
                <a:sym typeface="Roboto Mono"/>
              </a:rPr>
              <a:t> </a:t>
            </a:r>
            <a:r>
              <a:rPr lang="pt-BR" dirty="0" err="1">
                <a:latin typeface="Roboto Mono"/>
                <a:ea typeface="Roboto Mono"/>
                <a:cs typeface="Roboto Mono"/>
                <a:sym typeface="Roboto Mono"/>
              </a:rPr>
              <a:t>International</a:t>
            </a:r>
            <a:r>
              <a:rPr lang="pt-BR" dirty="0">
                <a:latin typeface="Roboto Mono"/>
                <a:ea typeface="Roboto Mono"/>
                <a:cs typeface="Roboto Mono"/>
                <a:sym typeface="Roboto Mono"/>
              </a:rPr>
              <a:t> que fez a padronização. Na prática, os termos </a:t>
            </a:r>
            <a:r>
              <a:rPr lang="pt-BR" dirty="0" err="1">
                <a:latin typeface="Roboto Mono"/>
                <a:ea typeface="Roboto Mono"/>
                <a:cs typeface="Roboto Mono"/>
                <a:sym typeface="Roboto Mono"/>
              </a:rPr>
              <a:t>ECMAScript</a:t>
            </a:r>
            <a:r>
              <a:rPr lang="pt-BR" dirty="0">
                <a:latin typeface="Roboto Mono"/>
                <a:ea typeface="Roboto Mono"/>
                <a:cs typeface="Roboto Mono"/>
                <a:sym typeface="Roboto Mono"/>
              </a:rPr>
              <a:t> e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podem ser usados ​​de forma intercambiável – são dois nomes para a mesma linguagem.</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3763519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570451"/>
            <a:ext cx="10450000" cy="100668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Versões</a:t>
            </a:r>
            <a:endParaRPr sz="2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273417"/>
            <a:ext cx="11727200" cy="4584582"/>
          </a:xfrm>
          <a:prstGeom prst="rect">
            <a:avLst/>
          </a:prstGeom>
          <a:noFill/>
          <a:ln>
            <a:noFill/>
          </a:ln>
        </p:spPr>
        <p:txBody>
          <a:bodyPr spcFirstLastPara="1" wrap="square" lIns="121900" tIns="121900" rIns="121900" bIns="121900" anchor="t" anchorCtr="0">
            <a:noAutofit/>
          </a:bodyPr>
          <a:lstStyle/>
          <a:p>
            <a:pPr marL="152396">
              <a:buSzPts val="1800"/>
            </a:pPr>
            <a:r>
              <a:rPr lang="pt-BR" dirty="0">
                <a:latin typeface="Roboto Mono"/>
                <a:ea typeface="Roboto Mono"/>
                <a:cs typeface="Roboto Mono"/>
                <a:sym typeface="Roboto Mono"/>
              </a:rPr>
              <a:t>	Houve várias versões de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A versão 3 do </a:t>
            </a:r>
            <a:r>
              <a:rPr lang="pt-BR" dirty="0" err="1">
                <a:latin typeface="Roboto Mono"/>
                <a:ea typeface="Roboto Mono"/>
                <a:cs typeface="Roboto Mono"/>
                <a:sym typeface="Roboto Mono"/>
              </a:rPr>
              <a:t>ECMAScript</a:t>
            </a:r>
            <a:r>
              <a:rPr lang="pt-BR" dirty="0">
                <a:latin typeface="Roboto Mono"/>
                <a:ea typeface="Roboto Mono"/>
                <a:cs typeface="Roboto Mono"/>
                <a:sym typeface="Roboto Mono"/>
              </a:rPr>
              <a:t> foi a versão amplamente suportada na época da ascensão do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ao domínio, aproximadamente entre 2000 e 2010. Durante esse período, o trabalho estava em andamento em uma versão 4 ambiciosa, que planejava uma série de melhorias radicais e extensões para a linguagem. Mudar uma linguagem viva e amplamente usada de forma tão radical acabou sendo politicamente difícil, e o trabalho na versão 4 foi abandonado em 2008, levando a uma versão 5 muito menos ambiciosa, que fez apenas algumas melhorias incontroversas, saindo em 2009 Então, em 2015, foi lançada a versão 6, uma grande atualização que incluiu algumas das ideias planejadas para a versão 4. Desde então, tivemos novas e pequenas atualizações todos os anos.</a:t>
            </a:r>
            <a:endParaRPr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707666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570451"/>
            <a:ext cx="10450000" cy="100668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Versões</a:t>
            </a:r>
            <a:endParaRPr sz="2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114026"/>
            <a:ext cx="11727200" cy="4743973"/>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latin typeface="Roboto Mono"/>
                <a:ea typeface="Roboto Mono"/>
                <a:cs typeface="Roboto Mono"/>
                <a:sym typeface="Roboto Mono"/>
              </a:rPr>
              <a:t>		O fato de a linguagem estar evoluindo significa que os navegadores precisam acompanhar constantemente e, se você estiver usando um navegador mais antigo, ele pode não suportar todos os recursos. Os designers de linguagem têm o cuidado de não fazer alterações que possam quebrar os programas existentes, para que novos navegadores ainda possam executar programas antigos.</a:t>
            </a:r>
            <a:endParaRPr sz="1600"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2856846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570451"/>
            <a:ext cx="10450000" cy="100668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Versões</a:t>
            </a:r>
            <a:endParaRPr sz="2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114026"/>
            <a:ext cx="11727200" cy="4743973"/>
          </a:xfrm>
          <a:prstGeom prst="rect">
            <a:avLst/>
          </a:prstGeom>
          <a:noFill/>
          <a:ln>
            <a:noFill/>
          </a:ln>
        </p:spPr>
        <p:txBody>
          <a:bodyPr spcFirstLastPara="1" wrap="square" lIns="121900" tIns="121900" rIns="121900" bIns="121900" anchor="t" anchorCtr="0">
            <a:noAutofit/>
          </a:bodyPr>
          <a:lstStyle/>
          <a:p>
            <a:pPr marL="152396">
              <a:buSzPts val="1800"/>
            </a:pPr>
            <a:r>
              <a:rPr lang="pt-BR" sz="1600" dirty="0">
                <a:latin typeface="Roboto Mono"/>
                <a:ea typeface="Roboto Mono"/>
                <a:cs typeface="Roboto Mono"/>
                <a:sym typeface="Roboto Mono"/>
              </a:rPr>
              <a:t>	Os navegadores da Web não são as únicas plataformas nas quais o </a:t>
            </a:r>
            <a:r>
              <a:rPr lang="pt-BR" sz="1600" dirty="0" err="1">
                <a:latin typeface="Roboto Mono"/>
                <a:ea typeface="Roboto Mono"/>
                <a:cs typeface="Roboto Mono"/>
                <a:sym typeface="Roboto Mono"/>
              </a:rPr>
              <a:t>JavaScript</a:t>
            </a:r>
            <a:r>
              <a:rPr lang="pt-BR" sz="1600" dirty="0">
                <a:latin typeface="Roboto Mono"/>
                <a:ea typeface="Roboto Mono"/>
                <a:cs typeface="Roboto Mono"/>
                <a:sym typeface="Roboto Mono"/>
              </a:rPr>
              <a:t> é usado. Alguns bancos de dados, como </a:t>
            </a:r>
            <a:r>
              <a:rPr lang="pt-BR" sz="1600" dirty="0" err="1">
                <a:latin typeface="Roboto Mono"/>
                <a:ea typeface="Roboto Mono"/>
                <a:cs typeface="Roboto Mono"/>
                <a:sym typeface="Roboto Mono"/>
              </a:rPr>
              <a:t>MongoDB</a:t>
            </a:r>
            <a:r>
              <a:rPr lang="pt-BR" sz="1600" dirty="0">
                <a:latin typeface="Roboto Mono"/>
                <a:ea typeface="Roboto Mono"/>
                <a:cs typeface="Roboto Mono"/>
                <a:sym typeface="Roboto Mono"/>
              </a:rPr>
              <a:t> e </a:t>
            </a:r>
            <a:r>
              <a:rPr lang="pt-BR" sz="1600" dirty="0" err="1">
                <a:latin typeface="Roboto Mono"/>
                <a:ea typeface="Roboto Mono"/>
                <a:cs typeface="Roboto Mono"/>
                <a:sym typeface="Roboto Mono"/>
              </a:rPr>
              <a:t>CouchDB</a:t>
            </a:r>
            <a:r>
              <a:rPr lang="pt-BR" sz="1600" dirty="0">
                <a:latin typeface="Roboto Mono"/>
                <a:ea typeface="Roboto Mono"/>
                <a:cs typeface="Roboto Mono"/>
                <a:sym typeface="Roboto Mono"/>
              </a:rPr>
              <a:t>, usam </a:t>
            </a:r>
            <a:r>
              <a:rPr lang="pt-BR" sz="1600" dirty="0" err="1">
                <a:latin typeface="Roboto Mono"/>
                <a:ea typeface="Roboto Mono"/>
                <a:cs typeface="Roboto Mono"/>
                <a:sym typeface="Roboto Mono"/>
              </a:rPr>
              <a:t>JavaScript</a:t>
            </a:r>
            <a:r>
              <a:rPr lang="pt-BR" sz="1600" dirty="0">
                <a:latin typeface="Roboto Mono"/>
                <a:ea typeface="Roboto Mono"/>
                <a:cs typeface="Roboto Mono"/>
                <a:sym typeface="Roboto Mono"/>
              </a:rPr>
              <a:t> como linguagem de script e consulta. Várias plataformas para programação de desktop e servidor, principalmente o projeto Node.js (o assunto do Capítulo 20 ), fornecem um ambiente para programação </a:t>
            </a:r>
            <a:r>
              <a:rPr lang="pt-BR" sz="1600" dirty="0" err="1">
                <a:latin typeface="Roboto Mono"/>
                <a:ea typeface="Roboto Mono"/>
                <a:cs typeface="Roboto Mono"/>
                <a:sym typeface="Roboto Mono"/>
              </a:rPr>
              <a:t>JavaScript</a:t>
            </a:r>
            <a:r>
              <a:rPr lang="pt-BR" sz="1600" dirty="0">
                <a:latin typeface="Roboto Mono"/>
                <a:ea typeface="Roboto Mono"/>
                <a:cs typeface="Roboto Mono"/>
                <a:sym typeface="Roboto Mono"/>
              </a:rPr>
              <a:t> fora do navegador.</a:t>
            </a:r>
            <a:endParaRPr sz="1600"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552166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822121"/>
            <a:ext cx="10450000" cy="1006680"/>
          </a:xfrm>
          <a:prstGeom prst="rect">
            <a:avLst/>
          </a:prstGeom>
          <a:noFill/>
          <a:ln>
            <a:noFill/>
          </a:ln>
        </p:spPr>
        <p:txBody>
          <a:bodyPr spcFirstLastPara="1" wrap="square" lIns="121900" tIns="121900" rIns="121900" bIns="121900" anchor="t" anchorCtr="0">
            <a:noAutofit/>
          </a:bodyPr>
          <a:lstStyle/>
          <a:p>
            <a:pPr algn="ctr"/>
            <a:r>
              <a:rPr lang="pt-BR" sz="4800" dirty="0">
                <a:solidFill>
                  <a:srgbClr val="D6BA32"/>
                </a:solidFill>
                <a:latin typeface="Roboto Mono Medium"/>
                <a:ea typeface="Roboto Mono Medium"/>
                <a:cs typeface="Roboto Mono Medium"/>
                <a:sym typeface="Roboto Mono Medium"/>
              </a:rPr>
              <a:t>Pensando como um Programador</a:t>
            </a:r>
            <a:endParaRPr lang="pt-BR" sz="48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303111" y="2466363"/>
            <a:ext cx="11727200" cy="3301068"/>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latin typeface="Roboto Mono"/>
                <a:ea typeface="Roboto Mono"/>
                <a:cs typeface="Roboto Mono"/>
                <a:sym typeface="Roboto Mono"/>
              </a:rPr>
              <a:t>	Uma das coisas mais difíceis de aprender na programação não é a sintaxe que você precisa aprender, mas como aplicá-la para resolver problemas do mundo real. Você precisa começar a pensar como um programador - isso geralmente envolve olhar para as descrições do que seu programa precisa fazer e analisar como eles podem ser aplicados na solução real (prática), quais recursos de código são necessários para alcançar esse objetivo, e como fazê-los trabalhar em conjunto.</a:t>
            </a:r>
            <a:endParaRPr lang="pt-BR" sz="1600"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4166712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822121"/>
            <a:ext cx="10450000" cy="1006680"/>
          </a:xfrm>
          <a:prstGeom prst="rect">
            <a:avLst/>
          </a:prstGeom>
          <a:noFill/>
          <a:ln>
            <a:noFill/>
          </a:ln>
        </p:spPr>
        <p:txBody>
          <a:bodyPr spcFirstLastPara="1" wrap="square" lIns="121900" tIns="121900" rIns="121900" bIns="121900" anchor="t" anchorCtr="0">
            <a:noAutofit/>
          </a:bodyPr>
          <a:lstStyle/>
          <a:p>
            <a:pPr algn="ctr"/>
            <a:r>
              <a:rPr lang="pt-BR" sz="4400" dirty="0">
                <a:solidFill>
                  <a:srgbClr val="D6BA32"/>
                </a:solidFill>
                <a:latin typeface="Roboto Mono Medium"/>
                <a:ea typeface="Roboto Mono Medium"/>
                <a:cs typeface="Roboto Mono Medium"/>
                <a:sym typeface="Roboto Mono Medium"/>
              </a:rPr>
              <a:t>Exemplo — Jogo adivinhe um número</a:t>
            </a:r>
            <a:endParaRPr lang="pt-BR" sz="4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303111" y="2181138"/>
            <a:ext cx="11432913" cy="4152549"/>
          </a:xfrm>
          <a:prstGeom prst="rect">
            <a:avLst/>
          </a:prstGeom>
          <a:noFill/>
          <a:ln>
            <a:noFill/>
          </a:ln>
        </p:spPr>
        <p:txBody>
          <a:bodyPr spcFirstLastPara="1" wrap="square" lIns="121900" tIns="121900" rIns="121900" bIns="121900" anchor="t" anchorCtr="0">
            <a:noAutofit/>
          </a:bodyPr>
          <a:lstStyle/>
          <a:p>
            <a:pPr marL="152396">
              <a:buSzPts val="1800"/>
            </a:pPr>
            <a:r>
              <a:rPr lang="pt-BR" sz="2000" dirty="0">
                <a:latin typeface="Roboto Mono"/>
                <a:ea typeface="Roboto Mono"/>
                <a:cs typeface="Roboto Mono"/>
                <a:sym typeface="Roboto Mono"/>
              </a:rPr>
              <a:t>	Vamos imaginar as seguintes diretrizes para criar o jogo:</a:t>
            </a:r>
          </a:p>
          <a:p>
            <a:pPr marL="152396">
              <a:buSzPts val="1800"/>
            </a:pPr>
            <a:endParaRPr lang="pt-BR" sz="2000" dirty="0">
              <a:latin typeface="Roboto Mono"/>
              <a:ea typeface="Roboto Mono"/>
              <a:cs typeface="Roboto Mono"/>
              <a:sym typeface="Roboto Mono"/>
            </a:endParaRPr>
          </a:p>
          <a:p>
            <a:pPr marL="152396">
              <a:buSzPts val="1800"/>
            </a:pPr>
            <a:r>
              <a:rPr lang="pt-BR" sz="2000" dirty="0">
                <a:latin typeface="Roboto Mono"/>
                <a:ea typeface="Roboto Mono"/>
                <a:cs typeface="Roboto Mono"/>
                <a:sym typeface="Roboto Mono"/>
              </a:rPr>
              <a:t>	</a:t>
            </a:r>
            <a:r>
              <a:rPr lang="pt-BR" sz="1600" dirty="0">
                <a:latin typeface="Roboto Mono"/>
                <a:ea typeface="Roboto Mono"/>
                <a:cs typeface="Roboto Mono"/>
                <a:sym typeface="Roboto Mono"/>
              </a:rPr>
              <a:t>Quero que você crie um jogo simples do tipo adivinhe um número. Ele deve gerar um número aleatório de 1 a 100, depois desafiar o jogador a adivinhar o número em 10 rodadas. A cada rodada deve ser dito ao jogador se ele está certo ou errado, se estiver errado, deve ser dito se o palpite é muito baixo ou muito alto. Também deve ser mostrado ao jogador os números que ele tentou adivinhar anteriormente. O jogo termina se o jogador acertar o número ou acabarem o número de tentativas. Quando o jogo acabar, deve ser dado ao jogador a opção de jogar novamente. </a:t>
            </a:r>
          </a:p>
          <a:p>
            <a:pPr marL="152396">
              <a:buSzPts val="1800"/>
            </a:pPr>
            <a:endParaRPr lang="pt-BR" sz="2000" dirty="0">
              <a:latin typeface="Roboto Mono"/>
              <a:ea typeface="Roboto Mono"/>
              <a:cs typeface="Roboto Mono"/>
              <a:sym typeface="Roboto Mono"/>
            </a:endParaRPr>
          </a:p>
          <a:p>
            <a:pPr marL="152396">
              <a:buSzPts val="1800"/>
            </a:pPr>
            <a:r>
              <a:rPr lang="pt-BR" sz="2000" dirty="0">
                <a:latin typeface="Roboto Mono"/>
                <a:ea typeface="Roboto Mono"/>
                <a:cs typeface="Roboto Mono"/>
                <a:sym typeface="Roboto Mono"/>
              </a:rPr>
              <a:t> Olhando para o enunciado, a primeira coisa que devemos fazer é quebrá-lo em pequenas tarefas, Vamos fazer ?</a:t>
            </a:r>
          </a:p>
          <a:p>
            <a:pPr marL="152396">
              <a:buSzPts val="1800"/>
            </a:pPr>
            <a:endParaRPr lang="pt-BR" sz="1600"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4118776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822121"/>
            <a:ext cx="10450000" cy="1006680"/>
          </a:xfrm>
          <a:prstGeom prst="rect">
            <a:avLst/>
          </a:prstGeom>
          <a:noFill/>
          <a:ln>
            <a:noFill/>
          </a:ln>
        </p:spPr>
        <p:txBody>
          <a:bodyPr spcFirstLastPara="1" wrap="square" lIns="121900" tIns="121900" rIns="121900" bIns="121900" anchor="t" anchorCtr="0">
            <a:noAutofit/>
          </a:bodyPr>
          <a:lstStyle/>
          <a:p>
            <a:pPr algn="ctr"/>
            <a:r>
              <a:rPr lang="pt-BR" sz="4400" dirty="0">
                <a:solidFill>
                  <a:srgbClr val="D6BA32"/>
                </a:solidFill>
                <a:latin typeface="Roboto Mono Medium"/>
                <a:ea typeface="Roboto Mono Medium"/>
                <a:cs typeface="Roboto Mono Medium"/>
                <a:sym typeface="Roboto Mono Medium"/>
              </a:rPr>
              <a:t>Resposta — Jogo adivinhe um número</a:t>
            </a:r>
            <a:endParaRPr lang="pt-BR" sz="4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303111" y="1577130"/>
            <a:ext cx="11727200" cy="4756557"/>
          </a:xfrm>
          <a:prstGeom prst="rect">
            <a:avLst/>
          </a:prstGeom>
          <a:noFill/>
          <a:ln>
            <a:noFill/>
          </a:ln>
        </p:spPr>
        <p:txBody>
          <a:bodyPr spcFirstLastPara="1" wrap="square" lIns="121900" tIns="121900" rIns="121900" bIns="121900" anchor="t" anchorCtr="0">
            <a:noAutofit/>
          </a:bodyPr>
          <a:lstStyle/>
          <a:p>
            <a:pPr marL="609596" indent="-457200">
              <a:buSzPts val="1800"/>
              <a:buFont typeface="+mj-lt"/>
              <a:buAutoNum type="arabicPeriod"/>
            </a:pPr>
            <a:r>
              <a:rPr lang="pt-BR" sz="1600" dirty="0">
                <a:latin typeface="Roboto Mono"/>
                <a:ea typeface="Roboto Mono"/>
                <a:cs typeface="Roboto Mono"/>
                <a:sym typeface="Roboto Mono"/>
              </a:rPr>
              <a:t>Gerar um número aleatório entre 1 e 100.</a:t>
            </a:r>
          </a:p>
          <a:p>
            <a:pPr marL="609596" indent="-457200">
              <a:buSzPts val="1800"/>
              <a:buFont typeface="+mj-lt"/>
              <a:buAutoNum type="arabicPeriod"/>
            </a:pPr>
            <a:r>
              <a:rPr lang="pt-BR" sz="1600" dirty="0">
                <a:latin typeface="Roboto Mono"/>
                <a:ea typeface="Roboto Mono"/>
                <a:cs typeface="Roboto Mono"/>
                <a:sym typeface="Roboto Mono"/>
              </a:rPr>
              <a:t>Gravar o número do turno que o jogador está. Iniciar em 1.</a:t>
            </a:r>
          </a:p>
          <a:p>
            <a:pPr marL="609596" indent="-457200">
              <a:buSzPts val="1800"/>
              <a:buFont typeface="+mj-lt"/>
              <a:buAutoNum type="arabicPeriod"/>
            </a:pPr>
            <a:r>
              <a:rPr lang="pt-BR" sz="1600" dirty="0">
                <a:latin typeface="Roboto Mono"/>
                <a:ea typeface="Roboto Mono"/>
                <a:cs typeface="Roboto Mono"/>
                <a:sym typeface="Roboto Mono"/>
              </a:rPr>
              <a:t>Dar ao jogador uma forma de adivinhar o número.</a:t>
            </a:r>
          </a:p>
          <a:p>
            <a:pPr marL="609596" indent="-457200">
              <a:buSzPts val="1800"/>
              <a:buFont typeface="+mj-lt"/>
              <a:buAutoNum type="arabicPeriod"/>
            </a:pPr>
            <a:r>
              <a:rPr lang="pt-BR" sz="1600" dirty="0">
                <a:latin typeface="Roboto Mono"/>
                <a:ea typeface="Roboto Mono"/>
                <a:cs typeface="Roboto Mono"/>
                <a:sym typeface="Roboto Mono"/>
              </a:rPr>
              <a:t>Após a tentativa ter sido submetida, primeiro gravar em algum lugar para que o usuário possa ver as tentativas anteriores.</a:t>
            </a:r>
          </a:p>
          <a:p>
            <a:pPr marL="609596" indent="-457200">
              <a:buSzPts val="1800"/>
              <a:buFont typeface="+mj-lt"/>
              <a:buAutoNum type="arabicPeriod"/>
            </a:pPr>
            <a:r>
              <a:rPr lang="pt-BR" sz="1600" dirty="0">
                <a:latin typeface="Roboto Mono"/>
                <a:ea typeface="Roboto Mono"/>
                <a:cs typeface="Roboto Mono"/>
                <a:sym typeface="Roboto Mono"/>
              </a:rPr>
              <a:t>Depois, verificar se o palpite está correto.</a:t>
            </a:r>
          </a:p>
          <a:p>
            <a:pPr marL="609596" indent="-457200">
              <a:buSzPts val="1800"/>
              <a:buFont typeface="+mj-lt"/>
              <a:buAutoNum type="arabicPeriod"/>
            </a:pPr>
            <a:r>
              <a:rPr lang="pt-BR" sz="1600" dirty="0">
                <a:latin typeface="Roboto Mono"/>
                <a:ea typeface="Roboto Mono"/>
                <a:cs typeface="Roboto Mono"/>
                <a:sym typeface="Roboto Mono"/>
              </a:rPr>
              <a:t>Se estiver correto:</a:t>
            </a:r>
          </a:p>
          <a:p>
            <a:pPr marL="1123946" lvl="1" indent="-514350">
              <a:buSzPts val="1800"/>
              <a:buFont typeface="+mj-lt"/>
              <a:buAutoNum type="romanUcPeriod"/>
            </a:pPr>
            <a:r>
              <a:rPr lang="pt-BR" sz="1600" dirty="0">
                <a:latin typeface="Roboto Mono"/>
                <a:ea typeface="Roboto Mono"/>
                <a:cs typeface="Roboto Mono"/>
                <a:sym typeface="Roboto Mono"/>
              </a:rPr>
              <a:t>Escrever mensagem de parabéns.</a:t>
            </a:r>
          </a:p>
          <a:p>
            <a:pPr marL="1123946" lvl="1" indent="-514350">
              <a:buSzPts val="1800"/>
              <a:buFont typeface="+mj-lt"/>
              <a:buAutoNum type="romanUcPeriod"/>
            </a:pPr>
            <a:r>
              <a:rPr lang="pt-BR" sz="1600" dirty="0">
                <a:latin typeface="Roboto Mono"/>
                <a:ea typeface="Roboto Mono"/>
                <a:cs typeface="Roboto Mono"/>
                <a:sym typeface="Roboto Mono"/>
              </a:rPr>
              <a:t>Impedir que o jogador insira mais respostas (isso pode bugar o jogo).</a:t>
            </a:r>
          </a:p>
          <a:p>
            <a:pPr marL="1123946" lvl="1" indent="-514350">
              <a:buSzPts val="1800"/>
              <a:buFont typeface="+mj-lt"/>
              <a:buAutoNum type="romanUcPeriod"/>
            </a:pPr>
            <a:r>
              <a:rPr lang="pt-BR" sz="1600" dirty="0">
                <a:latin typeface="Roboto Mono"/>
                <a:ea typeface="Roboto Mono"/>
                <a:cs typeface="Roboto Mono"/>
                <a:sym typeface="Roboto Mono"/>
              </a:rPr>
              <a:t>Mostrar controle que permita ao jogador reiniciar o jogo.</a:t>
            </a:r>
          </a:p>
          <a:p>
            <a:pPr marL="609596" indent="-457200">
              <a:buSzPts val="1800"/>
              <a:buFont typeface="+mj-lt"/>
              <a:buAutoNum type="arabicPeriod"/>
            </a:pPr>
            <a:r>
              <a:rPr lang="pt-BR" sz="1600" dirty="0">
                <a:latin typeface="Roboto Mono"/>
                <a:ea typeface="Roboto Mono"/>
                <a:cs typeface="Roboto Mono"/>
                <a:sym typeface="Roboto Mono"/>
              </a:rPr>
              <a:t>Se o palpite estiver errado e o jogador ainda tem turnos sobrando:</a:t>
            </a:r>
          </a:p>
          <a:p>
            <a:pPr marL="1123946" lvl="1" indent="-514350">
              <a:buSzPts val="1800"/>
              <a:buFont typeface="+mj-lt"/>
              <a:buAutoNum type="romanUcPeriod"/>
            </a:pPr>
            <a:r>
              <a:rPr lang="pt-BR" sz="1600" dirty="0">
                <a:latin typeface="Roboto Mono"/>
                <a:ea typeface="Roboto Mono"/>
                <a:cs typeface="Roboto Mono"/>
                <a:sym typeface="Roboto Mono"/>
              </a:rPr>
              <a:t>Dizer ao jogador que ele está errado.</a:t>
            </a:r>
          </a:p>
          <a:p>
            <a:pPr marL="1123946" lvl="1" indent="-514350">
              <a:buSzPts val="1800"/>
              <a:buFont typeface="+mj-lt"/>
              <a:buAutoNum type="romanUcPeriod"/>
            </a:pPr>
            <a:r>
              <a:rPr lang="pt-BR" sz="1600" dirty="0">
                <a:latin typeface="Roboto Mono"/>
                <a:ea typeface="Roboto Mono"/>
                <a:cs typeface="Roboto Mono"/>
                <a:sym typeface="Roboto Mono"/>
              </a:rPr>
              <a:t>Permitir que ele insira outra resposta.</a:t>
            </a:r>
          </a:p>
          <a:p>
            <a:pPr marL="1123946" lvl="1" indent="-514350">
              <a:buSzPts val="1800"/>
              <a:buFont typeface="+mj-lt"/>
              <a:buAutoNum type="romanUcPeriod"/>
            </a:pPr>
            <a:r>
              <a:rPr lang="pt-BR" sz="1600" dirty="0">
                <a:latin typeface="Roboto Mono"/>
                <a:ea typeface="Roboto Mono"/>
                <a:cs typeface="Roboto Mono"/>
                <a:sym typeface="Roboto Mono"/>
              </a:rPr>
              <a:t>Incrementar o número do turno em 1.</a:t>
            </a:r>
          </a:p>
          <a:p>
            <a:pPr marL="609596" indent="-457200">
              <a:buSzPts val="1800"/>
              <a:buFont typeface="+mj-lt"/>
              <a:buAutoNum type="arabicPeriod"/>
            </a:pPr>
            <a:r>
              <a:rPr lang="pt-BR" sz="1600" dirty="0">
                <a:latin typeface="Roboto Mono"/>
                <a:ea typeface="Roboto Mono"/>
                <a:cs typeface="Roboto Mono"/>
                <a:sym typeface="Roboto Mono"/>
              </a:rPr>
              <a:t>Se o jogador está errado mas não tem turnos sobrando:</a:t>
            </a:r>
          </a:p>
          <a:p>
            <a:pPr marL="1123946" lvl="1" indent="-514350">
              <a:buSzPts val="1800"/>
              <a:buFont typeface="+mj-lt"/>
              <a:buAutoNum type="romanUcPeriod"/>
            </a:pPr>
            <a:r>
              <a:rPr lang="pt-BR" sz="1600" dirty="0">
                <a:latin typeface="Roboto Mono"/>
                <a:ea typeface="Roboto Mono"/>
                <a:cs typeface="Roboto Mono"/>
                <a:sym typeface="Roboto Mono"/>
              </a:rPr>
              <a:t>Dizer ao jogador que o jogo acabou.</a:t>
            </a:r>
          </a:p>
          <a:p>
            <a:pPr marL="1123946" lvl="1" indent="-514350">
              <a:buSzPts val="1800"/>
              <a:buFont typeface="+mj-lt"/>
              <a:buAutoNum type="romanUcPeriod"/>
            </a:pPr>
            <a:r>
              <a:rPr lang="pt-BR" sz="1600" dirty="0">
                <a:latin typeface="Roboto Mono"/>
                <a:ea typeface="Roboto Mono"/>
                <a:cs typeface="Roboto Mono"/>
                <a:sym typeface="Roboto Mono"/>
              </a:rPr>
              <a:t>Impedir que o jogador insira mais respostas (isso pode bugar o jogo).</a:t>
            </a:r>
          </a:p>
          <a:p>
            <a:pPr marL="1123946" lvl="1" indent="-514350">
              <a:buSzPts val="1800"/>
              <a:buFont typeface="+mj-lt"/>
              <a:buAutoNum type="romanUcPeriod"/>
            </a:pPr>
            <a:r>
              <a:rPr lang="pt-BR" sz="1600" dirty="0">
                <a:latin typeface="Roboto Mono"/>
                <a:ea typeface="Roboto Mono"/>
                <a:cs typeface="Roboto Mono"/>
                <a:sym typeface="Roboto Mono"/>
              </a:rPr>
              <a:t>Mostrar controle que permita ao jogador reiniciar o jogo.</a:t>
            </a:r>
          </a:p>
          <a:p>
            <a:pPr marL="609596" indent="-457200">
              <a:buSzPts val="1800"/>
              <a:buFont typeface="+mj-lt"/>
              <a:buAutoNum type="arabicPeriod"/>
            </a:pPr>
            <a:r>
              <a:rPr lang="pt-BR" sz="1600" dirty="0">
                <a:latin typeface="Roboto Mono"/>
                <a:ea typeface="Roboto Mono"/>
                <a:cs typeface="Roboto Mono"/>
                <a:sym typeface="Roboto Mono"/>
              </a:rPr>
              <a:t>Quando reiniciar, tenha certeza de resetar todas as variáveis e a interface do jogo, então volte para o passo 1.</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364852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822121"/>
            <a:ext cx="10450000" cy="1006680"/>
          </a:xfrm>
          <a:prstGeom prst="rect">
            <a:avLst/>
          </a:prstGeom>
          <a:noFill/>
          <a:ln>
            <a:noFill/>
          </a:ln>
        </p:spPr>
        <p:txBody>
          <a:bodyPr spcFirstLastPara="1" wrap="square" lIns="121900" tIns="121900" rIns="121900" bIns="121900" anchor="t" anchorCtr="0">
            <a:noAutofit/>
          </a:bodyPr>
          <a:lstStyle/>
          <a:p>
            <a:pPr algn="ctr"/>
            <a:r>
              <a:rPr lang="pt-BR" sz="4400" dirty="0">
                <a:solidFill>
                  <a:srgbClr val="D6BA32"/>
                </a:solidFill>
                <a:latin typeface="Roboto Mono Medium"/>
                <a:ea typeface="Roboto Mono Medium"/>
                <a:cs typeface="Roboto Mono Medium"/>
                <a:sym typeface="Roboto Mono Medium"/>
              </a:rPr>
              <a:t>Nossos Primeiros scripts</a:t>
            </a:r>
            <a:endParaRPr lang="pt-BR" sz="4400" dirty="0">
              <a:solidFill>
                <a:srgbClr val="264DE3"/>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303111" y="1828801"/>
            <a:ext cx="11727200" cy="4504886"/>
          </a:xfrm>
          <a:prstGeom prst="rect">
            <a:avLst/>
          </a:prstGeom>
          <a:noFill/>
          <a:ln>
            <a:noFill/>
          </a:ln>
        </p:spPr>
        <p:txBody>
          <a:bodyPr spcFirstLastPara="1" wrap="square" lIns="121900" tIns="121900" rIns="121900" bIns="121900" anchor="t" anchorCtr="0">
            <a:noAutofit/>
          </a:bodyPr>
          <a:lstStyle/>
          <a:p>
            <a:pPr marL="152396">
              <a:buSzPts val="1800"/>
            </a:pPr>
            <a:r>
              <a:rPr lang="pt-BR" sz="1600" dirty="0">
                <a:latin typeface="Roboto Mono"/>
                <a:ea typeface="Roboto Mono"/>
                <a:cs typeface="Roboto Mono"/>
                <a:sym typeface="Roboto Mono"/>
              </a:rPr>
              <a:t>	Ficar confortável com o Javascript é um pouco mais difícil do que ficar confortável com HTML e CSS. Vamos ter que começar aos poucos e continuar em pequenos passos. Para começar, vamos adicionar alguns scripts Javascript básicos à  página, criando um exemplo de "Olá mundo! ".</a:t>
            </a:r>
          </a:p>
          <a:p>
            <a:pPr marL="152396">
              <a:buSzPts val="1800"/>
            </a:pPr>
            <a:endParaRPr lang="pt-BR" sz="1600" dirty="0">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alert</a:t>
            </a:r>
            <a:r>
              <a:rPr lang="pt-BR" sz="1600" dirty="0">
                <a:latin typeface="Roboto Mono"/>
                <a:ea typeface="Roboto Mono"/>
                <a:cs typeface="Roboto Mono"/>
                <a:sym typeface="Roboto Mono"/>
              </a:rPr>
              <a:t>("</a:t>
            </a:r>
            <a:r>
              <a:rPr lang="pt-BR" sz="1600" dirty="0">
                <a:solidFill>
                  <a:srgbClr val="FFDA3E"/>
                </a:solidFill>
                <a:latin typeface="Roboto Mono"/>
                <a:ea typeface="Roboto Mono"/>
                <a:cs typeface="Roboto Mono"/>
                <a:sym typeface="Roboto Mono"/>
              </a:rPr>
              <a:t>Olá Mundo</a:t>
            </a:r>
            <a:r>
              <a:rPr lang="pt-BR" sz="1600" dirty="0">
                <a:latin typeface="Roboto Mono"/>
                <a:ea typeface="Roboto Mono"/>
                <a:cs typeface="Roboto Mono"/>
                <a:sym typeface="Roboto Mono"/>
              </a:rPr>
              <a:t>");</a:t>
            </a:r>
          </a:p>
          <a:p>
            <a:pPr marL="609596" lvl="1">
              <a:buSzPts val="1800"/>
            </a:pPr>
            <a:endParaRPr lang="pt-BR" sz="1600" dirty="0">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confirm</a:t>
            </a:r>
            <a:r>
              <a:rPr lang="pt-BR" sz="1600" dirty="0">
                <a:latin typeface="Roboto Mono"/>
                <a:ea typeface="Roboto Mono"/>
                <a:cs typeface="Roboto Mono"/>
                <a:sym typeface="Roboto Mono"/>
              </a:rPr>
              <a:t>("</a:t>
            </a:r>
            <a:r>
              <a:rPr lang="pt-BR" sz="1600" dirty="0">
                <a:solidFill>
                  <a:srgbClr val="FFDA3E"/>
                </a:solidFill>
                <a:latin typeface="Roboto Mono"/>
                <a:ea typeface="Roboto Mono"/>
                <a:cs typeface="Roboto Mono"/>
                <a:sym typeface="Roboto Mono"/>
              </a:rPr>
              <a:t>Tem certeza que deseja aprender Javascript ?</a:t>
            </a:r>
            <a:r>
              <a:rPr lang="pt-BR" sz="1600" dirty="0">
                <a:latin typeface="Roboto Mono"/>
                <a:ea typeface="Roboto Mono"/>
                <a:cs typeface="Roboto Mono"/>
                <a:sym typeface="Roboto Mono"/>
              </a:rPr>
              <a:t>");</a:t>
            </a:r>
          </a:p>
          <a:p>
            <a:pPr marL="609596" lvl="1">
              <a:buSzPts val="1800"/>
            </a:pPr>
            <a:endParaRPr lang="pt-BR" sz="1600" dirty="0">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prompt</a:t>
            </a:r>
            <a:r>
              <a:rPr lang="pt-BR" sz="1600" dirty="0">
                <a:latin typeface="Roboto Mono"/>
                <a:ea typeface="Roboto Mono"/>
                <a:cs typeface="Roboto Mono"/>
                <a:sym typeface="Roboto Mono"/>
              </a:rPr>
              <a:t>("</a:t>
            </a:r>
            <a:r>
              <a:rPr lang="pt-BR" sz="1600" dirty="0">
                <a:solidFill>
                  <a:srgbClr val="FFDA3E"/>
                </a:solidFill>
                <a:latin typeface="Roboto Mono"/>
                <a:ea typeface="Roboto Mono"/>
                <a:cs typeface="Roboto Mono"/>
                <a:sym typeface="Roboto Mono"/>
              </a:rPr>
              <a:t>Por favor diga seu nome</a:t>
            </a:r>
            <a:r>
              <a:rPr lang="pt-BR" sz="1600" dirty="0">
                <a:latin typeface="Roboto Mono"/>
                <a:ea typeface="Roboto Mono"/>
                <a:cs typeface="Roboto Mono"/>
                <a:sym typeface="Roboto Mono"/>
              </a:rPr>
              <a:t>", "</a:t>
            </a:r>
            <a:r>
              <a:rPr lang="pt-BR" sz="1600" dirty="0">
                <a:solidFill>
                  <a:srgbClr val="FFDA3E"/>
                </a:solidFill>
                <a:latin typeface="Roboto Mono"/>
                <a:ea typeface="Roboto Mono"/>
                <a:cs typeface="Roboto Mono"/>
                <a:sym typeface="Roboto Mono"/>
              </a:rPr>
              <a:t>Seu nome aqui</a:t>
            </a:r>
            <a:r>
              <a:rPr lang="pt-BR" sz="1600" dirty="0">
                <a:latin typeface="Roboto Mono"/>
                <a:ea typeface="Roboto Mono"/>
                <a:cs typeface="Roboto Mono"/>
                <a:sym typeface="Roboto Mono"/>
              </a:rPr>
              <a:t>");</a:t>
            </a:r>
          </a:p>
          <a:p>
            <a:pPr marL="609596" lvl="1">
              <a:buSzPts val="1800"/>
            </a:pPr>
            <a:endParaRPr lang="pt-BR" sz="1600" dirty="0">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alert</a:t>
            </a:r>
            <a:r>
              <a:rPr lang="pt-BR" sz="1600" dirty="0">
                <a:latin typeface="Roboto Mono"/>
                <a:ea typeface="Roboto Mono"/>
                <a:cs typeface="Roboto Mono"/>
                <a:sym typeface="Roboto Mono"/>
              </a:rPr>
              <a:t>(" </a:t>
            </a:r>
            <a:r>
              <a:rPr lang="pt-BR" sz="1600" dirty="0">
                <a:solidFill>
                  <a:srgbClr val="FFDA3E"/>
                </a:solidFill>
                <a:latin typeface="Roboto Mono"/>
                <a:ea typeface="Roboto Mono"/>
                <a:cs typeface="Roboto Mono"/>
                <a:sym typeface="Roboto Mono"/>
              </a:rPr>
              <a:t>Olá </a:t>
            </a:r>
            <a:r>
              <a:rPr lang="pt-BR" sz="1600" dirty="0">
                <a:latin typeface="Roboto Mono"/>
                <a:ea typeface="Roboto Mono"/>
                <a:cs typeface="Roboto Mono"/>
                <a:sym typeface="Roboto Mono"/>
              </a:rPr>
              <a:t>" + </a:t>
            </a: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prompt</a:t>
            </a:r>
            <a:r>
              <a:rPr lang="pt-BR" sz="1600" dirty="0">
                <a:latin typeface="Roboto Mono"/>
                <a:ea typeface="Roboto Mono"/>
                <a:cs typeface="Roboto Mono"/>
                <a:sym typeface="Roboto Mono"/>
              </a:rPr>
              <a:t>("</a:t>
            </a:r>
            <a:r>
              <a:rPr lang="pt-BR" sz="1600" dirty="0">
                <a:solidFill>
                  <a:srgbClr val="FFDA3E"/>
                </a:solidFill>
                <a:latin typeface="Roboto Mono"/>
                <a:ea typeface="Roboto Mono"/>
                <a:cs typeface="Roboto Mono"/>
                <a:sym typeface="Roboto Mono"/>
              </a:rPr>
              <a:t>Por favor diga seu nome</a:t>
            </a:r>
            <a:r>
              <a:rPr lang="pt-BR" sz="1600" dirty="0">
                <a:latin typeface="Roboto Mono"/>
                <a:ea typeface="Roboto Mono"/>
                <a:cs typeface="Roboto Mono"/>
                <a:sym typeface="Roboto Mono"/>
              </a:rPr>
              <a:t>", "</a:t>
            </a:r>
            <a:r>
              <a:rPr lang="pt-BR" sz="1600" dirty="0">
                <a:solidFill>
                  <a:srgbClr val="FFDA3E"/>
                </a:solidFill>
                <a:latin typeface="Roboto Mono"/>
                <a:ea typeface="Roboto Mono"/>
                <a:cs typeface="Roboto Mono"/>
                <a:sym typeface="Roboto Mono"/>
              </a:rPr>
              <a:t>Seu nome aqui</a:t>
            </a:r>
            <a:r>
              <a:rPr lang="pt-BR" sz="1600" dirty="0">
                <a:latin typeface="Roboto Mono"/>
                <a:ea typeface="Roboto Mono"/>
                <a:cs typeface="Roboto Mono"/>
                <a:sym typeface="Roboto Mono"/>
              </a:rPr>
              <a:t>") + "</a:t>
            </a:r>
            <a:r>
              <a:rPr lang="pt-BR" sz="1600" dirty="0">
                <a:solidFill>
                  <a:srgbClr val="FFDA3E"/>
                </a:solidFill>
                <a:latin typeface="Roboto Mono"/>
                <a:ea typeface="Roboto Mono"/>
                <a:cs typeface="Roboto Mono"/>
                <a:sym typeface="Roboto Mono"/>
              </a:rPr>
              <a:t>Seja Bem vindo</a:t>
            </a:r>
            <a:r>
              <a:rPr lang="pt-BR" sz="1600" dirty="0">
                <a:latin typeface="Roboto Mono"/>
                <a:ea typeface="Roboto Mono"/>
                <a:cs typeface="Roboto Mono"/>
                <a:sym typeface="Roboto Mono"/>
              </a:rPr>
              <a:t>");</a:t>
            </a:r>
          </a:p>
          <a:p>
            <a:pPr marL="609596" lvl="1">
              <a:buSzPts val="1800"/>
            </a:pPr>
            <a:endParaRPr lang="pt-BR" sz="1600" dirty="0">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console</a:t>
            </a:r>
            <a:r>
              <a:rPr lang="pt-BR" sz="1600" dirty="0" err="1">
                <a:latin typeface="Roboto Mono"/>
                <a:ea typeface="Roboto Mono"/>
                <a:cs typeface="Roboto Mono"/>
                <a:sym typeface="Roboto Mono"/>
              </a:rPr>
              <a:t>.</a:t>
            </a:r>
            <a:r>
              <a:rPr lang="pt-BR" sz="1600" dirty="0" err="1">
                <a:solidFill>
                  <a:srgbClr val="C00000"/>
                </a:solidFill>
                <a:latin typeface="Roboto Mono"/>
                <a:ea typeface="Roboto Mono"/>
                <a:cs typeface="Roboto Mono"/>
                <a:sym typeface="Roboto Mono"/>
              </a:rPr>
              <a:t>error</a:t>
            </a:r>
            <a:r>
              <a:rPr lang="pt-BR" sz="1600" dirty="0">
                <a:latin typeface="Roboto Mono"/>
                <a:ea typeface="Roboto Mono"/>
                <a:cs typeface="Roboto Mono"/>
                <a:sym typeface="Roboto Mono"/>
              </a:rPr>
              <a:t>(" </a:t>
            </a:r>
            <a:r>
              <a:rPr lang="pt-BR" sz="1600" dirty="0">
                <a:solidFill>
                  <a:srgbClr val="FFDA3E"/>
                </a:solidFill>
                <a:latin typeface="Roboto Mono"/>
                <a:ea typeface="Roboto Mono"/>
                <a:cs typeface="Roboto Mono"/>
                <a:sym typeface="Roboto Mono"/>
              </a:rPr>
              <a:t>Ocorreu um erro.</a:t>
            </a:r>
            <a:r>
              <a:rPr lang="pt-BR" sz="1600" dirty="0">
                <a:latin typeface="Roboto Mono"/>
                <a:ea typeface="Roboto Mono"/>
                <a:cs typeface="Roboto Mono"/>
                <a:sym typeface="Roboto Mono"/>
              </a:rPr>
              <a:t>");</a:t>
            </a:r>
          </a:p>
          <a:p>
            <a:pPr marL="609596" lvl="1">
              <a:buSzPts val="1800"/>
            </a:pPr>
            <a:endParaRPr lang="pt-BR" sz="1600" dirty="0">
              <a:solidFill>
                <a:srgbClr val="F47920"/>
              </a:solidFill>
              <a:latin typeface="Roboto Mono"/>
              <a:ea typeface="Roboto Mono"/>
              <a:cs typeface="Roboto Mono"/>
              <a:sym typeface="Roboto Mono"/>
            </a:endParaRPr>
          </a:p>
          <a:p>
            <a:pPr marL="609596" lvl="1">
              <a:buSzPts val="1800"/>
            </a:pPr>
            <a:r>
              <a:rPr lang="pt-BR" sz="1600" dirty="0" err="1">
                <a:solidFill>
                  <a:srgbClr val="F47920"/>
                </a:solidFill>
                <a:latin typeface="Roboto Mono"/>
                <a:ea typeface="Roboto Mono"/>
                <a:cs typeface="Roboto Mono"/>
                <a:sym typeface="Roboto Mono"/>
              </a:rPr>
              <a:t>window</a:t>
            </a:r>
            <a:r>
              <a:rPr lang="pt-BR" sz="1600" dirty="0" err="1">
                <a:latin typeface="Roboto Mono"/>
                <a:ea typeface="Roboto Mono"/>
                <a:cs typeface="Roboto Mono"/>
                <a:sym typeface="Roboto Mono"/>
              </a:rPr>
              <a:t>.</a:t>
            </a:r>
            <a:r>
              <a:rPr lang="pt-BR" sz="1600" dirty="0" err="1">
                <a:solidFill>
                  <a:srgbClr val="D6BA32"/>
                </a:solidFill>
                <a:latin typeface="Roboto Mono"/>
                <a:ea typeface="Roboto Mono"/>
                <a:cs typeface="Roboto Mono"/>
                <a:sym typeface="Roboto Mono"/>
              </a:rPr>
              <a:t>console</a:t>
            </a:r>
            <a:r>
              <a:rPr lang="pt-BR" sz="1600" dirty="0" err="1">
                <a:latin typeface="Roboto Mono"/>
                <a:ea typeface="Roboto Mono"/>
                <a:cs typeface="Roboto Mono"/>
                <a:sym typeface="Roboto Mono"/>
              </a:rPr>
              <a:t>.</a:t>
            </a:r>
            <a:r>
              <a:rPr lang="pt-BR" sz="1600" dirty="0" err="1">
                <a:solidFill>
                  <a:srgbClr val="C00000"/>
                </a:solidFill>
                <a:latin typeface="Roboto Mono"/>
                <a:ea typeface="Roboto Mono"/>
                <a:cs typeface="Roboto Mono"/>
                <a:sym typeface="Roboto Mono"/>
              </a:rPr>
              <a:t>warn</a:t>
            </a:r>
            <a:r>
              <a:rPr lang="pt-BR" sz="1600" dirty="0">
                <a:solidFill>
                  <a:srgbClr val="FFDA3E"/>
                </a:solidFill>
                <a:latin typeface="Roboto Mono"/>
                <a:ea typeface="Roboto Mono"/>
                <a:cs typeface="Roboto Mono"/>
                <a:sym typeface="Roboto Mono"/>
              </a:rPr>
              <a:t>(" Isto é somente um alerta !</a:t>
            </a:r>
            <a:r>
              <a:rPr lang="pt-BR" sz="1600" dirty="0">
                <a:latin typeface="Roboto Mono"/>
                <a:ea typeface="Roboto Mono"/>
                <a:cs typeface="Roboto Mono"/>
                <a:sym typeface="Roboto Mono"/>
              </a:rPr>
              <a:t>");</a:t>
            </a:r>
          </a:p>
          <a:p>
            <a:pPr marL="609596" lvl="1">
              <a:buSzPts val="1800"/>
            </a:pPr>
            <a:endParaRPr lang="pt-BR" sz="1600" dirty="0">
              <a:solidFill>
                <a:srgbClr val="F47920"/>
              </a:solidFill>
              <a:latin typeface="Roboto Mono"/>
              <a:ea typeface="Roboto Mono"/>
              <a:cs typeface="Roboto Mono"/>
              <a:sym typeface="Roboto Mono"/>
            </a:endParaRPr>
          </a:p>
          <a:p>
            <a:pPr marL="609596" lvl="1">
              <a:buSzPts val="1800"/>
            </a:pPr>
            <a:r>
              <a:rPr lang="pt-BR" sz="1600" dirty="0">
                <a:solidFill>
                  <a:srgbClr val="F47920"/>
                </a:solidFill>
                <a:latin typeface="Roboto Mono"/>
                <a:ea typeface="Roboto Mono"/>
                <a:cs typeface="Roboto Mono"/>
                <a:sym typeface="Roboto Mono"/>
              </a:rPr>
              <a:t>window</a:t>
            </a:r>
            <a:r>
              <a:rPr lang="pt-BR" sz="1600" dirty="0">
                <a:latin typeface="Roboto Mono"/>
                <a:ea typeface="Roboto Mono"/>
                <a:cs typeface="Roboto Mono"/>
                <a:sym typeface="Roboto Mono"/>
              </a:rPr>
              <a:t>.</a:t>
            </a:r>
            <a:r>
              <a:rPr lang="pt-BR" sz="1600" dirty="0">
                <a:solidFill>
                  <a:srgbClr val="D6BA32"/>
                </a:solidFill>
                <a:latin typeface="Roboto Mono"/>
                <a:ea typeface="Roboto Mono"/>
                <a:cs typeface="Roboto Mono"/>
                <a:sym typeface="Roboto Mono"/>
              </a:rPr>
              <a:t>console</a:t>
            </a:r>
            <a:r>
              <a:rPr lang="pt-BR" sz="1600" dirty="0">
                <a:latin typeface="Roboto Mono"/>
                <a:ea typeface="Roboto Mono"/>
                <a:cs typeface="Roboto Mono"/>
                <a:sym typeface="Roboto Mono"/>
              </a:rPr>
              <a:t>.</a:t>
            </a:r>
            <a:r>
              <a:rPr lang="pt-BR" sz="1600" dirty="0">
                <a:solidFill>
                  <a:srgbClr val="C00000"/>
                </a:solidFill>
                <a:latin typeface="Roboto Mono"/>
                <a:ea typeface="Roboto Mono"/>
                <a:cs typeface="Roboto Mono"/>
                <a:sym typeface="Roboto Mono"/>
              </a:rPr>
              <a:t>log</a:t>
            </a:r>
            <a:r>
              <a:rPr lang="pt-BR" sz="1600" dirty="0">
                <a:solidFill>
                  <a:srgbClr val="FFDA3E"/>
                </a:solidFill>
                <a:latin typeface="Roboto Mono"/>
                <a:ea typeface="Roboto Mono"/>
                <a:cs typeface="Roboto Mono"/>
                <a:sym typeface="Roboto Mono"/>
              </a:rPr>
              <a:t>(“ Isto é apenas uma mensagem.</a:t>
            </a:r>
            <a:r>
              <a:rPr lang="pt-BR" sz="1600" dirty="0">
                <a:latin typeface="Roboto Mono"/>
                <a:ea typeface="Roboto Mono"/>
                <a:cs typeface="Roboto Mono"/>
                <a:sym typeface="Roboto Mono"/>
              </a:rPr>
              <a:t>");</a:t>
            </a:r>
          </a:p>
          <a:p>
            <a:pPr marL="609596" lvl="1">
              <a:buSzPts val="1800"/>
            </a:pPr>
            <a:endParaRPr lang="pt-BR" sz="1600" dirty="0">
              <a:latin typeface="Roboto Mono"/>
              <a:ea typeface="Roboto Mono"/>
              <a:cs typeface="Roboto Mono"/>
              <a:sym typeface="Roboto Mono"/>
            </a:endParaRPr>
          </a:p>
          <a:p>
            <a:pPr marL="609596" lvl="1">
              <a:buSzPts val="1800"/>
            </a:pPr>
            <a:endParaRPr lang="pt-BR" sz="1600" dirty="0">
              <a:latin typeface="Roboto Mono"/>
              <a:ea typeface="Roboto Mono"/>
              <a:cs typeface="Roboto Mono"/>
              <a:sym typeface="Roboto Mono"/>
            </a:endParaRPr>
          </a:p>
          <a:p>
            <a:pPr marL="609596" lvl="1">
              <a:buSzPts val="1800"/>
            </a:pPr>
            <a:endParaRPr lang="pt-BR" sz="1600"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01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313521691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3403</TotalTime>
  <Words>1185</Words>
  <Application>Microsoft Office PowerPoint</Application>
  <PresentationFormat>Widescreen</PresentationFormat>
  <Paragraphs>69</Paragraphs>
  <Slides>11</Slides>
  <Notes>11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11</vt:i4>
      </vt:variant>
    </vt:vector>
  </HeadingPairs>
  <TitlesOfParts>
    <vt:vector size="17" baseType="lpstr">
      <vt:lpstr>Arial</vt:lpstr>
      <vt:lpstr>Calibri</vt:lpstr>
      <vt:lpstr>Calibri Light</vt:lpstr>
      <vt:lpstr>Roboto Mono</vt:lpstr>
      <vt:lpstr>Roboto Mono Medium</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João Henrique Cunha Rangel</dc:creator>
  <cp:lastModifiedBy>Marcelo Vieira</cp:lastModifiedBy>
  <cp:revision>35</cp:revision>
  <dcterms:created xsi:type="dcterms:W3CDTF">2018-09-27T21:57:56Z</dcterms:created>
  <dcterms:modified xsi:type="dcterms:W3CDTF">2022-06-18T20:41:26Z</dcterms:modified>
</cp:coreProperties>
</file>