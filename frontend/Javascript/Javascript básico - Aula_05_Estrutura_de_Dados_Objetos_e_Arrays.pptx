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769" r:id="rId2"/>
    <p:sldId id="797" r:id="rId3"/>
    <p:sldId id="801" r:id="rId4"/>
    <p:sldId id="802" r:id="rId5"/>
    <p:sldId id="807" r:id="rId6"/>
    <p:sldId id="798" r:id="rId7"/>
    <p:sldId id="799" r:id="rId8"/>
    <p:sldId id="800" r:id="rId9"/>
    <p:sldId id="803" r:id="rId10"/>
    <p:sldId id="804" r:id="rId11"/>
    <p:sldId id="805" r:id="rId12"/>
    <p:sldId id="808" r:id="rId13"/>
    <p:sldId id="809" r:id="rId14"/>
    <p:sldId id="806" r:id="rId15"/>
    <p:sldId id="810" r:id="rId16"/>
    <p:sldId id="811" r:id="rId17"/>
    <p:sldId id="812" r:id="rId18"/>
    <p:sldId id="813" r:id="rId19"/>
    <p:sldId id="814" r:id="rId20"/>
    <p:sldId id="818" r:id="rId21"/>
    <p:sldId id="815" r:id="rId22"/>
    <p:sldId id="816" r:id="rId23"/>
    <p:sldId id="817" r:id="rId2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3E"/>
    <a:srgbClr val="D6BA32"/>
    <a:srgbClr val="F47920"/>
    <a:srgbClr val="1572B6"/>
    <a:srgbClr val="35A8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C8844-F009-45FC-92E0-5330E07D2391}" type="datetimeFigureOut">
              <a:rPr lang="pt-BR" smtClean="0"/>
              <a:t>25/06/2022</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88C18-FEF5-4A10-8A62-F4039403FDD5}" type="slidenum">
              <a:rPr lang="pt-BR" smtClean="0"/>
              <a:t>‹nº›</a:t>
            </a:fld>
            <a:endParaRPr lang="pt-BR"/>
          </a:p>
        </p:txBody>
      </p:sp>
    </p:spTree>
    <p:extLst>
      <p:ext uri="{BB962C8B-B14F-4D97-AF65-F5344CB8AC3E}">
        <p14:creationId xmlns:p14="http://schemas.microsoft.com/office/powerpoint/2010/main" val="28920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61b130686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61b130686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452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510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5654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3575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8227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334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397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8612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3470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973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9649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013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5543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656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290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4369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2951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122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6537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1437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3176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9539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5525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10734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4098692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26987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604696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7094C45-9102-437E-AE66-F57C174F1152}" type="datetimeFigureOut">
              <a:rPr lang="pt-BR" smtClean="0"/>
              <a:t>25/06/2022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72101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094C45-9102-437E-AE66-F57C174F1152}" type="datetimeFigureOut">
              <a:rPr lang="pt-BR" smtClean="0"/>
              <a:t>25/06/2022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52192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7094C45-9102-437E-AE66-F57C174F1152}" type="datetimeFigureOut">
              <a:rPr lang="pt-BR" smtClean="0"/>
              <a:t>25/06/2022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4155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40833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82592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96411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70688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BABEC-0FAF-4CB4-8A95-78DD35F8A712}" type="slidenum">
              <a:rPr lang="pt-BR" smtClean="0"/>
              <a:t>‹nº›</a:t>
            </a:fld>
            <a:endParaRPr lang="pt-BR"/>
          </a:p>
        </p:txBody>
      </p:sp>
    </p:spTree>
    <p:extLst>
      <p:ext uri="{BB962C8B-B14F-4D97-AF65-F5344CB8AC3E}">
        <p14:creationId xmlns:p14="http://schemas.microsoft.com/office/powerpoint/2010/main" val="217636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txBox="1"/>
          <p:nvPr/>
        </p:nvSpPr>
        <p:spPr>
          <a:xfrm>
            <a:off x="871017" y="4381269"/>
            <a:ext cx="10450000" cy="104600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Curso Javascript básico</a:t>
            </a:r>
          </a:p>
          <a:p>
            <a:pPr algn="ctr"/>
            <a:r>
              <a:rPr lang="pt-BR" sz="5600" dirty="0">
                <a:solidFill>
                  <a:srgbClr val="D6BA32"/>
                </a:solidFill>
                <a:latin typeface="Roboto Mono Medium"/>
                <a:ea typeface="Roboto Mono Medium"/>
                <a:cs typeface="Roboto Mono Medium"/>
                <a:sym typeface="Roboto Mono Medium"/>
              </a:rPr>
              <a:t>Aula 05 – </a:t>
            </a:r>
            <a:r>
              <a:rPr lang="pt-BR" sz="3200" dirty="0">
                <a:solidFill>
                  <a:srgbClr val="D6BA32"/>
                </a:solidFill>
                <a:latin typeface="Roboto Mono Medium"/>
                <a:ea typeface="Roboto Mono Medium"/>
                <a:cs typeface="Roboto Mono Medium"/>
                <a:sym typeface="Roboto Mono Medium"/>
              </a:rPr>
              <a:t>Estrutura de Dados - Objetos e </a:t>
            </a:r>
            <a:r>
              <a:rPr lang="pt-BR" sz="3200" dirty="0" err="1">
                <a:solidFill>
                  <a:srgbClr val="D6BA32"/>
                </a:solidFill>
                <a:latin typeface="Roboto Mono Medium"/>
                <a:ea typeface="Roboto Mono Medium"/>
                <a:cs typeface="Roboto Mono Medium"/>
                <a:sym typeface="Roboto Mono Medium"/>
              </a:rPr>
              <a:t>Arrays</a:t>
            </a:r>
            <a:r>
              <a:rPr lang="pt-BR" sz="3200" dirty="0">
                <a:solidFill>
                  <a:srgbClr val="D6BA32"/>
                </a:solidFill>
                <a:latin typeface="Roboto Mono Medium"/>
                <a:ea typeface="Roboto Mono Medium"/>
                <a:cs typeface="Roboto Mono Medium"/>
                <a:sym typeface="Roboto Mono Medium"/>
              </a:rPr>
              <a:t> </a:t>
            </a:r>
            <a:endParaRPr sz="3200" dirty="0">
              <a:solidFill>
                <a:srgbClr val="D6BA32"/>
              </a:solidFill>
              <a:latin typeface="Roboto Mono Medium"/>
              <a:ea typeface="Roboto Mono Medium"/>
              <a:cs typeface="Roboto Mono Medium"/>
              <a:sym typeface="Roboto Mono Medium"/>
            </a:endParaRPr>
          </a:p>
          <a:p>
            <a:pPr algn="ctr"/>
            <a:endParaRPr sz="2400" dirty="0">
              <a:solidFill>
                <a:srgbClr val="264DE3"/>
              </a:solidFill>
              <a:latin typeface="Roboto Mono Medium"/>
              <a:ea typeface="Roboto Mono Medium"/>
              <a:cs typeface="Roboto Mono Medium"/>
              <a:sym typeface="Roboto Mono Medium"/>
            </a:endParaRPr>
          </a:p>
        </p:txBody>
      </p:sp>
      <p:pic>
        <p:nvPicPr>
          <p:cNvPr id="4" name="Imagem 3">
            <a:extLst>
              <a:ext uri="{FF2B5EF4-FFF2-40B4-BE49-F238E27FC236}">
                <a16:creationId xmlns:a16="http://schemas.microsoft.com/office/drawing/2014/main" id="{4C604F82-D39D-A579-B80D-9584FB801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96" y="841227"/>
            <a:ext cx="3534212" cy="3534212"/>
          </a:xfrm>
          <a:prstGeom prst="rect">
            <a:avLst/>
          </a:prstGeom>
        </p:spPr>
      </p:pic>
    </p:spTree>
    <p:extLst>
      <p:ext uri="{BB962C8B-B14F-4D97-AF65-F5344CB8AC3E}">
        <p14:creationId xmlns:p14="http://schemas.microsoft.com/office/powerpoint/2010/main" val="347183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 que são Objetos?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Objetos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assim como em muitas outras linguagens de programação, podem ser comparados com objetos na vida real. O conceito de objetos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pode ser entendido com objetos tangíveis da vida real.</a:t>
            </a:r>
          </a:p>
          <a:p>
            <a:pPr marL="152396">
              <a:buSzPts val="1800"/>
            </a:pPr>
            <a:endParaRPr lang="pt-BR" sz="2200" dirty="0">
              <a:solidFill>
                <a:srgbClr val="1B1B1B"/>
              </a:solidFill>
              <a:latin typeface="Roboto Mono"/>
              <a:sym typeface="Roboto Mono"/>
            </a:endParaRPr>
          </a:p>
          <a:p>
            <a:pPr marL="152396">
              <a:buSzPts val="1800"/>
            </a:pPr>
            <a:r>
              <a:rPr lang="pt-BR" sz="2200" dirty="0">
                <a:solidFill>
                  <a:srgbClr val="1B1B1B"/>
                </a:solidFill>
                <a:latin typeface="Roboto Mono"/>
                <a:sym typeface="Roboto Mono"/>
              </a:rPr>
              <a:t>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um objeto é uma entidade independente, com propriedades e tipos. </a:t>
            </a:r>
          </a:p>
          <a:p>
            <a:pPr marL="152396">
              <a:buSzPts val="1800"/>
            </a:pPr>
            <a:endParaRPr lang="pt-BR" sz="2200" i="1" dirty="0">
              <a:solidFill>
                <a:srgbClr val="1B1B1B"/>
              </a:solidFill>
              <a:latin typeface="Roboto Mono"/>
              <a:sym typeface="Roboto Mono"/>
            </a:endParaRPr>
          </a:p>
          <a:p>
            <a:pPr marL="152396">
              <a:buSzPts val="1800"/>
            </a:pPr>
            <a:r>
              <a:rPr lang="pt-BR" i="1" dirty="0">
                <a:solidFill>
                  <a:srgbClr val="1B1B1B"/>
                </a:solidFill>
                <a:latin typeface="Roboto Mono"/>
                <a:sym typeface="Roboto Mono"/>
              </a:rPr>
              <a:t>	Em </a:t>
            </a:r>
            <a:r>
              <a:rPr lang="pt-BR" i="1" dirty="0" err="1">
                <a:solidFill>
                  <a:srgbClr val="1B1B1B"/>
                </a:solidFill>
                <a:latin typeface="Roboto Mono"/>
                <a:sym typeface="Roboto Mono"/>
              </a:rPr>
              <a:t>JavaScript</a:t>
            </a:r>
            <a:r>
              <a:rPr lang="pt-BR" i="1" dirty="0">
                <a:solidFill>
                  <a:srgbClr val="1B1B1B"/>
                </a:solidFill>
                <a:latin typeface="Roboto Mono"/>
                <a:sym typeface="Roboto Mono"/>
              </a:rPr>
              <a:t>, quase tudo é um objeto. Todos os tipos primitivos - com exceção de </a:t>
            </a:r>
            <a:r>
              <a:rPr lang="pt-BR" i="1" dirty="0" err="1">
                <a:solidFill>
                  <a:srgbClr val="1B1B1B"/>
                </a:solidFill>
                <a:latin typeface="Roboto Mono"/>
                <a:sym typeface="Roboto Mono"/>
              </a:rPr>
              <a:t>null</a:t>
            </a:r>
            <a:r>
              <a:rPr lang="pt-BR" i="1" dirty="0">
                <a:solidFill>
                  <a:srgbClr val="1B1B1B"/>
                </a:solidFill>
                <a:latin typeface="Roboto Mono"/>
                <a:sym typeface="Roboto Mono"/>
              </a:rPr>
              <a:t> e </a:t>
            </a:r>
            <a:r>
              <a:rPr lang="pt-BR" i="1" dirty="0" err="1">
                <a:solidFill>
                  <a:srgbClr val="1B1B1B"/>
                </a:solidFill>
                <a:latin typeface="Roboto Mono"/>
                <a:sym typeface="Roboto Mono"/>
              </a:rPr>
              <a:t>undefined</a:t>
            </a:r>
            <a:r>
              <a:rPr lang="pt-BR" i="1" dirty="0">
                <a:solidFill>
                  <a:srgbClr val="1B1B1B"/>
                </a:solidFill>
                <a:latin typeface="Roboto Mono"/>
                <a:sym typeface="Roboto Mono"/>
              </a:rPr>
              <a:t> - são tratados como objetos. Eles podem receber propriedades (propriedades atribuídas de alguns tipos não são persistentes), e possuem todas as características de objetos.</a:t>
            </a:r>
          </a:p>
        </p:txBody>
      </p:sp>
    </p:spTree>
    <p:extLst>
      <p:ext uri="{BB962C8B-B14F-4D97-AF65-F5344CB8AC3E}">
        <p14:creationId xmlns:p14="http://schemas.microsoft.com/office/powerpoint/2010/main" val="2045171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Objeto, noções básicas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Um objeto é uma coleção de dados e/ou funcionalidades relacionadas (que geralmente consistem em diversas variáveis e funções — que são chamadas de propriedades e métodos quando estão dentro de objetos).</a:t>
            </a:r>
          </a:p>
          <a:p>
            <a:pPr marL="152396">
              <a:buSzPts val="1800"/>
            </a:pPr>
            <a:r>
              <a:rPr lang="pt-BR" sz="2200" dirty="0">
                <a:solidFill>
                  <a:srgbClr val="1B1B1B"/>
                </a:solidFill>
                <a:latin typeface="Roboto Mono"/>
                <a:sym typeface="Roboto Mono"/>
              </a:rPr>
              <a:t>	Como acontece com muitas coisas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a criação de um objeto geralmente começa com a definição e a inicialização de uma variável.</a:t>
            </a:r>
          </a:p>
          <a:p>
            <a:pPr marL="152396">
              <a:buSzPts val="1800"/>
            </a:pPr>
            <a:r>
              <a:rPr lang="pt-BR" sz="2200" dirty="0">
                <a:solidFill>
                  <a:srgbClr val="1B1B1B"/>
                </a:solidFill>
                <a:latin typeface="Roboto Mono"/>
                <a:sym typeface="Roboto Mono"/>
              </a:rPr>
              <a:t>			</a:t>
            </a:r>
          </a:p>
          <a:p>
            <a:pPr marL="152396">
              <a:buSzPts val="1800"/>
            </a:pPr>
            <a:r>
              <a:rPr lang="pt-BR" sz="2200" i="1" dirty="0">
                <a:solidFill>
                  <a:srgbClr val="1B1B1B"/>
                </a:solidFill>
                <a:latin typeface="Roboto Mono"/>
                <a:sym typeface="Roboto Mono"/>
              </a:rPr>
              <a:t>				var pessoa = {};</a:t>
            </a:r>
          </a:p>
          <a:p>
            <a:pPr marL="152396">
              <a:buSzPts val="1800"/>
            </a:pPr>
            <a:r>
              <a:rPr lang="pt-BR" sz="2200" i="1" dirty="0">
                <a:solidFill>
                  <a:srgbClr val="1B1B1B"/>
                </a:solidFill>
                <a:latin typeface="Roboto Mono"/>
                <a:sym typeface="Roboto Mono"/>
              </a:rPr>
              <a:t>	</a:t>
            </a:r>
            <a:endParaRPr lang="pt-BR" i="1" dirty="0">
              <a:solidFill>
                <a:srgbClr val="1B1B1B"/>
              </a:solidFill>
              <a:latin typeface="Roboto Mono"/>
              <a:sym typeface="Roboto Mono"/>
            </a:endParaRPr>
          </a:p>
        </p:txBody>
      </p:sp>
    </p:spTree>
    <p:extLst>
      <p:ext uri="{BB962C8B-B14F-4D97-AF65-F5344CB8AC3E}">
        <p14:creationId xmlns:p14="http://schemas.microsoft.com/office/powerpoint/2010/main" val="2216361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Objeto, noções básicas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Um objeto é composto de vários membros, cada um  com um nome e um valor. Cada par nome/valor deve ser separado por uma vírgula e o nome e valor, em cada caso, separados por dois pontos.</a:t>
            </a:r>
          </a:p>
          <a:p>
            <a:pPr marL="152396">
              <a:buSzPts val="1800"/>
            </a:pPr>
            <a:endParaRPr lang="pt-BR" sz="2200" i="1" dirty="0">
              <a:solidFill>
                <a:srgbClr val="1B1B1B"/>
              </a:solidFill>
              <a:latin typeface="Roboto Mono"/>
              <a:sym typeface="Roboto Mono"/>
            </a:endParaRPr>
          </a:p>
          <a:p>
            <a:pPr marL="3809996" lvl="8">
              <a:buSzPts val="1800"/>
            </a:pPr>
            <a:r>
              <a:rPr lang="pt-BR" i="1" dirty="0">
                <a:solidFill>
                  <a:srgbClr val="1B1B1B"/>
                </a:solidFill>
                <a:latin typeface="Roboto Mono"/>
                <a:sym typeface="Roboto Mono"/>
              </a:rPr>
              <a:t>var </a:t>
            </a:r>
            <a:r>
              <a:rPr lang="pt-BR" i="1" dirty="0" err="1">
                <a:solidFill>
                  <a:srgbClr val="1B1B1B"/>
                </a:solidFill>
                <a:latin typeface="Roboto Mono"/>
                <a:sym typeface="Roboto Mono"/>
              </a:rPr>
              <a:t>nomeDoObjeto</a:t>
            </a:r>
            <a:r>
              <a:rPr lang="pt-BR" i="1" dirty="0">
                <a:solidFill>
                  <a:srgbClr val="1B1B1B"/>
                </a:solidFill>
                <a:latin typeface="Roboto Mono"/>
                <a:sym typeface="Roboto Mono"/>
              </a:rPr>
              <a:t> = {</a:t>
            </a:r>
          </a:p>
          <a:p>
            <a:pPr marL="3809996" lvl="8">
              <a:buSzPts val="1800"/>
            </a:pPr>
            <a:r>
              <a:rPr lang="pt-BR" i="1" dirty="0">
                <a:solidFill>
                  <a:srgbClr val="1B1B1B"/>
                </a:solidFill>
                <a:latin typeface="Roboto Mono"/>
                <a:sym typeface="Roboto Mono"/>
              </a:rPr>
              <a:t>  nomeMembro1: valorMembro1,</a:t>
            </a:r>
          </a:p>
          <a:p>
            <a:pPr marL="3809996" lvl="8">
              <a:buSzPts val="1800"/>
            </a:pPr>
            <a:r>
              <a:rPr lang="pt-BR" i="1" dirty="0">
                <a:solidFill>
                  <a:srgbClr val="1B1B1B"/>
                </a:solidFill>
                <a:latin typeface="Roboto Mono"/>
                <a:sym typeface="Roboto Mono"/>
              </a:rPr>
              <a:t>  nomeMembro2: valorMembro2,</a:t>
            </a:r>
          </a:p>
          <a:p>
            <a:pPr marL="3809996" lvl="8">
              <a:buSzPts val="1800"/>
            </a:pPr>
            <a:r>
              <a:rPr lang="pt-BR" i="1" dirty="0">
                <a:solidFill>
                  <a:srgbClr val="1B1B1B"/>
                </a:solidFill>
                <a:latin typeface="Roboto Mono"/>
                <a:sym typeface="Roboto Mono"/>
              </a:rPr>
              <a:t>  nomeMembro3: valorMembro3</a:t>
            </a:r>
          </a:p>
          <a:p>
            <a:pPr marL="3809996" lvl="8">
              <a:buSzPts val="1800"/>
            </a:pPr>
            <a:r>
              <a:rPr lang="pt-BR" i="1" dirty="0">
                <a:solidFill>
                  <a:srgbClr val="1B1B1B"/>
                </a:solidFill>
                <a:latin typeface="Roboto Mono"/>
                <a:sym typeface="Roboto Mono"/>
              </a:rPr>
              <a:t>};</a:t>
            </a:r>
          </a:p>
        </p:txBody>
      </p:sp>
    </p:spTree>
    <p:extLst>
      <p:ext uri="{BB962C8B-B14F-4D97-AF65-F5344CB8AC3E}">
        <p14:creationId xmlns:p14="http://schemas.microsoft.com/office/powerpoint/2010/main" val="1070979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4098" name="Picture 2">
            <a:extLst>
              <a:ext uri="{FF2B5EF4-FFF2-40B4-BE49-F238E27FC236}">
                <a16:creationId xmlns:a16="http://schemas.microsoft.com/office/drawing/2014/main" id="{6765EECD-D2D2-F870-0BB2-190CB7AB9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726" y="2135158"/>
            <a:ext cx="10785335" cy="305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032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Objetos e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Um objeto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tem propriedades associadas a ele. Uma propriedade de um objeto pode ser explicada como uma variável que é ligada ao objeto. Propriedades de objetos são basicamente as mesmas que variáveis normais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exceto pelo fato de estarem ligadas a objetos. As propriedades de um objeto definem as características do objeto.</a:t>
            </a:r>
          </a:p>
          <a:p>
            <a:pPr marL="152396">
              <a:buSzPts val="1800"/>
            </a:pPr>
            <a:r>
              <a:rPr lang="pt-BR" sz="2200" dirty="0">
                <a:solidFill>
                  <a:srgbClr val="1B1B1B"/>
                </a:solidFill>
                <a:latin typeface="Roboto Mono"/>
                <a:sym typeface="Roboto Mono"/>
              </a:rPr>
              <a:t>	Como as variáveis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o nome do objeto (que poderia ser uma variável normal) e um nome de propriedade diferem em maiúsculas/minúsculas (por exemplo, cor e Cor são propriedades diferentes). Você pode definir uma propriedade atribuindo um valor a ela. </a:t>
            </a:r>
          </a:p>
        </p:txBody>
      </p:sp>
    </p:spTree>
    <p:extLst>
      <p:ext uri="{BB962C8B-B14F-4D97-AF65-F5344CB8AC3E}">
        <p14:creationId xmlns:p14="http://schemas.microsoft.com/office/powerpoint/2010/main" val="1327877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Objetos e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Propriedades de objetos em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podem também ser acessadas ou alteradas usando-se notação de colchetes. Objetos são às vezes chamados de </a:t>
            </a:r>
            <a:r>
              <a:rPr lang="pt-BR" sz="2200" dirty="0" err="1">
                <a:solidFill>
                  <a:srgbClr val="1B1B1B"/>
                </a:solidFill>
                <a:latin typeface="Roboto Mono"/>
                <a:sym typeface="Roboto Mono"/>
              </a:rPr>
              <a:t>arrays</a:t>
            </a:r>
            <a:r>
              <a:rPr lang="pt-BR" sz="2200" dirty="0">
                <a:solidFill>
                  <a:srgbClr val="1B1B1B"/>
                </a:solidFill>
                <a:latin typeface="Roboto Mono"/>
                <a:sym typeface="Roboto Mono"/>
              </a:rPr>
              <a:t> associativos, uma vez que cada propriedade é associada com um valor de </a:t>
            </a:r>
            <a:r>
              <a:rPr lang="pt-BR" sz="2200" dirty="0" err="1">
                <a:solidFill>
                  <a:srgbClr val="1B1B1B"/>
                </a:solidFill>
                <a:latin typeface="Roboto Mono"/>
                <a:sym typeface="Roboto Mono"/>
              </a:rPr>
              <a:t>string</a:t>
            </a:r>
            <a:r>
              <a:rPr lang="pt-BR" sz="2200" dirty="0">
                <a:solidFill>
                  <a:srgbClr val="1B1B1B"/>
                </a:solidFill>
                <a:latin typeface="Roboto Mono"/>
                <a:sym typeface="Roboto Mono"/>
              </a:rPr>
              <a:t> que pode ser usado para acessá-la.</a:t>
            </a:r>
          </a:p>
          <a:p>
            <a:pPr marL="152396">
              <a:buSzPts val="1800"/>
            </a:pPr>
            <a:endParaRPr lang="pt-BR" sz="2200" dirty="0">
              <a:solidFill>
                <a:srgbClr val="1B1B1B"/>
              </a:solidFill>
              <a:latin typeface="Roboto Mono"/>
              <a:sym typeface="Roboto Mono"/>
            </a:endParaRPr>
          </a:p>
          <a:p>
            <a:pPr marL="152396">
              <a:buSzPts val="1800"/>
            </a:pPr>
            <a:endParaRPr lang="pt-BR" sz="2200" dirty="0">
              <a:solidFill>
                <a:srgbClr val="1B1B1B"/>
              </a:solidFill>
              <a:latin typeface="Roboto Mono"/>
              <a:sym typeface="Roboto Mono"/>
            </a:endParaRPr>
          </a:p>
          <a:p>
            <a:pPr marL="152396">
              <a:buSzPts val="1800"/>
            </a:pPr>
            <a:r>
              <a:rPr lang="pt-BR" sz="2200" dirty="0">
                <a:solidFill>
                  <a:srgbClr val="1B1B1B"/>
                </a:solidFill>
                <a:latin typeface="Roboto Mono"/>
                <a:sym typeface="Roboto Mono"/>
              </a:rPr>
              <a:t>OBS.: Propriedades não definidas de um objeto são </a:t>
            </a:r>
            <a:r>
              <a:rPr lang="pt-BR" sz="2200" dirty="0" err="1">
                <a:solidFill>
                  <a:srgbClr val="1B1B1B"/>
                </a:solidFill>
                <a:latin typeface="Roboto Mono"/>
                <a:sym typeface="Roboto Mono"/>
              </a:rPr>
              <a:t>undefined</a:t>
            </a:r>
            <a:r>
              <a:rPr lang="pt-BR" sz="2200" dirty="0">
                <a:solidFill>
                  <a:srgbClr val="1B1B1B"/>
                </a:solidFill>
                <a:latin typeface="Roboto Mono"/>
                <a:sym typeface="Roboto Mono"/>
              </a:rPr>
              <a:t> (e não </a:t>
            </a:r>
            <a:r>
              <a:rPr lang="pt-BR" sz="2200" dirty="0" err="1">
                <a:solidFill>
                  <a:srgbClr val="1B1B1B"/>
                </a:solidFill>
                <a:latin typeface="Roboto Mono"/>
                <a:sym typeface="Roboto Mono"/>
              </a:rPr>
              <a:t>null</a:t>
            </a:r>
            <a:r>
              <a:rPr lang="pt-BR" sz="2200" dirty="0">
                <a:solidFill>
                  <a:srgbClr val="1B1B1B"/>
                </a:solidFill>
                <a:latin typeface="Roboto Mono"/>
                <a:sym typeface="Roboto Mono"/>
              </a:rPr>
              <a:t>).</a:t>
            </a:r>
          </a:p>
        </p:txBody>
      </p:sp>
    </p:spTree>
    <p:extLst>
      <p:ext uri="{BB962C8B-B14F-4D97-AF65-F5344CB8AC3E}">
        <p14:creationId xmlns:p14="http://schemas.microsoft.com/office/powerpoint/2010/main" val="2768952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Objetos e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Um nome de propriedade de um objeto pode ser qualquer </a:t>
            </a:r>
            <a:r>
              <a:rPr lang="pt-BR" sz="2200" dirty="0" err="1">
                <a:solidFill>
                  <a:srgbClr val="1B1B1B"/>
                </a:solidFill>
                <a:latin typeface="Roboto Mono"/>
                <a:sym typeface="Roboto Mono"/>
              </a:rPr>
              <a:t>string</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válida, ou qualquer coisa que possa ser convertida em uma </a:t>
            </a:r>
            <a:r>
              <a:rPr lang="pt-BR" sz="2200" dirty="0" err="1">
                <a:solidFill>
                  <a:srgbClr val="1B1B1B"/>
                </a:solidFill>
                <a:latin typeface="Roboto Mono"/>
                <a:sym typeface="Roboto Mono"/>
              </a:rPr>
              <a:t>string</a:t>
            </a:r>
            <a:r>
              <a:rPr lang="pt-BR" sz="2200" dirty="0">
                <a:solidFill>
                  <a:srgbClr val="1B1B1B"/>
                </a:solidFill>
                <a:latin typeface="Roboto Mono"/>
                <a:sym typeface="Roboto Mono"/>
              </a:rPr>
              <a:t>, incluindo uma </a:t>
            </a:r>
            <a:r>
              <a:rPr lang="pt-BR" sz="2200" dirty="0" err="1">
                <a:solidFill>
                  <a:srgbClr val="1B1B1B"/>
                </a:solidFill>
                <a:latin typeface="Roboto Mono"/>
                <a:sym typeface="Roboto Mono"/>
              </a:rPr>
              <a:t>string</a:t>
            </a:r>
            <a:r>
              <a:rPr lang="pt-BR" sz="2200" dirty="0">
                <a:solidFill>
                  <a:srgbClr val="1B1B1B"/>
                </a:solidFill>
                <a:latin typeface="Roboto Mono"/>
                <a:sym typeface="Roboto Mono"/>
              </a:rPr>
              <a:t> vazia. No entanto, qualquer nome e propriedade que não é um identificador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válido (por exemplo, um nome de propriedade que tem um espaço ou um hífen, ou que começa com um número) só pode ser acessado(a) usando-se a notação de colchetes. Essa notação é também muito útil quando nomes de propriedades devem ser determinados dinamicamente (quando o nome da propriedade não é determinado até o momento de execução).</a:t>
            </a:r>
          </a:p>
        </p:txBody>
      </p:sp>
    </p:spTree>
    <p:extLst>
      <p:ext uri="{BB962C8B-B14F-4D97-AF65-F5344CB8AC3E}">
        <p14:creationId xmlns:p14="http://schemas.microsoft.com/office/powerpoint/2010/main" val="20407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Acessando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Acessamos as propriedades de objetos e métodos usando notação de </a:t>
            </a:r>
            <a:r>
              <a:rPr lang="pt-BR" sz="2200" b="1" dirty="0">
                <a:solidFill>
                  <a:srgbClr val="1B1B1B"/>
                </a:solidFill>
                <a:latin typeface="Roboto Mono"/>
                <a:sym typeface="Roboto Mono"/>
              </a:rPr>
              <a:t>ponto ( . )</a:t>
            </a:r>
            <a:r>
              <a:rPr lang="pt-BR" sz="2200" dirty="0">
                <a:solidFill>
                  <a:srgbClr val="1B1B1B"/>
                </a:solidFill>
                <a:latin typeface="Roboto Mono"/>
                <a:sym typeface="Roboto Mono"/>
              </a:rPr>
              <a:t> .</a:t>
            </a:r>
          </a:p>
          <a:p>
            <a:pPr marL="3809996" lvl="8">
              <a:buSzPts val="1800"/>
            </a:pPr>
            <a:endParaRPr lang="pt-BR" sz="2200" i="1" dirty="0">
              <a:solidFill>
                <a:srgbClr val="1B1B1B"/>
              </a:solidFill>
              <a:latin typeface="Roboto Mono"/>
              <a:sym typeface="Roboto Mono"/>
            </a:endParaRPr>
          </a:p>
          <a:p>
            <a:pPr marL="3809996" lvl="8">
              <a:buSzPts val="1800"/>
            </a:pPr>
            <a:r>
              <a:rPr lang="pt-BR" sz="2200" i="1" dirty="0" err="1">
                <a:solidFill>
                  <a:srgbClr val="1B1B1B"/>
                </a:solidFill>
                <a:latin typeface="Roboto Mono"/>
                <a:sym typeface="Roboto Mono"/>
              </a:rPr>
              <a:t>pessoa.idade</a:t>
            </a:r>
            <a:endParaRPr lang="pt-BR" sz="2200" i="1" dirty="0">
              <a:solidFill>
                <a:srgbClr val="1B1B1B"/>
              </a:solidFill>
              <a:latin typeface="Roboto Mono"/>
              <a:sym typeface="Roboto Mono"/>
            </a:endParaRPr>
          </a:p>
          <a:p>
            <a:pPr marL="3809996" lvl="8">
              <a:buSzPts val="1800"/>
            </a:pPr>
            <a:r>
              <a:rPr lang="pt-BR" sz="2200" i="1" dirty="0" err="1">
                <a:solidFill>
                  <a:srgbClr val="1B1B1B"/>
                </a:solidFill>
                <a:latin typeface="Roboto Mono"/>
                <a:sym typeface="Roboto Mono"/>
              </a:rPr>
              <a:t>pessoa.interesse</a:t>
            </a:r>
            <a:r>
              <a:rPr lang="pt-BR" sz="2200" i="1" dirty="0">
                <a:solidFill>
                  <a:srgbClr val="1B1B1B"/>
                </a:solidFill>
                <a:latin typeface="Roboto Mono"/>
                <a:sym typeface="Roboto Mono"/>
              </a:rPr>
              <a:t>[1]</a:t>
            </a:r>
          </a:p>
          <a:p>
            <a:pPr marL="3809996" lvl="8">
              <a:buSzPts val="1800"/>
            </a:pPr>
            <a:r>
              <a:rPr lang="pt-BR" sz="2200" i="1" dirty="0" err="1">
                <a:solidFill>
                  <a:srgbClr val="1B1B1B"/>
                </a:solidFill>
                <a:latin typeface="Roboto Mono"/>
                <a:sym typeface="Roboto Mono"/>
              </a:rPr>
              <a:t>pessoa.bio</a:t>
            </a:r>
            <a:r>
              <a:rPr lang="pt-BR" sz="2200" i="1" dirty="0">
                <a:solidFill>
                  <a:srgbClr val="1B1B1B"/>
                </a:solidFill>
                <a:latin typeface="Roboto Mono"/>
                <a:sym typeface="Roboto Mono"/>
              </a:rPr>
              <a:t>()</a:t>
            </a:r>
          </a:p>
        </p:txBody>
      </p:sp>
    </p:spTree>
    <p:extLst>
      <p:ext uri="{BB962C8B-B14F-4D97-AF65-F5344CB8AC3E}">
        <p14:creationId xmlns:p14="http://schemas.microsoft.com/office/powerpoint/2010/main" val="4054835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Acessando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Há outra forma de acessar propriedades do objeto, usando notação de colchetes </a:t>
            </a:r>
            <a:r>
              <a:rPr lang="pt-BR" sz="2200" b="1" dirty="0">
                <a:solidFill>
                  <a:srgbClr val="1B1B1B"/>
                </a:solidFill>
                <a:latin typeface="Roboto Mono"/>
                <a:sym typeface="Roboto Mono"/>
              </a:rPr>
              <a:t>( [] )</a:t>
            </a:r>
            <a:r>
              <a:rPr lang="pt-BR" sz="2200" dirty="0">
                <a:solidFill>
                  <a:srgbClr val="1B1B1B"/>
                </a:solidFill>
                <a:latin typeface="Roboto Mono"/>
                <a:sym typeface="Roboto Mono"/>
              </a:rPr>
              <a:t>. </a:t>
            </a:r>
          </a:p>
          <a:p>
            <a:pPr marL="3809996" lvl="8">
              <a:buSzPts val="1800"/>
            </a:pPr>
            <a:endParaRPr lang="pt-BR" sz="2200" i="1" dirty="0">
              <a:solidFill>
                <a:srgbClr val="1B1B1B"/>
              </a:solidFill>
              <a:latin typeface="Roboto Mono"/>
              <a:sym typeface="Roboto Mono"/>
            </a:endParaRPr>
          </a:p>
          <a:p>
            <a:pPr marL="3809996" lvl="8">
              <a:buSzPts val="1800"/>
            </a:pPr>
            <a:r>
              <a:rPr lang="pt-BR" sz="2200" i="1" dirty="0">
                <a:solidFill>
                  <a:srgbClr val="1B1B1B"/>
                </a:solidFill>
                <a:latin typeface="Roboto Mono"/>
                <a:sym typeface="Roboto Mono"/>
              </a:rPr>
              <a:t>pessoa[‘idade’]</a:t>
            </a:r>
          </a:p>
          <a:p>
            <a:pPr marL="3809996" lvl="8">
              <a:buSzPts val="1800"/>
            </a:pPr>
            <a:r>
              <a:rPr lang="pt-BR" sz="2200" i="1" dirty="0">
                <a:solidFill>
                  <a:srgbClr val="1B1B1B"/>
                </a:solidFill>
                <a:latin typeface="Roboto Mono"/>
                <a:sym typeface="Roboto Mono"/>
              </a:rPr>
              <a:t>Pessoa[‘interesse’][1]</a:t>
            </a:r>
          </a:p>
        </p:txBody>
      </p:sp>
    </p:spTree>
    <p:extLst>
      <p:ext uri="{BB962C8B-B14F-4D97-AF65-F5344CB8AC3E}">
        <p14:creationId xmlns:p14="http://schemas.microsoft.com/office/powerpoint/2010/main" val="3688476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Atribuindo membros do objeto</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Podemos também atribuir ou atualizar o valor de membros de objetos simplesmente declarando o membro que queremos (usando notação de ponto ou colchete).</a:t>
            </a:r>
          </a:p>
          <a:p>
            <a:pPr marL="3809996" lvl="8">
              <a:buSzPts val="1800"/>
            </a:pPr>
            <a:endParaRPr lang="pt-BR" sz="2200" i="1" dirty="0">
              <a:solidFill>
                <a:srgbClr val="1B1B1B"/>
              </a:solidFill>
              <a:latin typeface="Roboto Mono"/>
              <a:sym typeface="Roboto Mono"/>
            </a:endParaRPr>
          </a:p>
          <a:p>
            <a:pPr marL="3809996" lvl="8">
              <a:buSzPts val="1800"/>
            </a:pPr>
            <a:r>
              <a:rPr lang="pt-BR" sz="2200" i="1" dirty="0" err="1">
                <a:solidFill>
                  <a:srgbClr val="1B1B1B"/>
                </a:solidFill>
                <a:latin typeface="Roboto Mono"/>
                <a:sym typeface="Roboto Mono"/>
              </a:rPr>
              <a:t>pessoa.idade</a:t>
            </a:r>
            <a:r>
              <a:rPr lang="pt-BR" sz="2200" i="1" dirty="0">
                <a:solidFill>
                  <a:srgbClr val="1B1B1B"/>
                </a:solidFill>
                <a:latin typeface="Roboto Mono"/>
                <a:sym typeface="Roboto Mono"/>
              </a:rPr>
              <a:t> = 45;</a:t>
            </a:r>
          </a:p>
          <a:p>
            <a:pPr marL="3809996" lvl="8">
              <a:buSzPts val="1800"/>
            </a:pPr>
            <a:r>
              <a:rPr lang="pt-BR" sz="2200" i="1" dirty="0">
                <a:solidFill>
                  <a:srgbClr val="1B1B1B"/>
                </a:solidFill>
                <a:latin typeface="Roboto Mono"/>
                <a:sym typeface="Roboto Mono"/>
              </a:rPr>
              <a:t>pessoa['nome']['ultimo'] = '</a:t>
            </a:r>
            <a:r>
              <a:rPr lang="pt-BR" sz="2200" i="1" dirty="0" err="1">
                <a:solidFill>
                  <a:srgbClr val="1B1B1B"/>
                </a:solidFill>
                <a:latin typeface="Roboto Mono"/>
                <a:sym typeface="Roboto Mono"/>
              </a:rPr>
              <a:t>Cratchit</a:t>
            </a:r>
            <a:r>
              <a:rPr lang="pt-BR" sz="2200" i="1" dirty="0">
                <a:solidFill>
                  <a:srgbClr val="1B1B1B"/>
                </a:solidFill>
                <a:latin typeface="Roboto Mono"/>
                <a:sym typeface="Roboto Mono"/>
              </a:rPr>
              <a:t>’;</a:t>
            </a:r>
          </a:p>
          <a:p>
            <a:pPr marL="3809996" lvl="8">
              <a:buSzPts val="1800"/>
            </a:pPr>
            <a:endParaRPr lang="pt-BR" sz="2200" i="1" dirty="0">
              <a:solidFill>
                <a:srgbClr val="1B1B1B"/>
              </a:solidFill>
              <a:latin typeface="Roboto Mono"/>
              <a:sym typeface="Roboto Mono"/>
            </a:endParaRPr>
          </a:p>
          <a:p>
            <a:pPr marL="152396">
              <a:buSzPts val="1800"/>
            </a:pPr>
            <a:r>
              <a:rPr lang="pt-BR" sz="2200" i="1" dirty="0">
                <a:solidFill>
                  <a:srgbClr val="1B1B1B"/>
                </a:solidFill>
                <a:latin typeface="Roboto Mono"/>
                <a:sym typeface="Roboto Mono"/>
              </a:rPr>
              <a:t>OBS.: Podemos também criar membros completamente novos.</a:t>
            </a:r>
          </a:p>
        </p:txBody>
      </p:sp>
    </p:spTree>
    <p:extLst>
      <p:ext uri="{BB962C8B-B14F-4D97-AF65-F5344CB8AC3E}">
        <p14:creationId xmlns:p14="http://schemas.microsoft.com/office/powerpoint/2010/main" val="1866427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Operador in</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Para verificar se uma propriedade existe em um objeto, retornando </a:t>
            </a:r>
            <a:r>
              <a:rPr lang="pt-BR" sz="2200" dirty="0" err="1">
                <a:solidFill>
                  <a:srgbClr val="1B1B1B"/>
                </a:solidFill>
                <a:latin typeface="Roboto Mono"/>
                <a:sym typeface="Roboto Mono"/>
              </a:rPr>
              <a:t>true</a:t>
            </a:r>
            <a:r>
              <a:rPr lang="pt-BR" sz="2200" dirty="0">
                <a:solidFill>
                  <a:srgbClr val="1B1B1B"/>
                </a:solidFill>
                <a:latin typeface="Roboto Mono"/>
                <a:sym typeface="Roboto Mono"/>
              </a:rPr>
              <a:t> caso exista e false caso não exista, usamos para isto o operador </a:t>
            </a:r>
            <a:r>
              <a:rPr lang="pt-BR" sz="3200" b="1" dirty="0">
                <a:solidFill>
                  <a:srgbClr val="1B1B1B"/>
                </a:solidFill>
                <a:latin typeface="Roboto Mono"/>
                <a:sym typeface="Roboto Mono"/>
              </a:rPr>
              <a:t>in</a:t>
            </a:r>
            <a:r>
              <a:rPr lang="pt-BR" sz="2200" dirty="0">
                <a:solidFill>
                  <a:srgbClr val="1B1B1B"/>
                </a:solidFill>
                <a:latin typeface="Roboto Mono"/>
                <a:sym typeface="Roboto Mono"/>
              </a:rPr>
              <a:t>:</a:t>
            </a:r>
          </a:p>
          <a:p>
            <a:pPr marL="152396">
              <a:buSzPts val="1800"/>
            </a:pPr>
            <a:endParaRPr lang="pt-BR" sz="2200" dirty="0">
              <a:solidFill>
                <a:srgbClr val="1B1B1B"/>
              </a:solidFill>
              <a:latin typeface="Roboto Mono"/>
              <a:sym typeface="Roboto Mono"/>
            </a:endParaRPr>
          </a:p>
          <a:p>
            <a:pPr marL="152396">
              <a:buSzPts val="1800"/>
            </a:pPr>
            <a:r>
              <a:rPr lang="pt-BR" sz="2200" dirty="0">
                <a:solidFill>
                  <a:srgbClr val="1B1B1B"/>
                </a:solidFill>
                <a:latin typeface="Roboto Mono"/>
                <a:sym typeface="Roboto Mono"/>
              </a:rPr>
              <a:t>				propriedade </a:t>
            </a:r>
            <a:r>
              <a:rPr lang="pt-BR" sz="2800" b="1" dirty="0">
                <a:solidFill>
                  <a:srgbClr val="1B1B1B"/>
                </a:solidFill>
                <a:latin typeface="Roboto Mono"/>
                <a:sym typeface="Roboto Mono"/>
              </a:rPr>
              <a:t>in</a:t>
            </a:r>
            <a:r>
              <a:rPr lang="pt-BR" sz="2200" dirty="0">
                <a:solidFill>
                  <a:srgbClr val="1B1B1B"/>
                </a:solidFill>
                <a:latin typeface="Roboto Mono"/>
                <a:sym typeface="Roboto Mono"/>
              </a:rPr>
              <a:t> objeto;</a:t>
            </a:r>
          </a:p>
          <a:p>
            <a:pPr marL="152396">
              <a:buSzPts val="1800"/>
            </a:pPr>
            <a:endParaRPr lang="pt-BR" sz="2200" i="1" dirty="0">
              <a:solidFill>
                <a:srgbClr val="1B1B1B"/>
              </a:solidFill>
              <a:latin typeface="Roboto Mono"/>
              <a:sym typeface="Roboto Mono"/>
            </a:endParaRPr>
          </a:p>
          <a:p>
            <a:pPr marL="152396">
              <a:buSzPts val="1800"/>
            </a:pPr>
            <a:endParaRPr lang="pt-BR" sz="2200" i="1" dirty="0">
              <a:solidFill>
                <a:srgbClr val="1B1B1B"/>
              </a:solidFill>
              <a:latin typeface="Roboto Mono"/>
              <a:sym typeface="Roboto Mono"/>
            </a:endParaRPr>
          </a:p>
        </p:txBody>
      </p:sp>
    </p:spTree>
    <p:extLst>
      <p:ext uri="{BB962C8B-B14F-4D97-AF65-F5344CB8AC3E}">
        <p14:creationId xmlns:p14="http://schemas.microsoft.com/office/powerpoint/2010/main" val="426908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loop for…in</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Para iterar sobre todas as propriedades de um objeto sem saber os nomes das propriedades, use o loop for...in:</a:t>
            </a:r>
          </a:p>
          <a:p>
            <a:pPr marL="152396">
              <a:buSzPts val="1800"/>
            </a:pPr>
            <a:r>
              <a:rPr lang="pt-BR" sz="2200" dirty="0">
                <a:solidFill>
                  <a:srgbClr val="1B1B1B"/>
                </a:solidFill>
                <a:latin typeface="Roboto Mono"/>
                <a:sym typeface="Roboto Mono"/>
              </a:rPr>
              <a:t>				for(</a:t>
            </a:r>
            <a:r>
              <a:rPr lang="pt-BR" sz="2200" dirty="0" err="1">
                <a:solidFill>
                  <a:srgbClr val="1B1B1B"/>
                </a:solidFill>
                <a:latin typeface="Roboto Mono"/>
                <a:sym typeface="Roboto Mono"/>
              </a:rPr>
              <a:t>variavel</a:t>
            </a:r>
            <a:r>
              <a:rPr lang="pt-BR" sz="2200" dirty="0">
                <a:solidFill>
                  <a:srgbClr val="1B1B1B"/>
                </a:solidFill>
                <a:latin typeface="Roboto Mono"/>
                <a:sym typeface="Roboto Mono"/>
              </a:rPr>
              <a:t> in objeto){</a:t>
            </a:r>
          </a:p>
          <a:p>
            <a:pPr marL="152396">
              <a:buSzPts val="1800"/>
            </a:pPr>
            <a:r>
              <a:rPr lang="pt-BR" sz="2200" dirty="0">
                <a:solidFill>
                  <a:srgbClr val="1B1B1B"/>
                </a:solidFill>
                <a:latin typeface="Roboto Mono"/>
                <a:sym typeface="Roboto Mono"/>
              </a:rPr>
              <a:t>					comandos</a:t>
            </a:r>
          </a:p>
          <a:p>
            <a:pPr marL="152396">
              <a:buSzPts val="1800"/>
            </a:pPr>
            <a:r>
              <a:rPr lang="pt-BR" sz="2200" dirty="0">
                <a:solidFill>
                  <a:srgbClr val="1B1B1B"/>
                </a:solidFill>
                <a:latin typeface="Roboto Mono"/>
                <a:sym typeface="Roboto Mono"/>
              </a:rPr>
              <a:t>				};</a:t>
            </a:r>
          </a:p>
          <a:p>
            <a:pPr marL="152396">
              <a:buSzPts val="1800"/>
            </a:pPr>
            <a:endParaRPr lang="pt-BR" sz="2200" i="1" dirty="0">
              <a:solidFill>
                <a:srgbClr val="1B1B1B"/>
              </a:solidFill>
              <a:latin typeface="Roboto Mono"/>
              <a:sym typeface="Roboto Mono"/>
            </a:endParaRPr>
          </a:p>
          <a:p>
            <a:pPr marL="152396">
              <a:buSzPts val="1800"/>
            </a:pPr>
            <a:endParaRPr lang="pt-BR" sz="2200" i="1" dirty="0">
              <a:solidFill>
                <a:srgbClr val="1B1B1B"/>
              </a:solidFill>
              <a:latin typeface="Roboto Mono"/>
              <a:sym typeface="Roboto Mono"/>
            </a:endParaRPr>
          </a:p>
        </p:txBody>
      </p:sp>
    </p:spTree>
    <p:extLst>
      <p:ext uri="{BB962C8B-B14F-4D97-AF65-F5344CB8AC3E}">
        <p14:creationId xmlns:p14="http://schemas.microsoft.com/office/powerpoint/2010/main" val="1973831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 que são </a:t>
            </a:r>
            <a:r>
              <a:rPr lang="pt-BR" sz="3600" dirty="0" err="1">
                <a:solidFill>
                  <a:srgbClr val="FFDA3E"/>
                </a:solidFill>
                <a:latin typeface="Roboto Mono Medium"/>
                <a:ea typeface="Roboto Mono Medium"/>
                <a:cs typeface="Roboto Mono Medium"/>
                <a:sym typeface="Roboto Mono Medium"/>
              </a:rPr>
              <a:t>Arrays</a:t>
            </a:r>
            <a:r>
              <a:rPr lang="pt-BR" sz="3600" dirty="0">
                <a:solidFill>
                  <a:srgbClr val="FFDA3E"/>
                </a:solidFill>
                <a:latin typeface="Roboto Mono Medium"/>
                <a:ea typeface="Roboto Mono Medium"/>
                <a:cs typeface="Roboto Mono Medium"/>
                <a:sym typeface="Roboto Mono Medium"/>
              </a:rPr>
              <a:t>?</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a:t>
            </a:r>
            <a:r>
              <a:rPr lang="pt-BR" sz="2200" dirty="0" err="1">
                <a:solidFill>
                  <a:srgbClr val="1B1B1B"/>
                </a:solidFill>
                <a:latin typeface="Roboto Mono"/>
                <a:sym typeface="Roboto Mono"/>
              </a:rPr>
              <a:t>Arrays</a:t>
            </a:r>
            <a:r>
              <a:rPr lang="pt-BR" sz="2200" dirty="0">
                <a:solidFill>
                  <a:srgbClr val="1B1B1B"/>
                </a:solidFill>
                <a:latin typeface="Roboto Mono"/>
                <a:sym typeface="Roboto Mono"/>
              </a:rPr>
              <a:t> são geralmente descritos como lista. Um objeto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pode ser armazenado em variáveis e ser tratado de forma muito similar a qualquer outro tipo de valor, a diferença está em podermos acessar cada valor dentro da lista individualmente.</a:t>
            </a:r>
          </a:p>
          <a:p>
            <a:pPr marL="152396">
              <a:buSzPts val="1800"/>
            </a:pPr>
            <a:endParaRPr lang="pt-BR" sz="2200" dirty="0">
              <a:solidFill>
                <a:srgbClr val="1B1B1B"/>
              </a:solidFill>
              <a:latin typeface="Roboto Mono"/>
              <a:sym typeface="Roboto Mono"/>
            </a:endParaRPr>
          </a:p>
          <a:p>
            <a:pPr marL="152396">
              <a:buSzPts val="1800"/>
            </a:pPr>
            <a:r>
              <a:rPr lang="pt-BR" sz="2200" dirty="0">
                <a:solidFill>
                  <a:srgbClr val="1B1B1B"/>
                </a:solidFill>
                <a:latin typeface="Roboto Mono"/>
                <a:sym typeface="Roboto Mono"/>
              </a:rPr>
              <a:t>	Com </a:t>
            </a:r>
            <a:r>
              <a:rPr lang="pt-BR" sz="2200" dirty="0" err="1">
                <a:solidFill>
                  <a:srgbClr val="1B1B1B"/>
                </a:solidFill>
                <a:latin typeface="Roboto Mono"/>
                <a:sym typeface="Roboto Mono"/>
              </a:rPr>
              <a:t>arrays</a:t>
            </a:r>
            <a:r>
              <a:rPr lang="pt-BR" sz="2200" dirty="0">
                <a:solidFill>
                  <a:srgbClr val="1B1B1B"/>
                </a:solidFill>
                <a:latin typeface="Roboto Mono"/>
                <a:sym typeface="Roboto Mono"/>
              </a:rPr>
              <a:t>, podemos armazenar vários itens em uma variável separada, então chamar o código para mostrar e adicionar separadamente cada item. </a:t>
            </a:r>
            <a:endParaRPr lang="pt-BR" i="1" dirty="0">
              <a:solidFill>
                <a:srgbClr val="1B1B1B"/>
              </a:solidFill>
              <a:latin typeface="Roboto Mono"/>
              <a:sym typeface="Roboto Mono"/>
            </a:endParaRPr>
          </a:p>
        </p:txBody>
      </p:sp>
    </p:spTree>
    <p:extLst>
      <p:ext uri="{BB962C8B-B14F-4D97-AF65-F5344CB8AC3E}">
        <p14:creationId xmlns:p14="http://schemas.microsoft.com/office/powerpoint/2010/main" val="249028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5122" name="Picture 2">
            <a:extLst>
              <a:ext uri="{FF2B5EF4-FFF2-40B4-BE49-F238E27FC236}">
                <a16:creationId xmlns:a16="http://schemas.microsoft.com/office/drawing/2014/main" id="{9623FCFE-1113-2671-B0F8-5BEBDEB6F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738" y="1943099"/>
            <a:ext cx="9800008" cy="402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730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Criando uma </a:t>
            </a:r>
            <a:r>
              <a:rPr lang="pt-BR" sz="3600" dirty="0" err="1">
                <a:solidFill>
                  <a:srgbClr val="FFDA3E"/>
                </a:solidFill>
                <a:latin typeface="Roboto Mono Medium"/>
                <a:ea typeface="Roboto Mono Medium"/>
                <a:cs typeface="Roboto Mono Medium"/>
                <a:sym typeface="Roboto Mono Medium"/>
              </a:rPr>
              <a:t>array</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85145"/>
            <a:ext cx="11727200" cy="3858594"/>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a:t>
            </a:r>
            <a:r>
              <a:rPr lang="pt-BR" sz="2200" dirty="0" err="1">
                <a:solidFill>
                  <a:srgbClr val="1B1B1B"/>
                </a:solidFill>
                <a:latin typeface="Roboto Mono"/>
                <a:sym typeface="Roboto Mono"/>
              </a:rPr>
              <a:t>Arrays</a:t>
            </a:r>
            <a:r>
              <a:rPr lang="pt-BR" sz="2200" dirty="0">
                <a:solidFill>
                  <a:srgbClr val="1B1B1B"/>
                </a:solidFill>
                <a:latin typeface="Roboto Mono"/>
                <a:sym typeface="Roboto Mono"/>
              </a:rPr>
              <a:t> são constituídos de colchetes, os quais contém uma lista de itens separada por vírgulas.</a:t>
            </a:r>
          </a:p>
          <a:p>
            <a:pPr marL="152396">
              <a:buSzPts val="1800"/>
            </a:pPr>
            <a:endParaRPr lang="pt-BR" sz="2200" i="1" dirty="0">
              <a:solidFill>
                <a:srgbClr val="1B1B1B"/>
              </a:solidFill>
              <a:latin typeface="Roboto Mono"/>
              <a:sym typeface="Roboto Mono"/>
            </a:endParaRPr>
          </a:p>
          <a:p>
            <a:pPr marL="152396">
              <a:buSzPts val="1800"/>
            </a:pPr>
            <a:r>
              <a:rPr lang="pt-BR" i="1" dirty="0">
                <a:solidFill>
                  <a:srgbClr val="1B1B1B"/>
                </a:solidFill>
                <a:latin typeface="Roboto Mono"/>
                <a:sym typeface="Roboto Mono"/>
              </a:rPr>
              <a:t>				var sequencia = [ 1, 2, 3, 5, 8, 13];</a:t>
            </a:r>
          </a:p>
        </p:txBody>
      </p:sp>
    </p:spTree>
    <p:extLst>
      <p:ext uri="{BB962C8B-B14F-4D97-AF65-F5344CB8AC3E}">
        <p14:creationId xmlns:p14="http://schemas.microsoft.com/office/powerpoint/2010/main" val="1408473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Acessando e modificando itens de uma </a:t>
            </a:r>
            <a:r>
              <a:rPr lang="pt-BR" sz="3600" dirty="0" err="1">
                <a:solidFill>
                  <a:srgbClr val="FFDA3E"/>
                </a:solidFill>
                <a:latin typeface="Roboto Mono Medium"/>
                <a:ea typeface="Roboto Mono Medium"/>
                <a:cs typeface="Roboto Mono Medium"/>
                <a:sym typeface="Roboto Mono Medium"/>
              </a:rPr>
              <a:t>array</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85145"/>
            <a:ext cx="11727200" cy="3858594"/>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Podemos acessar itens individuais em uma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usando a notação de colchetes.</a:t>
            </a:r>
            <a:endParaRPr lang="pt-BR" sz="2200" i="1" dirty="0">
              <a:solidFill>
                <a:srgbClr val="1B1B1B"/>
              </a:solidFill>
              <a:latin typeface="Roboto Mono"/>
              <a:sym typeface="Roboto Mono"/>
            </a:endParaRPr>
          </a:p>
          <a:p>
            <a:pPr marL="152396">
              <a:buSzPts val="1800"/>
            </a:pPr>
            <a:r>
              <a:rPr lang="pt-BR" i="1" dirty="0">
                <a:solidFill>
                  <a:srgbClr val="1B1B1B"/>
                </a:solidFill>
                <a:latin typeface="Roboto Mono"/>
                <a:sym typeface="Roboto Mono"/>
              </a:rPr>
              <a:t>				</a:t>
            </a:r>
          </a:p>
          <a:p>
            <a:pPr marL="152396">
              <a:buSzPts val="1800"/>
            </a:pPr>
            <a:r>
              <a:rPr lang="pt-BR" i="1" dirty="0">
                <a:solidFill>
                  <a:srgbClr val="1B1B1B"/>
                </a:solidFill>
                <a:latin typeface="Roboto Mono"/>
                <a:sym typeface="Roboto Mono"/>
              </a:rPr>
              <a:t>				sequencia[0]; // retorna 1</a:t>
            </a:r>
          </a:p>
        </p:txBody>
      </p:sp>
    </p:spTree>
    <p:extLst>
      <p:ext uri="{BB962C8B-B14F-4D97-AF65-F5344CB8AC3E}">
        <p14:creationId xmlns:p14="http://schemas.microsoft.com/office/powerpoint/2010/main" val="988759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Acessando e modificando itens de uma </a:t>
            </a:r>
            <a:r>
              <a:rPr lang="pt-BR" sz="3600" dirty="0" err="1">
                <a:solidFill>
                  <a:srgbClr val="FFDA3E"/>
                </a:solidFill>
                <a:latin typeface="Roboto Mono Medium"/>
                <a:ea typeface="Roboto Mono Medium"/>
                <a:cs typeface="Roboto Mono Medium"/>
                <a:sym typeface="Roboto Mono Medium"/>
              </a:rPr>
              <a:t>array</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85145"/>
            <a:ext cx="11727200" cy="3858594"/>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Podemos modificar um item em uma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simplesmente dando um novo valor ao item.</a:t>
            </a:r>
            <a:r>
              <a:rPr lang="pt-BR" i="1" dirty="0">
                <a:solidFill>
                  <a:srgbClr val="1B1B1B"/>
                </a:solidFill>
                <a:latin typeface="Roboto Mono"/>
                <a:sym typeface="Roboto Mono"/>
              </a:rPr>
              <a:t>				</a:t>
            </a:r>
          </a:p>
          <a:p>
            <a:pPr marL="152396">
              <a:buSzPts val="1800"/>
            </a:pPr>
            <a:r>
              <a:rPr lang="pt-BR" i="1" dirty="0">
                <a:solidFill>
                  <a:srgbClr val="1B1B1B"/>
                </a:solidFill>
                <a:latin typeface="Roboto Mono"/>
                <a:sym typeface="Roboto Mono"/>
              </a:rPr>
              <a:t>		sequencia[0] = 20 ; // altera a primeira posição de 1 para  20 ficando [ 20, 2, 3, 5, 8, 13];</a:t>
            </a:r>
          </a:p>
          <a:p>
            <a:pPr marL="152396">
              <a:buSzPts val="1800"/>
            </a:pPr>
            <a:endParaRPr lang="pt-BR" i="1" dirty="0">
              <a:solidFill>
                <a:srgbClr val="1B1B1B"/>
              </a:solidFill>
              <a:latin typeface="Roboto Mono"/>
              <a:sym typeface="Roboto Mono"/>
            </a:endParaRPr>
          </a:p>
          <a:p>
            <a:pPr marL="152396">
              <a:buSzPts val="1800"/>
            </a:pPr>
            <a:endParaRPr lang="pt-BR" i="1" dirty="0">
              <a:solidFill>
                <a:srgbClr val="1B1B1B"/>
              </a:solidFill>
              <a:latin typeface="Roboto Mono"/>
              <a:sym typeface="Roboto Mono"/>
            </a:endParaRPr>
          </a:p>
          <a:p>
            <a:pPr marL="152396">
              <a:buSzPts val="1800"/>
            </a:pPr>
            <a:r>
              <a:rPr lang="pt-BR" i="1" dirty="0">
                <a:solidFill>
                  <a:srgbClr val="1B1B1B"/>
                </a:solidFill>
                <a:latin typeface="Roboto Mono"/>
                <a:sym typeface="Roboto Mono"/>
              </a:rPr>
              <a:t>OBS.: computadores começam a contar do 0 ( zero ). Então o primeiro elemento fica no [0], o segundo no [1] e assim por diante.</a:t>
            </a:r>
          </a:p>
        </p:txBody>
      </p:sp>
    </p:spTree>
    <p:extLst>
      <p:ext uri="{BB962C8B-B14F-4D97-AF65-F5344CB8AC3E}">
        <p14:creationId xmlns:p14="http://schemas.microsoft.com/office/powerpoint/2010/main" val="35556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array</a:t>
            </a:r>
            <a:r>
              <a:rPr lang="pt-BR" sz="3600" dirty="0">
                <a:solidFill>
                  <a:srgbClr val="FFDA3E"/>
                </a:solidFill>
                <a:latin typeface="Roboto Mono Medium"/>
                <a:ea typeface="Roboto Mono Medium"/>
                <a:cs typeface="Roboto Mono Medium"/>
                <a:sym typeface="Roboto Mono Medium"/>
              </a:rPr>
              <a:t> multidimensional</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85145"/>
            <a:ext cx="11727200" cy="3858594"/>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dentro de outro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é chamado de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multidimensional. Você pode acessar um item dentro de uma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que está localizada dentro de outra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colocando dois conjuntos de colchetes juntos.</a:t>
            </a:r>
          </a:p>
          <a:p>
            <a:pPr marL="152396">
              <a:buSzPts val="1800"/>
            </a:pPr>
            <a:endParaRPr lang="pt-BR" sz="2200" i="1" dirty="0">
              <a:solidFill>
                <a:srgbClr val="1B1B1B"/>
              </a:solidFill>
              <a:latin typeface="Roboto Mono"/>
              <a:sym typeface="Roboto Mono"/>
            </a:endParaRPr>
          </a:p>
          <a:p>
            <a:pPr marL="152396">
              <a:buSzPts val="1800"/>
            </a:pPr>
            <a:r>
              <a:rPr lang="pt-BR" i="1" dirty="0">
                <a:solidFill>
                  <a:srgbClr val="1B1B1B"/>
                </a:solidFill>
                <a:latin typeface="Roboto Mono"/>
                <a:sym typeface="Roboto Mono"/>
              </a:rPr>
              <a:t>				</a:t>
            </a:r>
            <a:r>
              <a:rPr lang="pt-BR" sz="3600" i="1" dirty="0">
                <a:solidFill>
                  <a:srgbClr val="1B1B1B"/>
                </a:solidFill>
                <a:latin typeface="Roboto Mono"/>
                <a:sym typeface="Roboto Mono"/>
              </a:rPr>
              <a:t>tabuleiro[2][2];</a:t>
            </a:r>
          </a:p>
        </p:txBody>
      </p:sp>
    </p:spTree>
    <p:extLst>
      <p:ext uri="{BB962C8B-B14F-4D97-AF65-F5344CB8AC3E}">
        <p14:creationId xmlns:p14="http://schemas.microsoft.com/office/powerpoint/2010/main" val="2022529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Estrutura de Dados Objetos e </a:t>
            </a:r>
            <a:r>
              <a:rPr lang="pt-BR" sz="5400" dirty="0" err="1">
                <a:solidFill>
                  <a:srgbClr val="D6BA32"/>
                </a:solidFill>
                <a:latin typeface="Roboto Mono Medium"/>
                <a:ea typeface="Roboto Mono Medium"/>
                <a:cs typeface="Roboto Mono Medium"/>
                <a:sym typeface="Roboto Mono Medium"/>
              </a:rPr>
              <a:t>Arrays</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loop for…</a:t>
            </a:r>
            <a:r>
              <a:rPr lang="pt-BR" sz="3600" dirty="0" err="1">
                <a:solidFill>
                  <a:srgbClr val="FFDA3E"/>
                </a:solidFill>
                <a:latin typeface="Roboto Mono Medium"/>
                <a:ea typeface="Roboto Mono Medium"/>
                <a:cs typeface="Roboto Mono Medium"/>
                <a:sym typeface="Roboto Mono Medium"/>
              </a:rPr>
              <a:t>of</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718033"/>
            <a:ext cx="11727200" cy="3925706"/>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Para iterar sobre todas as propriedades de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usamos o loop for...</a:t>
            </a:r>
            <a:r>
              <a:rPr lang="pt-BR" sz="2200" dirty="0" err="1">
                <a:solidFill>
                  <a:srgbClr val="1B1B1B"/>
                </a:solidFill>
                <a:latin typeface="Roboto Mono"/>
                <a:sym typeface="Roboto Mono"/>
              </a:rPr>
              <a:t>of</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				for(</a:t>
            </a:r>
            <a:r>
              <a:rPr lang="pt-BR" sz="2200" dirty="0" err="1">
                <a:solidFill>
                  <a:srgbClr val="1B1B1B"/>
                </a:solidFill>
                <a:latin typeface="Roboto Mono"/>
                <a:sym typeface="Roboto Mono"/>
              </a:rPr>
              <a:t>variavel</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of</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					comandos</a:t>
            </a:r>
          </a:p>
          <a:p>
            <a:pPr marL="152396">
              <a:buSzPts val="1800"/>
            </a:pPr>
            <a:r>
              <a:rPr lang="pt-BR" sz="2200" dirty="0">
                <a:solidFill>
                  <a:srgbClr val="1B1B1B"/>
                </a:solidFill>
                <a:latin typeface="Roboto Mono"/>
                <a:sym typeface="Roboto Mono"/>
              </a:rPr>
              <a:t>				};</a:t>
            </a:r>
          </a:p>
          <a:p>
            <a:pPr marL="152396">
              <a:buSzPts val="1800"/>
            </a:pPr>
            <a:endParaRPr lang="pt-BR" sz="2200" i="1" dirty="0">
              <a:solidFill>
                <a:srgbClr val="1B1B1B"/>
              </a:solidFill>
              <a:latin typeface="Roboto Mono"/>
              <a:sym typeface="Roboto Mono"/>
            </a:endParaRPr>
          </a:p>
          <a:p>
            <a:pPr marL="152396">
              <a:buSzPts val="1800"/>
            </a:pPr>
            <a:endParaRPr lang="pt-BR" sz="2200" i="1" dirty="0">
              <a:solidFill>
                <a:srgbClr val="1B1B1B"/>
              </a:solidFill>
              <a:latin typeface="Roboto Mono"/>
              <a:sym typeface="Roboto Mono"/>
            </a:endParaRPr>
          </a:p>
        </p:txBody>
      </p:sp>
    </p:spTree>
    <p:extLst>
      <p:ext uri="{BB962C8B-B14F-4D97-AF65-F5344CB8AC3E}">
        <p14:creationId xmlns:p14="http://schemas.microsoft.com/office/powerpoint/2010/main" val="3709744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JSON</a:t>
            </a:r>
          </a:p>
          <a:p>
            <a:pPr algn="ctr"/>
            <a:r>
              <a:rPr lang="pt-BR" sz="3600" dirty="0">
                <a:solidFill>
                  <a:srgbClr val="FFDA3E"/>
                </a:solidFill>
                <a:latin typeface="Roboto Mono Medium"/>
                <a:ea typeface="Roboto Mono Medium"/>
                <a:cs typeface="Roboto Mono Medium"/>
                <a:sym typeface="Roboto Mono Medium"/>
              </a:rPr>
              <a:t>Conhecendo o formato JSON</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588225"/>
            <a:ext cx="11727200" cy="4055514"/>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solidFill>
                  <a:srgbClr val="1B1B1B"/>
                </a:solidFill>
                <a:latin typeface="Roboto Mono"/>
                <a:sym typeface="Roboto Mono"/>
              </a:rPr>
              <a:t>	O JSON é um formato que armazena informações estruturadas e é principalmente usado para transferir dados entre um servidor e um cliente. </a:t>
            </a:r>
          </a:p>
          <a:p>
            <a:pPr marL="152396">
              <a:buSzPts val="1800"/>
            </a:pPr>
            <a:r>
              <a:rPr lang="pt-BR" sz="2000" dirty="0">
                <a:solidFill>
                  <a:srgbClr val="1B1B1B"/>
                </a:solidFill>
                <a:latin typeface="Roboto Mono"/>
                <a:sym typeface="Roboto Mono"/>
              </a:rPr>
              <a:t>	O formato JSON é utilizado para estruturar dados em formato de texto e permitir a troca de dados entre aplicações de forma simples, leve e rápida. </a:t>
            </a:r>
          </a:p>
          <a:p>
            <a:pPr marL="152396">
              <a:buSzPts val="1800"/>
            </a:pPr>
            <a:r>
              <a:rPr lang="pt-BR" sz="2000" dirty="0">
                <a:solidFill>
                  <a:srgbClr val="1B1B1B"/>
                </a:solidFill>
                <a:latin typeface="Roboto Mono"/>
                <a:sym typeface="Roboto Mono"/>
              </a:rPr>
              <a:t>	Os dados contidos em um arquivo no formato JSON devem ser estruturados por meio de uma coleção de pares com nome e valor ou ser uma lista ordenada de valores. Seus elementos devem conter:</a:t>
            </a:r>
          </a:p>
          <a:p>
            <a:pPr marL="152396">
              <a:buSzPts val="1800"/>
            </a:pPr>
            <a:r>
              <a:rPr lang="pt-BR" sz="2000" b="1" dirty="0">
                <a:solidFill>
                  <a:srgbClr val="1B1B1B"/>
                </a:solidFill>
                <a:latin typeface="Roboto Mono"/>
                <a:sym typeface="Roboto Mono"/>
              </a:rPr>
              <a:t>chave</a:t>
            </a:r>
            <a:r>
              <a:rPr lang="pt-BR" sz="2000" dirty="0">
                <a:solidFill>
                  <a:srgbClr val="1B1B1B"/>
                </a:solidFill>
                <a:latin typeface="Roboto Mono"/>
                <a:sym typeface="Roboto Mono"/>
              </a:rPr>
              <a:t>: corresponde ao identificador do conteúdo, deve ser uma </a:t>
            </a:r>
            <a:r>
              <a:rPr lang="pt-BR" sz="2000" dirty="0" err="1">
                <a:solidFill>
                  <a:srgbClr val="1B1B1B"/>
                </a:solidFill>
                <a:latin typeface="Roboto Mono"/>
                <a:sym typeface="Roboto Mono"/>
              </a:rPr>
              <a:t>string</a:t>
            </a:r>
            <a:r>
              <a:rPr lang="pt-BR" sz="2000" dirty="0">
                <a:solidFill>
                  <a:srgbClr val="1B1B1B"/>
                </a:solidFill>
                <a:latin typeface="Roboto Mono"/>
                <a:sym typeface="Roboto Mono"/>
              </a:rPr>
              <a:t> delimitada por aspas;</a:t>
            </a:r>
          </a:p>
          <a:p>
            <a:pPr marL="152396">
              <a:buSzPts val="1800"/>
            </a:pPr>
            <a:r>
              <a:rPr lang="pt-BR" sz="2000" b="1" dirty="0">
                <a:solidFill>
                  <a:srgbClr val="1B1B1B"/>
                </a:solidFill>
                <a:latin typeface="Roboto Mono"/>
                <a:sym typeface="Roboto Mono"/>
              </a:rPr>
              <a:t>valor</a:t>
            </a:r>
            <a:r>
              <a:rPr lang="pt-BR" sz="2000" dirty="0">
                <a:solidFill>
                  <a:srgbClr val="1B1B1B"/>
                </a:solidFill>
                <a:latin typeface="Roboto Mono"/>
                <a:sym typeface="Roboto Mono"/>
              </a:rPr>
              <a:t>: representa o conteúdo correspondente e pode conter os seguintes tipos de dados: </a:t>
            </a:r>
            <a:r>
              <a:rPr lang="pt-BR" sz="2000" dirty="0" err="1">
                <a:solidFill>
                  <a:srgbClr val="1B1B1B"/>
                </a:solidFill>
                <a:latin typeface="Roboto Mono"/>
                <a:sym typeface="Roboto Mono"/>
              </a:rPr>
              <a:t>string</a:t>
            </a:r>
            <a:r>
              <a:rPr lang="pt-BR" sz="2000" dirty="0">
                <a:solidFill>
                  <a:srgbClr val="1B1B1B"/>
                </a:solidFill>
                <a:latin typeface="Roboto Mono"/>
                <a:sym typeface="Roboto Mono"/>
              </a:rPr>
              <a:t>, </a:t>
            </a:r>
            <a:r>
              <a:rPr lang="pt-BR" sz="2000" dirty="0" err="1">
                <a:solidFill>
                  <a:srgbClr val="1B1B1B"/>
                </a:solidFill>
                <a:latin typeface="Roboto Mono"/>
                <a:sym typeface="Roboto Mono"/>
              </a:rPr>
              <a:t>array</a:t>
            </a:r>
            <a:r>
              <a:rPr lang="pt-BR" sz="2000" dirty="0">
                <a:solidFill>
                  <a:srgbClr val="1B1B1B"/>
                </a:solidFill>
                <a:latin typeface="Roboto Mono"/>
                <a:sym typeface="Roboto Mono"/>
              </a:rPr>
              <a:t>, </a:t>
            </a:r>
            <a:r>
              <a:rPr lang="pt-BR" sz="2000" dirty="0" err="1">
                <a:solidFill>
                  <a:srgbClr val="1B1B1B"/>
                </a:solidFill>
                <a:latin typeface="Roboto Mono"/>
                <a:sym typeface="Roboto Mono"/>
              </a:rPr>
              <a:t>object</a:t>
            </a:r>
            <a:r>
              <a:rPr lang="pt-BR" sz="2000" dirty="0">
                <a:solidFill>
                  <a:srgbClr val="1B1B1B"/>
                </a:solidFill>
                <a:latin typeface="Roboto Mono"/>
                <a:sym typeface="Roboto Mono"/>
              </a:rPr>
              <a:t>, </a:t>
            </a:r>
            <a:r>
              <a:rPr lang="pt-BR" sz="2000" dirty="0" err="1">
                <a:solidFill>
                  <a:srgbClr val="1B1B1B"/>
                </a:solidFill>
                <a:latin typeface="Roboto Mono"/>
                <a:sym typeface="Roboto Mono"/>
              </a:rPr>
              <a:t>number</a:t>
            </a:r>
            <a:r>
              <a:rPr lang="pt-BR" sz="2000" dirty="0">
                <a:solidFill>
                  <a:srgbClr val="1B1B1B"/>
                </a:solidFill>
                <a:latin typeface="Roboto Mono"/>
                <a:sym typeface="Roboto Mono"/>
              </a:rPr>
              <a:t>, </a:t>
            </a:r>
            <a:r>
              <a:rPr lang="pt-BR" sz="2000" dirty="0" err="1">
                <a:solidFill>
                  <a:srgbClr val="1B1B1B"/>
                </a:solidFill>
                <a:latin typeface="Roboto Mono"/>
                <a:sym typeface="Roboto Mono"/>
              </a:rPr>
              <a:t>boolean</a:t>
            </a:r>
            <a:r>
              <a:rPr lang="pt-BR" sz="2000" dirty="0">
                <a:solidFill>
                  <a:srgbClr val="1B1B1B"/>
                </a:solidFill>
                <a:latin typeface="Roboto Mono"/>
                <a:sym typeface="Roboto Mono"/>
              </a:rPr>
              <a:t> ou </a:t>
            </a:r>
            <a:r>
              <a:rPr lang="pt-BR" sz="2000" dirty="0" err="1">
                <a:solidFill>
                  <a:srgbClr val="1B1B1B"/>
                </a:solidFill>
                <a:latin typeface="Roboto Mono"/>
                <a:sym typeface="Roboto Mono"/>
              </a:rPr>
              <a:t>null</a:t>
            </a:r>
            <a:r>
              <a:rPr lang="pt-BR" sz="2000" dirty="0">
                <a:solidFill>
                  <a:srgbClr val="1B1B1B"/>
                </a:solidFill>
                <a:latin typeface="Roboto Mono"/>
                <a:sym typeface="Roboto Mono"/>
              </a:rPr>
              <a:t>;</a:t>
            </a:r>
          </a:p>
          <a:p>
            <a:pPr marL="152396">
              <a:buSzPts val="1800"/>
            </a:pPr>
            <a:r>
              <a:rPr lang="pt-BR" sz="2000" b="1" dirty="0">
                <a:solidFill>
                  <a:srgbClr val="1B1B1B"/>
                </a:solidFill>
                <a:latin typeface="Roboto Mono"/>
                <a:sym typeface="Roboto Mono"/>
              </a:rPr>
              <a:t>dois pontos(:) </a:t>
            </a:r>
            <a:r>
              <a:rPr lang="pt-BR" sz="2000" dirty="0">
                <a:solidFill>
                  <a:srgbClr val="1B1B1B"/>
                </a:solidFill>
                <a:latin typeface="Roboto Mono"/>
                <a:sym typeface="Roboto Mono"/>
              </a:rPr>
              <a:t>: para separar a chave e seu valor correspondente;</a:t>
            </a:r>
          </a:p>
          <a:p>
            <a:pPr marL="152396">
              <a:buSzPts val="1800"/>
            </a:pPr>
            <a:r>
              <a:rPr lang="pt-BR" sz="2000" b="1" dirty="0">
                <a:solidFill>
                  <a:srgbClr val="1B1B1B"/>
                </a:solidFill>
                <a:latin typeface="Roboto Mono"/>
                <a:sym typeface="Roboto Mono"/>
              </a:rPr>
              <a:t>vírgula(,)</a:t>
            </a:r>
            <a:r>
              <a:rPr lang="pt-BR" sz="2000" dirty="0">
                <a:solidFill>
                  <a:srgbClr val="1B1B1B"/>
                </a:solidFill>
                <a:latin typeface="Roboto Mono"/>
                <a:sym typeface="Roboto Mono"/>
              </a:rPr>
              <a:t> : para indicar a separação entre os elementos.</a:t>
            </a:r>
            <a:endParaRPr lang="pt-BR" sz="2000" i="1" dirty="0">
              <a:solidFill>
                <a:srgbClr val="1B1B1B"/>
              </a:solidFill>
              <a:latin typeface="Roboto Mono"/>
              <a:sym typeface="Roboto Mono"/>
            </a:endParaRPr>
          </a:p>
        </p:txBody>
      </p:sp>
    </p:spTree>
    <p:extLst>
      <p:ext uri="{BB962C8B-B14F-4D97-AF65-F5344CB8AC3E}">
        <p14:creationId xmlns:p14="http://schemas.microsoft.com/office/powerpoint/2010/main" val="3045321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JSON</a:t>
            </a:r>
          </a:p>
          <a:p>
            <a:pPr algn="ctr"/>
            <a:r>
              <a:rPr lang="pt-BR" sz="3600" dirty="0">
                <a:solidFill>
                  <a:srgbClr val="FFDA3E"/>
                </a:solidFill>
                <a:latin typeface="Roboto Mono Medium"/>
                <a:ea typeface="Roboto Mono Medium"/>
                <a:cs typeface="Roboto Mono Medium"/>
                <a:sym typeface="Roboto Mono Medium"/>
              </a:rPr>
              <a:t>Quais as principais características desse formato?</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428999"/>
            <a:ext cx="11727200" cy="3214739"/>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solidFill>
                  <a:srgbClr val="1B1B1B"/>
                </a:solidFill>
                <a:latin typeface="Roboto Mono"/>
                <a:sym typeface="Roboto Mono"/>
              </a:rPr>
              <a:t>	A simplicidade com que os dados são estruturados no formato JSON permite que ele seja utilizado em qualquer tipo de linguagem de programação. Além disso, ele pode ser manipulado em diferentes plataformas, como Windows, </a:t>
            </a:r>
            <a:r>
              <a:rPr lang="pt-BR" sz="2000" dirty="0" err="1">
                <a:solidFill>
                  <a:srgbClr val="1B1B1B"/>
                </a:solidFill>
                <a:latin typeface="Roboto Mono"/>
                <a:sym typeface="Roboto Mono"/>
              </a:rPr>
              <a:t>macOS</a:t>
            </a:r>
            <a:r>
              <a:rPr lang="pt-BR" sz="2000" dirty="0">
                <a:solidFill>
                  <a:srgbClr val="1B1B1B"/>
                </a:solidFill>
                <a:latin typeface="Roboto Mono"/>
                <a:sym typeface="Roboto Mono"/>
              </a:rPr>
              <a:t>, Linux, e em vários tipos de sistemas, como em aplicações web e aplicativos móveis.</a:t>
            </a:r>
            <a:endParaRPr lang="pt-BR" sz="2000" i="1" dirty="0">
              <a:solidFill>
                <a:srgbClr val="1B1B1B"/>
              </a:solidFill>
              <a:latin typeface="Roboto Mono"/>
              <a:sym typeface="Roboto Mono"/>
            </a:endParaRPr>
          </a:p>
        </p:txBody>
      </p:sp>
    </p:spTree>
    <p:extLst>
      <p:ext uri="{BB962C8B-B14F-4D97-AF65-F5344CB8AC3E}">
        <p14:creationId xmlns:p14="http://schemas.microsoft.com/office/powerpoint/2010/main" val="2792099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JSON</a:t>
            </a:r>
          </a:p>
          <a:p>
            <a:pPr algn="ctr"/>
            <a:r>
              <a:rPr lang="pt-BR" sz="3600" dirty="0">
                <a:solidFill>
                  <a:srgbClr val="FFDA3E"/>
                </a:solidFill>
                <a:latin typeface="Roboto Mono Medium"/>
                <a:ea typeface="Roboto Mono Medium"/>
                <a:cs typeface="Roboto Mono Medium"/>
                <a:sym typeface="Roboto Mono Medium"/>
              </a:rPr>
              <a:t>Formatação do arquivo</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05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588225"/>
            <a:ext cx="11727200" cy="4055514"/>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solidFill>
                  <a:srgbClr val="1B1B1B"/>
                </a:solidFill>
                <a:latin typeface="Roboto Mono"/>
                <a:sym typeface="Roboto Mono"/>
              </a:rPr>
              <a:t>	Além da terminação .</a:t>
            </a:r>
            <a:r>
              <a:rPr lang="pt-BR" sz="2000" dirty="0" err="1">
                <a:solidFill>
                  <a:srgbClr val="1B1B1B"/>
                </a:solidFill>
                <a:latin typeface="Roboto Mono"/>
                <a:sym typeface="Roboto Mono"/>
              </a:rPr>
              <a:t>json</a:t>
            </a:r>
            <a:r>
              <a:rPr lang="pt-BR" sz="2000" dirty="0">
                <a:solidFill>
                  <a:srgbClr val="1B1B1B"/>
                </a:solidFill>
                <a:latin typeface="Roboto Mono"/>
                <a:sym typeface="Roboto Mono"/>
              </a:rPr>
              <a:t> em todos os arquivos que utilizam esse formato, os dados armazenados devem seguir uma notação específica, ou seja, precisam ser organizados com os.</a:t>
            </a:r>
          </a:p>
          <a:p>
            <a:pPr marL="2438396" lvl="5">
              <a:buSzPts val="1800"/>
            </a:pPr>
            <a:r>
              <a:rPr lang="pt-BR" sz="1400" i="1" dirty="0">
                <a:solidFill>
                  <a:srgbClr val="1B1B1B"/>
                </a:solidFill>
                <a:latin typeface="Roboto Mono"/>
                <a:sym typeface="Roboto Mono"/>
              </a:rPr>
              <a:t>{ </a:t>
            </a:r>
          </a:p>
          <a:p>
            <a:pPr marL="2438396" lvl="5">
              <a:buSzPts val="1800"/>
            </a:pPr>
            <a:r>
              <a:rPr lang="pt-BR" sz="1400" i="1" dirty="0">
                <a:solidFill>
                  <a:srgbClr val="1B1B1B"/>
                </a:solidFill>
                <a:latin typeface="Roboto Mono"/>
                <a:sym typeface="Roboto Mono"/>
              </a:rPr>
              <a:t>	"estado": "São Paulo“ // </a:t>
            </a:r>
            <a:r>
              <a:rPr lang="pt-BR" sz="1400" i="1" dirty="0" err="1">
                <a:solidFill>
                  <a:srgbClr val="1B1B1B"/>
                </a:solidFill>
                <a:latin typeface="Roboto Mono"/>
                <a:sym typeface="Roboto Mono"/>
              </a:rPr>
              <a:t>String</a:t>
            </a:r>
            <a:endParaRPr lang="pt-BR" sz="1400" i="1" dirty="0">
              <a:solidFill>
                <a:srgbClr val="1B1B1B"/>
              </a:solidFill>
              <a:latin typeface="Roboto Mono"/>
              <a:sym typeface="Roboto Mono"/>
            </a:endParaRPr>
          </a:p>
          <a:p>
            <a:pPr marL="2438396" lvl="5">
              <a:buSzPts val="1800"/>
            </a:pPr>
            <a:r>
              <a:rPr lang="pt-BR" sz="1400" i="1" dirty="0">
                <a:solidFill>
                  <a:srgbClr val="1B1B1B"/>
                </a:solidFill>
                <a:latin typeface="Roboto Mono"/>
                <a:sym typeface="Roboto Mono"/>
              </a:rPr>
              <a:t>	"estados": ["São Paulo", "Minas Gerais", "Rio de Janeiro"] // </a:t>
            </a:r>
            <a:r>
              <a:rPr lang="pt-BR" sz="1400" i="1" dirty="0" err="1">
                <a:solidFill>
                  <a:srgbClr val="1B1B1B"/>
                </a:solidFill>
                <a:latin typeface="Roboto Mono"/>
                <a:sym typeface="Roboto Mono"/>
              </a:rPr>
              <a:t>Array</a:t>
            </a:r>
            <a:endParaRPr lang="pt-BR" sz="1400" i="1" dirty="0">
              <a:solidFill>
                <a:srgbClr val="1B1B1B"/>
              </a:solidFill>
              <a:latin typeface="Roboto Mono"/>
              <a:sym typeface="Roboto Mono"/>
            </a:endParaRPr>
          </a:p>
          <a:p>
            <a:pPr marL="2438396" lvl="5">
              <a:buSzPts val="1800"/>
            </a:pPr>
            <a:r>
              <a:rPr lang="pt-BR" sz="1400" i="1" dirty="0">
                <a:solidFill>
                  <a:srgbClr val="1B1B1B"/>
                </a:solidFill>
                <a:latin typeface="Roboto Mono"/>
                <a:sym typeface="Roboto Mono"/>
              </a:rPr>
              <a:t> //Objeto </a:t>
            </a:r>
          </a:p>
          <a:p>
            <a:pPr marL="2438396" lvl="5">
              <a:buSzPts val="1800"/>
            </a:pPr>
            <a:r>
              <a:rPr lang="pt-BR" sz="1400" i="1" dirty="0">
                <a:solidFill>
                  <a:srgbClr val="1B1B1B"/>
                </a:solidFill>
                <a:latin typeface="Roboto Mono"/>
                <a:sym typeface="Roboto Mono"/>
              </a:rPr>
              <a:t>	"estado": {</a:t>
            </a:r>
          </a:p>
          <a:p>
            <a:pPr marL="1523996" lvl="3">
              <a:buSzPts val="1800"/>
            </a:pPr>
            <a:r>
              <a:rPr lang="pt-BR" sz="1400" i="1" dirty="0">
                <a:solidFill>
                  <a:srgbClr val="1B1B1B"/>
                </a:solidFill>
                <a:latin typeface="Roboto Mono"/>
                <a:sym typeface="Roboto Mono"/>
              </a:rPr>
              <a:t>		       	      "estado": "São Paulo",</a:t>
            </a:r>
          </a:p>
          <a:p>
            <a:pPr marL="1523996" lvl="3">
              <a:buSzPts val="1800"/>
            </a:pPr>
            <a:r>
              <a:rPr lang="pt-BR" sz="1400" i="1" dirty="0">
                <a:solidFill>
                  <a:srgbClr val="1B1B1B"/>
                </a:solidFill>
                <a:latin typeface="Roboto Mono"/>
                <a:sym typeface="Roboto Mono"/>
              </a:rPr>
              <a:t>			       "sigla": "SP"			</a:t>
            </a:r>
          </a:p>
          <a:p>
            <a:pPr marL="2438396" lvl="5">
              <a:buSzPts val="1800"/>
            </a:pPr>
            <a:r>
              <a:rPr lang="pt-BR" sz="1400" i="1" dirty="0">
                <a:solidFill>
                  <a:srgbClr val="1B1B1B"/>
                </a:solidFill>
                <a:latin typeface="Roboto Mono"/>
                <a:sym typeface="Roboto Mono"/>
              </a:rPr>
              <a:t>                       }</a:t>
            </a:r>
          </a:p>
          <a:p>
            <a:pPr marL="2438396" lvl="5">
              <a:buSzPts val="1800"/>
            </a:pPr>
            <a:r>
              <a:rPr lang="pt-BR" sz="1400" i="1" dirty="0">
                <a:solidFill>
                  <a:srgbClr val="1B1B1B"/>
                </a:solidFill>
                <a:latin typeface="Roboto Mono"/>
                <a:sym typeface="Roboto Mono"/>
              </a:rPr>
              <a:t>//Lista de objetos</a:t>
            </a:r>
          </a:p>
          <a:p>
            <a:pPr marL="2438396" lvl="5">
              <a:buSzPts val="1800"/>
            </a:pPr>
            <a:r>
              <a:rPr lang="pt-BR" sz="1400" i="1" dirty="0">
                <a:solidFill>
                  <a:srgbClr val="1B1B1B"/>
                </a:solidFill>
                <a:latin typeface="Roboto Mono"/>
                <a:sym typeface="Roboto Mono"/>
              </a:rPr>
              <a:t>    "estados":[</a:t>
            </a:r>
          </a:p>
          <a:p>
            <a:pPr marL="3809996" lvl="8">
              <a:buSzPts val="1800"/>
            </a:pPr>
            <a:r>
              <a:rPr lang="pt-BR" sz="1400" i="1" dirty="0">
                <a:solidFill>
                  <a:srgbClr val="1B1B1B"/>
                </a:solidFill>
                <a:latin typeface="Roboto Mono"/>
                <a:sym typeface="Roboto Mono"/>
              </a:rPr>
              <a:t>    {"estado": "São Paulo", "sigla": "SP"},</a:t>
            </a:r>
          </a:p>
          <a:p>
            <a:pPr marL="3809996" lvl="8">
              <a:buSzPts val="1800"/>
            </a:pPr>
            <a:r>
              <a:rPr lang="pt-BR" sz="1400" i="1" dirty="0">
                <a:solidFill>
                  <a:srgbClr val="1B1B1B"/>
                </a:solidFill>
                <a:latin typeface="Roboto Mono"/>
                <a:sym typeface="Roboto Mono"/>
              </a:rPr>
              <a:t>    {"estado": "Minas Gerais", "sigla": "MG"},</a:t>
            </a:r>
          </a:p>
          <a:p>
            <a:pPr marL="3809996" lvl="8">
              <a:buSzPts val="1800"/>
            </a:pPr>
            <a:r>
              <a:rPr lang="pt-BR" sz="1400" i="1" dirty="0">
                <a:solidFill>
                  <a:srgbClr val="1B1B1B"/>
                </a:solidFill>
                <a:latin typeface="Roboto Mono"/>
                <a:sym typeface="Roboto Mono"/>
              </a:rPr>
              <a:t>    {"estado": "Rio de Janeiro", "sigla": "RJ"}</a:t>
            </a:r>
          </a:p>
          <a:p>
            <a:pPr marL="3352796" lvl="7">
              <a:buSzPts val="1800"/>
            </a:pPr>
            <a:r>
              <a:rPr lang="pt-BR" sz="1400" i="1" dirty="0">
                <a:solidFill>
                  <a:srgbClr val="1B1B1B"/>
                </a:solidFill>
                <a:latin typeface="Roboto Mono"/>
                <a:sym typeface="Roboto Mono"/>
              </a:rPr>
              <a:t>    ]</a:t>
            </a:r>
          </a:p>
          <a:p>
            <a:pPr marL="2438396" lvl="5">
              <a:buSzPts val="1800"/>
            </a:pPr>
            <a:r>
              <a:rPr lang="pt-BR" sz="1400" i="1" dirty="0">
                <a:solidFill>
                  <a:srgbClr val="1B1B1B"/>
                </a:solidFill>
                <a:latin typeface="Roboto Mono"/>
                <a:sym typeface="Roboto Mono"/>
              </a:rPr>
              <a:t>}</a:t>
            </a:r>
          </a:p>
        </p:txBody>
      </p:sp>
    </p:spTree>
    <p:extLst>
      <p:ext uri="{BB962C8B-B14F-4D97-AF65-F5344CB8AC3E}">
        <p14:creationId xmlns:p14="http://schemas.microsoft.com/office/powerpoint/2010/main" val="1836656263"/>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4723</TotalTime>
  <Words>1707</Words>
  <Application>Microsoft Office PowerPoint</Application>
  <PresentationFormat>Widescreen</PresentationFormat>
  <Paragraphs>155</Paragraphs>
  <Slides>23</Slides>
  <Notes>23</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23</vt:i4>
      </vt:variant>
    </vt:vector>
  </HeadingPairs>
  <TitlesOfParts>
    <vt:vector size="29" baseType="lpstr">
      <vt:lpstr>Arial</vt:lpstr>
      <vt:lpstr>Calibri</vt:lpstr>
      <vt:lpstr>Calibri Light</vt:lpstr>
      <vt:lpstr>Roboto Mono</vt:lpstr>
      <vt:lpstr>Roboto Mono Medium</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João Henrique Cunha Rangel</dc:creator>
  <cp:lastModifiedBy>Marcelo Vieira</cp:lastModifiedBy>
  <cp:revision>57</cp:revision>
  <dcterms:created xsi:type="dcterms:W3CDTF">2018-09-27T21:57:56Z</dcterms:created>
  <dcterms:modified xsi:type="dcterms:W3CDTF">2022-06-25T22:28:52Z</dcterms:modified>
</cp:coreProperties>
</file>