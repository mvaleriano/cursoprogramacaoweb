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769" r:id="rId2"/>
    <p:sldId id="797" r:id="rId3"/>
    <p:sldId id="799" r:id="rId4"/>
    <p:sldId id="800" r:id="rId5"/>
    <p:sldId id="801" r:id="rId6"/>
    <p:sldId id="802" r:id="rId7"/>
    <p:sldId id="803" r:id="rId8"/>
    <p:sldId id="798" r:id="rId9"/>
    <p:sldId id="804" r:id="rId10"/>
    <p:sldId id="805" r:id="rId11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DA3E"/>
    <a:srgbClr val="D6BA32"/>
    <a:srgbClr val="F47920"/>
    <a:srgbClr val="1572B6"/>
    <a:srgbClr val="35A8D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1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26C8844-F009-45FC-92E0-5330E07D2391}" type="datetimeFigureOut">
              <a:rPr lang="pt-BR" smtClean="0"/>
              <a:t>26/06/2022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5488C18-FEF5-4A10-8A62-F4039403FDD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92083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61b1306868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61b1306868_0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2452230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6434ad92c4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6434ad92c4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95106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6434ad92c4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6434ad92c4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833144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6434ad92c4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6434ad92c4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1794847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6434ad92c4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6434ad92c4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6316413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6434ad92c4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6434ad92c4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9278287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6434ad92c4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6434ad92c4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8732663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6434ad92c4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6434ad92c4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3659906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6434ad92c4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6434ad92c4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3791120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6434ad92c4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6434ad92c4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246844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094C45-9102-437E-AE66-F57C174F1152}" type="datetimeFigureOut">
              <a:rPr lang="pt-BR" smtClean="0"/>
              <a:t>26/06/2022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BBABEC-0FAF-4CB4-8A95-78DD35F8A71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073494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094C45-9102-437E-AE66-F57C174F1152}" type="datetimeFigureOut">
              <a:rPr lang="pt-BR" smtClean="0"/>
              <a:t>26/06/2022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BBABEC-0FAF-4CB4-8A95-78DD35F8A71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986922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094C45-9102-437E-AE66-F57C174F1152}" type="datetimeFigureOut">
              <a:rPr lang="pt-BR" smtClean="0"/>
              <a:t>26/06/2022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BBABEC-0FAF-4CB4-8A95-78DD35F8A71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698791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094C45-9102-437E-AE66-F57C174F1152}" type="datetimeFigureOut">
              <a:rPr lang="pt-BR" smtClean="0"/>
              <a:t>26/06/2022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BBABEC-0FAF-4CB4-8A95-78DD35F8A71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046967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094C45-9102-437E-AE66-F57C174F1152}" type="datetimeFigureOut">
              <a:rPr lang="pt-BR" smtClean="0"/>
              <a:t>26/06/2022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BBABEC-0FAF-4CB4-8A95-78DD35F8A71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210169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094C45-9102-437E-AE66-F57C174F1152}" type="datetimeFigureOut">
              <a:rPr lang="pt-BR" smtClean="0"/>
              <a:t>26/06/2022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BBABEC-0FAF-4CB4-8A95-78DD35F8A71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219207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094C45-9102-437E-AE66-F57C174F1152}" type="datetimeFigureOut">
              <a:rPr lang="pt-BR" smtClean="0"/>
              <a:t>26/06/2022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BBABEC-0FAF-4CB4-8A95-78DD35F8A71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15550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094C45-9102-437E-AE66-F57C174F1152}" type="datetimeFigureOut">
              <a:rPr lang="pt-BR" smtClean="0"/>
              <a:t>26/06/2022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BBABEC-0FAF-4CB4-8A95-78DD35F8A71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083350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094C45-9102-437E-AE66-F57C174F1152}" type="datetimeFigureOut">
              <a:rPr lang="pt-BR" smtClean="0"/>
              <a:t>26/06/2022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BBABEC-0FAF-4CB4-8A95-78DD35F8A71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259236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094C45-9102-437E-AE66-F57C174F1152}" type="datetimeFigureOut">
              <a:rPr lang="pt-BR" smtClean="0"/>
              <a:t>26/06/2022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BBABEC-0FAF-4CB4-8A95-78DD35F8A71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641127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094C45-9102-437E-AE66-F57C174F1152}" type="datetimeFigureOut">
              <a:rPr lang="pt-BR" smtClean="0"/>
              <a:t>26/06/2022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BBABEC-0FAF-4CB4-8A95-78DD35F8A71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068846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094C45-9102-437E-AE66-F57C174F1152}" type="datetimeFigureOut">
              <a:rPr lang="pt-BR" smtClean="0"/>
              <a:t>26/06/2022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BBABEC-0FAF-4CB4-8A95-78DD35F8A71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763658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emf"/><Relationship Id="rId4" Type="http://schemas.openxmlformats.org/officeDocument/2006/relationships/package" Target="../embeddings/Microsoft_Excel_Worksheet.xlsx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3"/>
          <p:cNvSpPr txBox="1"/>
          <p:nvPr/>
        </p:nvSpPr>
        <p:spPr>
          <a:xfrm>
            <a:off x="871017" y="4381269"/>
            <a:ext cx="10450000" cy="104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/>
            <a:r>
              <a:rPr lang="pt-BR" sz="5600" dirty="0">
                <a:solidFill>
                  <a:srgbClr val="D6BA32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Curso Javascript básico</a:t>
            </a:r>
          </a:p>
          <a:p>
            <a:pPr algn="ctr"/>
            <a:r>
              <a:rPr lang="pt-BR" sz="5600" dirty="0">
                <a:solidFill>
                  <a:srgbClr val="D6BA32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Aula 05 - </a:t>
            </a:r>
            <a:r>
              <a:rPr lang="pt-BR" sz="4800" dirty="0">
                <a:solidFill>
                  <a:srgbClr val="D6BA32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Trabalhando com Objetos</a:t>
            </a:r>
            <a:endParaRPr sz="4800" dirty="0">
              <a:solidFill>
                <a:srgbClr val="D6BA32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  <a:p>
            <a:pPr algn="ctr"/>
            <a:endParaRPr sz="2400" dirty="0">
              <a:solidFill>
                <a:srgbClr val="264DE3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4C604F82-D39D-A579-B80D-9584FB80137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0496" y="841227"/>
            <a:ext cx="3534212" cy="3534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18362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/>
          <p:nvPr/>
        </p:nvSpPr>
        <p:spPr>
          <a:xfrm>
            <a:off x="0" y="905740"/>
            <a:ext cx="12191999" cy="15042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/>
            <a:r>
              <a:rPr lang="pt-BR" sz="5400" dirty="0">
                <a:solidFill>
                  <a:srgbClr val="D6BA32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Trabalhando com objetos</a:t>
            </a:r>
          </a:p>
          <a:p>
            <a:pPr algn="ctr"/>
            <a:r>
              <a:rPr lang="pt-BR" sz="3600" dirty="0">
                <a:solidFill>
                  <a:srgbClr val="FFDA3E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Métodos - </a:t>
            </a:r>
            <a:r>
              <a:rPr lang="pt-BR" sz="3600" dirty="0" err="1">
                <a:solidFill>
                  <a:srgbClr val="FFDA3E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Object.keys</a:t>
            </a:r>
            <a:r>
              <a:rPr lang="pt-BR" sz="3600" dirty="0">
                <a:solidFill>
                  <a:srgbClr val="FFDA3E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()</a:t>
            </a:r>
          </a:p>
          <a:p>
            <a:pPr algn="ctr"/>
            <a:endParaRPr lang="pt-BR" sz="3600" dirty="0">
              <a:solidFill>
                <a:srgbClr val="FFDA3E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  <a:p>
            <a:pPr algn="ctr"/>
            <a:endParaRPr lang="pt-BR" sz="3600" dirty="0">
              <a:solidFill>
                <a:srgbClr val="FFDA3E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sp>
        <p:nvSpPr>
          <p:cNvPr id="6" name="Google Shape;62;p14">
            <a:extLst>
              <a:ext uri="{FF2B5EF4-FFF2-40B4-BE49-F238E27FC236}">
                <a16:creationId xmlns:a16="http://schemas.microsoft.com/office/drawing/2014/main" id="{9CADA192-C9A8-B9C0-227F-815B950732DA}"/>
              </a:ext>
            </a:extLst>
          </p:cNvPr>
          <p:cNvSpPr txBox="1"/>
          <p:nvPr/>
        </p:nvSpPr>
        <p:spPr>
          <a:xfrm>
            <a:off x="731622" y="214261"/>
            <a:ext cx="11004402" cy="51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pt-BR" sz="1600" dirty="0">
                <a:solidFill>
                  <a:srgbClr val="D6BA32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Curso Javascript básico – Aula 05 </a:t>
            </a:r>
          </a:p>
          <a:p>
            <a:endParaRPr sz="1600" dirty="0">
              <a:solidFill>
                <a:srgbClr val="1572B6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6CAB4A95-049E-FA42-9A48-687C191F888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112" y="188606"/>
            <a:ext cx="564510" cy="564510"/>
          </a:xfrm>
          <a:prstGeom prst="rect">
            <a:avLst/>
          </a:prstGeom>
        </p:spPr>
      </p:pic>
      <p:sp>
        <p:nvSpPr>
          <p:cNvPr id="7" name="Google Shape;65;p14">
            <a:extLst>
              <a:ext uri="{FF2B5EF4-FFF2-40B4-BE49-F238E27FC236}">
                <a16:creationId xmlns:a16="http://schemas.microsoft.com/office/drawing/2014/main" id="{797C2C98-63A7-8CC0-347B-999F3D514499}"/>
              </a:ext>
            </a:extLst>
          </p:cNvPr>
          <p:cNvSpPr txBox="1"/>
          <p:nvPr/>
        </p:nvSpPr>
        <p:spPr>
          <a:xfrm>
            <a:off x="232400" y="2718032"/>
            <a:ext cx="11727200" cy="41399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152396">
              <a:buSzPts val="1800"/>
            </a:pPr>
            <a:r>
              <a:rPr lang="pt-BR" sz="2200" dirty="0">
                <a:solidFill>
                  <a:srgbClr val="1B1B1B"/>
                </a:solidFill>
                <a:latin typeface="Roboto Mono"/>
                <a:sym typeface="Roboto Mono"/>
              </a:rPr>
              <a:t>	O </a:t>
            </a:r>
            <a:r>
              <a:rPr lang="pt-BR" sz="2200" dirty="0" err="1">
                <a:solidFill>
                  <a:srgbClr val="1B1B1B"/>
                </a:solidFill>
                <a:latin typeface="Roboto Mono"/>
                <a:sym typeface="Roboto Mono"/>
              </a:rPr>
              <a:t>Object.keys</a:t>
            </a:r>
            <a:r>
              <a:rPr lang="pt-BR" sz="2200" dirty="0">
                <a:solidFill>
                  <a:srgbClr val="1B1B1B"/>
                </a:solidFill>
                <a:latin typeface="Roboto Mono"/>
                <a:sym typeface="Roboto Mono"/>
              </a:rPr>
              <a:t>() cria um </a:t>
            </a:r>
            <a:r>
              <a:rPr lang="pt-BR" sz="2200" dirty="0" err="1">
                <a:solidFill>
                  <a:srgbClr val="1B1B1B"/>
                </a:solidFill>
                <a:latin typeface="Roboto Mono"/>
                <a:sym typeface="Roboto Mono"/>
              </a:rPr>
              <a:t>array</a:t>
            </a:r>
            <a:r>
              <a:rPr lang="pt-BR" sz="2200" dirty="0">
                <a:solidFill>
                  <a:srgbClr val="1B1B1B"/>
                </a:solidFill>
                <a:latin typeface="Roboto Mono"/>
                <a:sym typeface="Roboto Mono"/>
              </a:rPr>
              <a:t> que contém as chaves de um objeto.</a:t>
            </a:r>
          </a:p>
          <a:p>
            <a:pPr marL="152396">
              <a:buSzPts val="1800"/>
            </a:pPr>
            <a:r>
              <a:rPr lang="pt-BR" sz="2200" dirty="0">
                <a:solidFill>
                  <a:srgbClr val="1B1B1B"/>
                </a:solidFill>
                <a:latin typeface="Roboto Mono"/>
                <a:sym typeface="Roboto Mono"/>
              </a:rPr>
              <a:t>Podemos criar um objeto e imprimir o </a:t>
            </a:r>
            <a:r>
              <a:rPr lang="pt-BR" sz="2200" dirty="0" err="1">
                <a:solidFill>
                  <a:srgbClr val="1B1B1B"/>
                </a:solidFill>
                <a:latin typeface="Roboto Mono"/>
                <a:sym typeface="Roboto Mono"/>
              </a:rPr>
              <a:t>array</a:t>
            </a:r>
            <a:r>
              <a:rPr lang="pt-BR" sz="2200" dirty="0">
                <a:solidFill>
                  <a:srgbClr val="1B1B1B"/>
                </a:solidFill>
                <a:latin typeface="Roboto Mono"/>
                <a:sym typeface="Roboto Mono"/>
              </a:rPr>
              <a:t> de chaves.</a:t>
            </a:r>
          </a:p>
          <a:p>
            <a:pPr marL="152396">
              <a:buSzPts val="1800"/>
            </a:pPr>
            <a:endParaRPr lang="pt-BR" sz="2200" dirty="0">
              <a:solidFill>
                <a:srgbClr val="1B1B1B"/>
              </a:solidFill>
              <a:latin typeface="Roboto Mono"/>
              <a:sym typeface="Roboto Mono"/>
            </a:endParaRPr>
          </a:p>
          <a:p>
            <a:pPr marL="1066796" lvl="2">
              <a:buSzPts val="1800"/>
            </a:pPr>
            <a:r>
              <a:rPr lang="pt-BR" sz="2200" i="1" dirty="0">
                <a:solidFill>
                  <a:srgbClr val="1B1B1B"/>
                </a:solidFill>
                <a:latin typeface="Roboto Mono"/>
                <a:sym typeface="Roboto Mono"/>
              </a:rPr>
              <a:t>	</a:t>
            </a:r>
            <a:r>
              <a:rPr lang="pt-BR" i="1" dirty="0">
                <a:solidFill>
                  <a:srgbClr val="1B1B1B"/>
                </a:solidFill>
                <a:latin typeface="Roboto Mono"/>
                <a:sym typeface="Roboto Mono"/>
              </a:rPr>
              <a:t>	var </a:t>
            </a:r>
            <a:r>
              <a:rPr lang="pt-BR" i="1" dirty="0" err="1">
                <a:solidFill>
                  <a:srgbClr val="1B1B1B"/>
                </a:solidFill>
                <a:latin typeface="Roboto Mono"/>
                <a:sym typeface="Roboto Mono"/>
              </a:rPr>
              <a:t>imovel</a:t>
            </a:r>
            <a:r>
              <a:rPr lang="pt-BR" i="1" dirty="0">
                <a:solidFill>
                  <a:srgbClr val="1B1B1B"/>
                </a:solidFill>
                <a:latin typeface="Roboto Mono"/>
                <a:sym typeface="Roboto Mono"/>
              </a:rPr>
              <a:t> ={</a:t>
            </a:r>
          </a:p>
          <a:p>
            <a:pPr marL="1066796" lvl="2">
              <a:buSzPts val="1800"/>
            </a:pPr>
            <a:r>
              <a:rPr lang="pt-BR" i="1" dirty="0">
                <a:solidFill>
                  <a:srgbClr val="1B1B1B"/>
                </a:solidFill>
                <a:latin typeface="Roboto Mono"/>
                <a:sym typeface="Roboto Mono"/>
              </a:rPr>
              <a:t>			quartos: 2,</a:t>
            </a:r>
          </a:p>
          <a:p>
            <a:pPr marL="1066796" lvl="2">
              <a:buSzPts val="1800"/>
            </a:pPr>
            <a:r>
              <a:rPr lang="pt-BR" i="1" dirty="0">
                <a:solidFill>
                  <a:srgbClr val="1B1B1B"/>
                </a:solidFill>
                <a:latin typeface="Roboto Mono"/>
                <a:sym typeface="Roboto Mono"/>
              </a:rPr>
              <a:t>			tipo: “apartamento”,</a:t>
            </a:r>
          </a:p>
          <a:p>
            <a:pPr marL="1066796" lvl="2">
              <a:buSzPts val="1800"/>
            </a:pPr>
            <a:r>
              <a:rPr lang="pt-BR" i="1" dirty="0">
                <a:solidFill>
                  <a:srgbClr val="1B1B1B"/>
                </a:solidFill>
                <a:latin typeface="Roboto Mono"/>
                <a:sym typeface="Roboto Mono"/>
              </a:rPr>
              <a:t>			andar: 2	</a:t>
            </a:r>
          </a:p>
          <a:p>
            <a:pPr marL="1066796" lvl="2">
              <a:buSzPts val="1800"/>
            </a:pPr>
            <a:r>
              <a:rPr lang="pt-BR" i="1" dirty="0">
                <a:solidFill>
                  <a:srgbClr val="1B1B1B"/>
                </a:solidFill>
                <a:latin typeface="Roboto Mono"/>
                <a:sym typeface="Roboto Mono"/>
              </a:rPr>
              <a:t>        		}</a:t>
            </a:r>
          </a:p>
          <a:p>
            <a:pPr marL="1066796" lvl="2">
              <a:buSzPts val="1800"/>
            </a:pPr>
            <a:r>
              <a:rPr lang="pt-BR" i="1" dirty="0">
                <a:solidFill>
                  <a:srgbClr val="1B1B1B"/>
                </a:solidFill>
                <a:latin typeface="Roboto Mono"/>
                <a:sym typeface="Roboto Mono"/>
              </a:rPr>
              <a:t>		var </a:t>
            </a:r>
            <a:r>
              <a:rPr lang="pt-BR" i="1" dirty="0" err="1">
                <a:solidFill>
                  <a:srgbClr val="1B1B1B"/>
                </a:solidFill>
                <a:latin typeface="Roboto Mono"/>
                <a:sym typeface="Roboto Mono"/>
              </a:rPr>
              <a:t>imovelKeys</a:t>
            </a:r>
            <a:r>
              <a:rPr lang="pt-BR" i="1" dirty="0">
                <a:solidFill>
                  <a:srgbClr val="1B1B1B"/>
                </a:solidFill>
                <a:latin typeface="Roboto Mono"/>
                <a:sym typeface="Roboto Mono"/>
              </a:rPr>
              <a:t> = </a:t>
            </a:r>
            <a:r>
              <a:rPr lang="pt-BR" i="1" dirty="0" err="1">
                <a:solidFill>
                  <a:srgbClr val="1B1B1B"/>
                </a:solidFill>
                <a:latin typeface="Roboto Mono"/>
                <a:sym typeface="Roboto Mono"/>
              </a:rPr>
              <a:t>Object.keys</a:t>
            </a:r>
            <a:r>
              <a:rPr lang="pt-BR" i="1" dirty="0">
                <a:solidFill>
                  <a:srgbClr val="1B1B1B"/>
                </a:solidFill>
                <a:latin typeface="Roboto Mono"/>
                <a:sym typeface="Roboto Mono"/>
              </a:rPr>
              <a:t>(</a:t>
            </a:r>
            <a:r>
              <a:rPr lang="pt-BR" i="1" dirty="0" err="1">
                <a:solidFill>
                  <a:srgbClr val="1B1B1B"/>
                </a:solidFill>
                <a:latin typeface="Roboto Mono"/>
                <a:sym typeface="Roboto Mono"/>
              </a:rPr>
              <a:t>imovel</a:t>
            </a:r>
            <a:r>
              <a:rPr lang="pt-BR" i="1" dirty="0">
                <a:solidFill>
                  <a:srgbClr val="1B1B1B"/>
                </a:solidFill>
                <a:latin typeface="Roboto Mono"/>
                <a:sym typeface="Roboto Mono"/>
              </a:rPr>
              <a:t>);</a:t>
            </a:r>
          </a:p>
          <a:p>
            <a:pPr marL="1066796" lvl="2">
              <a:buSzPts val="1800"/>
            </a:pPr>
            <a:r>
              <a:rPr lang="pt-BR" i="1" dirty="0">
                <a:solidFill>
                  <a:srgbClr val="1B1B1B"/>
                </a:solidFill>
                <a:latin typeface="Roboto Mono"/>
                <a:sym typeface="Roboto Mono"/>
              </a:rPr>
              <a:t>		console.log(</a:t>
            </a:r>
            <a:r>
              <a:rPr lang="pt-BR" i="1" dirty="0" err="1">
                <a:solidFill>
                  <a:srgbClr val="1B1B1B"/>
                </a:solidFill>
                <a:latin typeface="Roboto Mono"/>
                <a:sym typeface="Roboto Mono"/>
              </a:rPr>
              <a:t>imovelKeys</a:t>
            </a:r>
            <a:r>
              <a:rPr lang="pt-BR" i="1" dirty="0">
                <a:solidFill>
                  <a:srgbClr val="1B1B1B"/>
                </a:solidFill>
                <a:latin typeface="Roboto Mono"/>
                <a:sym typeface="Roboto Mono"/>
              </a:rPr>
              <a:t>); // retorna [" quartos ", " tipo ", " andar "]</a:t>
            </a:r>
          </a:p>
        </p:txBody>
      </p:sp>
    </p:spTree>
    <p:extLst>
      <p:ext uri="{BB962C8B-B14F-4D97-AF65-F5344CB8AC3E}">
        <p14:creationId xmlns:p14="http://schemas.microsoft.com/office/powerpoint/2010/main" val="20451717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/>
          <p:nvPr/>
        </p:nvSpPr>
        <p:spPr>
          <a:xfrm>
            <a:off x="0" y="905740"/>
            <a:ext cx="12191999" cy="15042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/>
            <a:r>
              <a:rPr lang="pt-BR" sz="5400" dirty="0">
                <a:solidFill>
                  <a:srgbClr val="D6BA32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Trabalhando com objetos</a:t>
            </a:r>
          </a:p>
          <a:p>
            <a:pPr algn="ctr"/>
            <a:r>
              <a:rPr lang="pt-BR" sz="3600" dirty="0">
                <a:solidFill>
                  <a:srgbClr val="FFDA3E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Métodos - </a:t>
            </a:r>
            <a:r>
              <a:rPr lang="pt-BR" sz="3600" dirty="0" err="1">
                <a:solidFill>
                  <a:srgbClr val="FFDA3E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Object.values</a:t>
            </a:r>
            <a:r>
              <a:rPr lang="pt-BR" sz="3600" dirty="0">
                <a:solidFill>
                  <a:srgbClr val="FFDA3E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()</a:t>
            </a:r>
          </a:p>
          <a:p>
            <a:pPr algn="ctr"/>
            <a:endParaRPr lang="pt-BR" sz="3600" dirty="0">
              <a:solidFill>
                <a:srgbClr val="FFDA3E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sp>
        <p:nvSpPr>
          <p:cNvPr id="6" name="Google Shape;62;p14">
            <a:extLst>
              <a:ext uri="{FF2B5EF4-FFF2-40B4-BE49-F238E27FC236}">
                <a16:creationId xmlns:a16="http://schemas.microsoft.com/office/drawing/2014/main" id="{9CADA192-C9A8-B9C0-227F-815B950732DA}"/>
              </a:ext>
            </a:extLst>
          </p:cNvPr>
          <p:cNvSpPr txBox="1"/>
          <p:nvPr/>
        </p:nvSpPr>
        <p:spPr>
          <a:xfrm>
            <a:off x="731622" y="214261"/>
            <a:ext cx="11004402" cy="51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pt-BR" sz="1600" dirty="0">
                <a:solidFill>
                  <a:srgbClr val="D6BA32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Curso Javascript básico – Aula 05 </a:t>
            </a:r>
          </a:p>
          <a:p>
            <a:endParaRPr sz="1600" dirty="0">
              <a:solidFill>
                <a:srgbClr val="1572B6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6CAB4A95-049E-FA42-9A48-687C191F888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112" y="188606"/>
            <a:ext cx="564510" cy="564510"/>
          </a:xfrm>
          <a:prstGeom prst="rect">
            <a:avLst/>
          </a:prstGeom>
        </p:spPr>
      </p:pic>
      <p:sp>
        <p:nvSpPr>
          <p:cNvPr id="7" name="Google Shape;65;p14">
            <a:extLst>
              <a:ext uri="{FF2B5EF4-FFF2-40B4-BE49-F238E27FC236}">
                <a16:creationId xmlns:a16="http://schemas.microsoft.com/office/drawing/2014/main" id="{797C2C98-63A7-8CC0-347B-999F3D514499}"/>
              </a:ext>
            </a:extLst>
          </p:cNvPr>
          <p:cNvSpPr txBox="1"/>
          <p:nvPr/>
        </p:nvSpPr>
        <p:spPr>
          <a:xfrm>
            <a:off x="232400" y="2718032"/>
            <a:ext cx="11727200" cy="41399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152396">
              <a:buSzPts val="1800"/>
            </a:pPr>
            <a:r>
              <a:rPr lang="pt-BR" sz="2200" dirty="0">
                <a:solidFill>
                  <a:srgbClr val="1B1B1B"/>
                </a:solidFill>
                <a:latin typeface="Roboto Mono"/>
                <a:sym typeface="Roboto Mono"/>
              </a:rPr>
              <a:t>	O </a:t>
            </a:r>
            <a:r>
              <a:rPr lang="pt-BR" sz="2200" dirty="0" err="1">
                <a:solidFill>
                  <a:srgbClr val="1B1B1B"/>
                </a:solidFill>
                <a:latin typeface="Roboto Mono"/>
                <a:sym typeface="Roboto Mono"/>
              </a:rPr>
              <a:t>Object.values</a:t>
            </a:r>
            <a:r>
              <a:rPr lang="pt-BR" sz="2200" dirty="0">
                <a:solidFill>
                  <a:srgbClr val="1B1B1B"/>
                </a:solidFill>
                <a:latin typeface="Roboto Mono"/>
                <a:sym typeface="Roboto Mono"/>
              </a:rPr>
              <a:t>() cria uma </a:t>
            </a:r>
            <a:r>
              <a:rPr lang="pt-BR" sz="2200" dirty="0" err="1">
                <a:solidFill>
                  <a:srgbClr val="1B1B1B"/>
                </a:solidFill>
                <a:latin typeface="Roboto Mono"/>
                <a:sym typeface="Roboto Mono"/>
              </a:rPr>
              <a:t>array</a:t>
            </a:r>
            <a:r>
              <a:rPr lang="pt-BR" sz="2200" dirty="0">
                <a:solidFill>
                  <a:srgbClr val="1B1B1B"/>
                </a:solidFill>
                <a:latin typeface="Roboto Mono"/>
                <a:sym typeface="Roboto Mono"/>
              </a:rPr>
              <a:t> que contém os valores de um objeto.</a:t>
            </a:r>
          </a:p>
          <a:p>
            <a:pPr marL="152396">
              <a:buSzPts val="1800"/>
            </a:pPr>
            <a:endParaRPr lang="pt-BR" sz="2200" dirty="0">
              <a:solidFill>
                <a:srgbClr val="1B1B1B"/>
              </a:solidFill>
              <a:latin typeface="Roboto Mono"/>
              <a:sym typeface="Roboto Mono"/>
            </a:endParaRPr>
          </a:p>
          <a:p>
            <a:pPr marL="1066796" lvl="2">
              <a:buSzPts val="1800"/>
            </a:pPr>
            <a:r>
              <a:rPr lang="pt-BR" sz="2200" i="1" dirty="0">
                <a:solidFill>
                  <a:srgbClr val="1B1B1B"/>
                </a:solidFill>
                <a:latin typeface="Roboto Mono"/>
                <a:sym typeface="Roboto Mono"/>
              </a:rPr>
              <a:t>	</a:t>
            </a:r>
            <a:r>
              <a:rPr lang="pt-BR" i="1" dirty="0">
                <a:solidFill>
                  <a:srgbClr val="1B1B1B"/>
                </a:solidFill>
                <a:latin typeface="Roboto Mono"/>
                <a:sym typeface="Roboto Mono"/>
              </a:rPr>
              <a:t>	var </a:t>
            </a:r>
            <a:r>
              <a:rPr lang="pt-BR" i="1" dirty="0" err="1">
                <a:solidFill>
                  <a:srgbClr val="1B1B1B"/>
                </a:solidFill>
                <a:latin typeface="Roboto Mono"/>
                <a:sym typeface="Roboto Mono"/>
              </a:rPr>
              <a:t>imovel</a:t>
            </a:r>
            <a:r>
              <a:rPr lang="pt-BR" i="1" dirty="0">
                <a:solidFill>
                  <a:srgbClr val="1B1B1B"/>
                </a:solidFill>
                <a:latin typeface="Roboto Mono"/>
                <a:sym typeface="Roboto Mono"/>
              </a:rPr>
              <a:t> ={</a:t>
            </a:r>
          </a:p>
          <a:p>
            <a:pPr marL="1066796" lvl="2">
              <a:buSzPts val="1800"/>
            </a:pPr>
            <a:r>
              <a:rPr lang="pt-BR" i="1" dirty="0">
                <a:solidFill>
                  <a:srgbClr val="1B1B1B"/>
                </a:solidFill>
                <a:latin typeface="Roboto Mono"/>
                <a:sym typeface="Roboto Mono"/>
              </a:rPr>
              <a:t>			quartos: 2,</a:t>
            </a:r>
          </a:p>
          <a:p>
            <a:pPr marL="1066796" lvl="2">
              <a:buSzPts val="1800"/>
            </a:pPr>
            <a:r>
              <a:rPr lang="pt-BR" i="1" dirty="0">
                <a:solidFill>
                  <a:srgbClr val="1B1B1B"/>
                </a:solidFill>
                <a:latin typeface="Roboto Mono"/>
                <a:sym typeface="Roboto Mono"/>
              </a:rPr>
              <a:t>			tipo: “apartamento”,</a:t>
            </a:r>
          </a:p>
          <a:p>
            <a:pPr marL="1066796" lvl="2">
              <a:buSzPts val="1800"/>
            </a:pPr>
            <a:r>
              <a:rPr lang="pt-BR" i="1" dirty="0">
                <a:solidFill>
                  <a:srgbClr val="1B1B1B"/>
                </a:solidFill>
                <a:latin typeface="Roboto Mono"/>
                <a:sym typeface="Roboto Mono"/>
              </a:rPr>
              <a:t>			andar: 2	</a:t>
            </a:r>
          </a:p>
          <a:p>
            <a:pPr marL="1066796" lvl="2">
              <a:buSzPts val="1800"/>
            </a:pPr>
            <a:r>
              <a:rPr lang="pt-BR" i="1" dirty="0">
                <a:solidFill>
                  <a:srgbClr val="1B1B1B"/>
                </a:solidFill>
                <a:latin typeface="Roboto Mono"/>
                <a:sym typeface="Roboto Mono"/>
              </a:rPr>
              <a:t>        		}</a:t>
            </a:r>
          </a:p>
          <a:p>
            <a:pPr marL="1066796" lvl="2">
              <a:buSzPts val="1800"/>
            </a:pPr>
            <a:r>
              <a:rPr lang="pt-BR" i="1" dirty="0">
                <a:solidFill>
                  <a:srgbClr val="1B1B1B"/>
                </a:solidFill>
                <a:latin typeface="Roboto Mono"/>
                <a:sym typeface="Roboto Mono"/>
              </a:rPr>
              <a:t>		var </a:t>
            </a:r>
            <a:r>
              <a:rPr lang="pt-BR" i="1" dirty="0" err="1">
                <a:solidFill>
                  <a:srgbClr val="1B1B1B"/>
                </a:solidFill>
                <a:latin typeface="Roboto Mono"/>
                <a:sym typeface="Roboto Mono"/>
              </a:rPr>
              <a:t>imovelValues</a:t>
            </a:r>
            <a:r>
              <a:rPr lang="pt-BR" i="1" dirty="0">
                <a:solidFill>
                  <a:srgbClr val="1B1B1B"/>
                </a:solidFill>
                <a:latin typeface="Roboto Mono"/>
                <a:sym typeface="Roboto Mono"/>
              </a:rPr>
              <a:t> = </a:t>
            </a:r>
            <a:r>
              <a:rPr lang="pt-BR" i="1" dirty="0" err="1">
                <a:solidFill>
                  <a:srgbClr val="1B1B1B"/>
                </a:solidFill>
                <a:latin typeface="Roboto Mono"/>
                <a:sym typeface="Roboto Mono"/>
              </a:rPr>
              <a:t>Object.values</a:t>
            </a:r>
            <a:r>
              <a:rPr lang="pt-BR" i="1" dirty="0">
                <a:solidFill>
                  <a:srgbClr val="1B1B1B"/>
                </a:solidFill>
                <a:latin typeface="Roboto Mono"/>
                <a:sym typeface="Roboto Mono"/>
              </a:rPr>
              <a:t>(</a:t>
            </a:r>
            <a:r>
              <a:rPr lang="pt-BR" i="1" dirty="0" err="1">
                <a:solidFill>
                  <a:srgbClr val="1B1B1B"/>
                </a:solidFill>
                <a:latin typeface="Roboto Mono"/>
                <a:sym typeface="Roboto Mono"/>
              </a:rPr>
              <a:t>imovel</a:t>
            </a:r>
            <a:r>
              <a:rPr lang="pt-BR" i="1" dirty="0">
                <a:solidFill>
                  <a:srgbClr val="1B1B1B"/>
                </a:solidFill>
                <a:latin typeface="Roboto Mono"/>
                <a:sym typeface="Roboto Mono"/>
              </a:rPr>
              <a:t>);</a:t>
            </a:r>
          </a:p>
          <a:p>
            <a:pPr marL="1066796" lvl="2">
              <a:buSzPts val="1800"/>
            </a:pPr>
            <a:r>
              <a:rPr lang="pt-BR" i="1" dirty="0">
                <a:solidFill>
                  <a:srgbClr val="1B1B1B"/>
                </a:solidFill>
                <a:latin typeface="Roboto Mono"/>
                <a:sym typeface="Roboto Mono"/>
              </a:rPr>
              <a:t>		console.log(</a:t>
            </a:r>
            <a:r>
              <a:rPr lang="pt-BR" i="1" dirty="0" err="1">
                <a:solidFill>
                  <a:srgbClr val="1B1B1B"/>
                </a:solidFill>
                <a:latin typeface="Roboto Mono"/>
                <a:sym typeface="Roboto Mono"/>
              </a:rPr>
              <a:t>imovelValues</a:t>
            </a:r>
            <a:r>
              <a:rPr lang="pt-BR" i="1" dirty="0">
                <a:solidFill>
                  <a:srgbClr val="1B1B1B"/>
                </a:solidFill>
                <a:latin typeface="Roboto Mono"/>
                <a:sym typeface="Roboto Mono"/>
              </a:rPr>
              <a:t>); // retorna [" 2 ", “apartamento", 2]</a:t>
            </a:r>
          </a:p>
        </p:txBody>
      </p:sp>
    </p:spTree>
    <p:extLst>
      <p:ext uri="{BB962C8B-B14F-4D97-AF65-F5344CB8AC3E}">
        <p14:creationId xmlns:p14="http://schemas.microsoft.com/office/powerpoint/2010/main" val="34214487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/>
          <p:nvPr/>
        </p:nvSpPr>
        <p:spPr>
          <a:xfrm>
            <a:off x="0" y="905740"/>
            <a:ext cx="12191999" cy="15042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/>
            <a:r>
              <a:rPr lang="pt-BR" sz="5400" dirty="0">
                <a:solidFill>
                  <a:srgbClr val="D6BA32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Trabalhando com objetos</a:t>
            </a:r>
          </a:p>
          <a:p>
            <a:pPr algn="ctr"/>
            <a:r>
              <a:rPr lang="pt-BR" sz="3600" dirty="0">
                <a:solidFill>
                  <a:srgbClr val="FFDA3E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Métodos - </a:t>
            </a:r>
            <a:r>
              <a:rPr lang="pt-BR" sz="3600" dirty="0" err="1">
                <a:solidFill>
                  <a:srgbClr val="FFDA3E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Object.entries</a:t>
            </a:r>
            <a:r>
              <a:rPr lang="pt-BR" sz="3600" dirty="0">
                <a:solidFill>
                  <a:srgbClr val="FFDA3E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()</a:t>
            </a:r>
          </a:p>
        </p:txBody>
      </p:sp>
      <p:sp>
        <p:nvSpPr>
          <p:cNvPr id="6" name="Google Shape;62;p14">
            <a:extLst>
              <a:ext uri="{FF2B5EF4-FFF2-40B4-BE49-F238E27FC236}">
                <a16:creationId xmlns:a16="http://schemas.microsoft.com/office/drawing/2014/main" id="{9CADA192-C9A8-B9C0-227F-815B950732DA}"/>
              </a:ext>
            </a:extLst>
          </p:cNvPr>
          <p:cNvSpPr txBox="1"/>
          <p:nvPr/>
        </p:nvSpPr>
        <p:spPr>
          <a:xfrm>
            <a:off x="731622" y="214261"/>
            <a:ext cx="11004402" cy="51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pt-BR" sz="1600" dirty="0">
                <a:solidFill>
                  <a:srgbClr val="D6BA32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Curso Javascript básico – Aula 05 </a:t>
            </a:r>
          </a:p>
          <a:p>
            <a:endParaRPr sz="1600" dirty="0">
              <a:solidFill>
                <a:srgbClr val="1572B6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6CAB4A95-049E-FA42-9A48-687C191F888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112" y="188606"/>
            <a:ext cx="564510" cy="564510"/>
          </a:xfrm>
          <a:prstGeom prst="rect">
            <a:avLst/>
          </a:prstGeom>
        </p:spPr>
      </p:pic>
      <p:sp>
        <p:nvSpPr>
          <p:cNvPr id="7" name="Google Shape;65;p14">
            <a:extLst>
              <a:ext uri="{FF2B5EF4-FFF2-40B4-BE49-F238E27FC236}">
                <a16:creationId xmlns:a16="http://schemas.microsoft.com/office/drawing/2014/main" id="{797C2C98-63A7-8CC0-347B-999F3D514499}"/>
              </a:ext>
            </a:extLst>
          </p:cNvPr>
          <p:cNvSpPr txBox="1"/>
          <p:nvPr/>
        </p:nvSpPr>
        <p:spPr>
          <a:xfrm>
            <a:off x="232399" y="2588225"/>
            <a:ext cx="11727200" cy="41399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152396">
              <a:buSzPts val="1800"/>
            </a:pPr>
            <a:r>
              <a:rPr lang="pt-BR" sz="2200" dirty="0">
                <a:solidFill>
                  <a:srgbClr val="1B1B1B"/>
                </a:solidFill>
                <a:latin typeface="Roboto Mono"/>
                <a:sym typeface="Roboto Mono"/>
              </a:rPr>
              <a:t>	O </a:t>
            </a:r>
            <a:r>
              <a:rPr lang="pt-BR" sz="2200" dirty="0" err="1">
                <a:solidFill>
                  <a:srgbClr val="1B1B1B"/>
                </a:solidFill>
                <a:latin typeface="Roboto Mono"/>
                <a:sym typeface="Roboto Mono"/>
              </a:rPr>
              <a:t>Object.entries</a:t>
            </a:r>
            <a:r>
              <a:rPr lang="pt-BR" sz="2200" dirty="0">
                <a:solidFill>
                  <a:srgbClr val="1B1B1B"/>
                </a:solidFill>
                <a:latin typeface="Roboto Mono"/>
                <a:sym typeface="Roboto Mono"/>
              </a:rPr>
              <a:t>() cria um </a:t>
            </a:r>
            <a:r>
              <a:rPr lang="pt-BR" sz="2200" dirty="0" err="1">
                <a:solidFill>
                  <a:srgbClr val="1B1B1B"/>
                </a:solidFill>
                <a:latin typeface="Roboto Mono"/>
                <a:sym typeface="Roboto Mono"/>
              </a:rPr>
              <a:t>array</a:t>
            </a:r>
            <a:r>
              <a:rPr lang="pt-BR" sz="2200" dirty="0">
                <a:solidFill>
                  <a:srgbClr val="1B1B1B"/>
                </a:solidFill>
                <a:latin typeface="Roboto Mono"/>
                <a:sym typeface="Roboto Mono"/>
              </a:rPr>
              <a:t> aninhado dos pares chave/valor de um objeto.</a:t>
            </a:r>
          </a:p>
          <a:p>
            <a:pPr marL="152396">
              <a:buSzPts val="1800"/>
            </a:pPr>
            <a:endParaRPr lang="pt-BR" sz="2200" dirty="0">
              <a:solidFill>
                <a:srgbClr val="1B1B1B"/>
              </a:solidFill>
              <a:latin typeface="Roboto Mono"/>
              <a:sym typeface="Roboto Mono"/>
            </a:endParaRPr>
          </a:p>
          <a:p>
            <a:pPr marL="1066796" lvl="2">
              <a:buSzPts val="1800"/>
            </a:pPr>
            <a:r>
              <a:rPr lang="pt-BR" i="1" dirty="0">
                <a:solidFill>
                  <a:srgbClr val="1B1B1B"/>
                </a:solidFill>
                <a:latin typeface="Roboto Mono"/>
                <a:sym typeface="Roboto Mono"/>
              </a:rPr>
              <a:t>		var </a:t>
            </a:r>
            <a:r>
              <a:rPr lang="pt-BR" i="1" dirty="0" err="1">
                <a:solidFill>
                  <a:srgbClr val="1B1B1B"/>
                </a:solidFill>
                <a:latin typeface="Roboto Mono"/>
                <a:sym typeface="Roboto Mono"/>
              </a:rPr>
              <a:t>imovel</a:t>
            </a:r>
            <a:r>
              <a:rPr lang="pt-BR" i="1" dirty="0">
                <a:solidFill>
                  <a:srgbClr val="1B1B1B"/>
                </a:solidFill>
                <a:latin typeface="Roboto Mono"/>
                <a:sym typeface="Roboto Mono"/>
              </a:rPr>
              <a:t> ={</a:t>
            </a:r>
          </a:p>
          <a:p>
            <a:pPr marL="1066796" lvl="2">
              <a:buSzPts val="1800"/>
            </a:pPr>
            <a:r>
              <a:rPr lang="pt-BR" i="1" dirty="0">
                <a:solidFill>
                  <a:srgbClr val="1B1B1B"/>
                </a:solidFill>
                <a:latin typeface="Roboto Mono"/>
                <a:sym typeface="Roboto Mono"/>
              </a:rPr>
              <a:t>			quartos: 2,</a:t>
            </a:r>
          </a:p>
          <a:p>
            <a:pPr marL="1066796" lvl="2">
              <a:buSzPts val="1800"/>
            </a:pPr>
            <a:r>
              <a:rPr lang="pt-BR" i="1" dirty="0">
                <a:solidFill>
                  <a:srgbClr val="1B1B1B"/>
                </a:solidFill>
                <a:latin typeface="Roboto Mono"/>
                <a:sym typeface="Roboto Mono"/>
              </a:rPr>
              <a:t>			tipo: “apartamento”,</a:t>
            </a:r>
          </a:p>
          <a:p>
            <a:pPr marL="1066796" lvl="2">
              <a:buSzPts val="1800"/>
            </a:pPr>
            <a:r>
              <a:rPr lang="pt-BR" i="1" dirty="0">
                <a:solidFill>
                  <a:srgbClr val="1B1B1B"/>
                </a:solidFill>
                <a:latin typeface="Roboto Mono"/>
                <a:sym typeface="Roboto Mono"/>
              </a:rPr>
              <a:t>			andar: 2	</a:t>
            </a:r>
          </a:p>
          <a:p>
            <a:pPr marL="1066796" lvl="2">
              <a:buSzPts val="1800"/>
            </a:pPr>
            <a:r>
              <a:rPr lang="pt-BR" i="1" dirty="0">
                <a:solidFill>
                  <a:srgbClr val="1B1B1B"/>
                </a:solidFill>
                <a:latin typeface="Roboto Mono"/>
                <a:sym typeface="Roboto Mono"/>
              </a:rPr>
              <a:t>        		}</a:t>
            </a:r>
          </a:p>
          <a:p>
            <a:pPr marL="1066796" lvl="2">
              <a:buSzPts val="1800"/>
            </a:pPr>
            <a:r>
              <a:rPr lang="pt-BR" i="1" dirty="0">
                <a:solidFill>
                  <a:srgbClr val="1B1B1B"/>
                </a:solidFill>
                <a:latin typeface="Roboto Mono"/>
                <a:sym typeface="Roboto Mono"/>
              </a:rPr>
              <a:t>		var </a:t>
            </a:r>
            <a:r>
              <a:rPr lang="pt-BR" i="1" dirty="0" err="1">
                <a:solidFill>
                  <a:srgbClr val="1B1B1B"/>
                </a:solidFill>
                <a:latin typeface="Roboto Mono"/>
                <a:sym typeface="Roboto Mono"/>
              </a:rPr>
              <a:t>imovelEntries</a:t>
            </a:r>
            <a:r>
              <a:rPr lang="pt-BR" i="1" dirty="0">
                <a:solidFill>
                  <a:srgbClr val="1B1B1B"/>
                </a:solidFill>
                <a:latin typeface="Roboto Mono"/>
                <a:sym typeface="Roboto Mono"/>
              </a:rPr>
              <a:t> = </a:t>
            </a:r>
            <a:r>
              <a:rPr lang="pt-BR" i="1" dirty="0" err="1">
                <a:solidFill>
                  <a:srgbClr val="1B1B1B"/>
                </a:solidFill>
                <a:latin typeface="Roboto Mono"/>
                <a:sym typeface="Roboto Mono"/>
              </a:rPr>
              <a:t>Object.entries</a:t>
            </a:r>
            <a:r>
              <a:rPr lang="pt-BR" i="1" dirty="0">
                <a:solidFill>
                  <a:srgbClr val="1B1B1B"/>
                </a:solidFill>
                <a:latin typeface="Roboto Mono"/>
                <a:sym typeface="Roboto Mono"/>
              </a:rPr>
              <a:t>(</a:t>
            </a:r>
            <a:r>
              <a:rPr lang="pt-BR" i="1" dirty="0" err="1">
                <a:solidFill>
                  <a:srgbClr val="1B1B1B"/>
                </a:solidFill>
                <a:latin typeface="Roboto Mono"/>
                <a:sym typeface="Roboto Mono"/>
              </a:rPr>
              <a:t>imovel</a:t>
            </a:r>
            <a:r>
              <a:rPr lang="pt-BR" i="1" dirty="0">
                <a:solidFill>
                  <a:srgbClr val="1B1B1B"/>
                </a:solidFill>
                <a:latin typeface="Roboto Mono"/>
                <a:sym typeface="Roboto Mono"/>
              </a:rPr>
              <a:t>);</a:t>
            </a:r>
          </a:p>
          <a:p>
            <a:pPr marL="1066796" lvl="2">
              <a:buSzPts val="1800"/>
            </a:pPr>
            <a:r>
              <a:rPr lang="pt-BR" i="1" dirty="0">
                <a:solidFill>
                  <a:srgbClr val="1B1B1B"/>
                </a:solidFill>
                <a:latin typeface="Roboto Mono"/>
                <a:sym typeface="Roboto Mono"/>
              </a:rPr>
              <a:t>		console.log(</a:t>
            </a:r>
            <a:r>
              <a:rPr lang="pt-BR" i="1" dirty="0" err="1">
                <a:solidFill>
                  <a:srgbClr val="1B1B1B"/>
                </a:solidFill>
                <a:latin typeface="Roboto Mono"/>
                <a:sym typeface="Roboto Mono"/>
              </a:rPr>
              <a:t>imovelEntries</a:t>
            </a:r>
            <a:r>
              <a:rPr lang="pt-BR" i="1" dirty="0">
                <a:solidFill>
                  <a:srgbClr val="1B1B1B"/>
                </a:solidFill>
                <a:latin typeface="Roboto Mono"/>
                <a:sym typeface="Roboto Mono"/>
              </a:rPr>
              <a:t>); </a:t>
            </a:r>
          </a:p>
          <a:p>
            <a:pPr marL="1066796" lvl="2">
              <a:buSzPts val="1800"/>
            </a:pPr>
            <a:r>
              <a:rPr lang="pt-BR" i="1" dirty="0">
                <a:solidFill>
                  <a:srgbClr val="1B1B1B"/>
                </a:solidFill>
                <a:latin typeface="Roboto Mono"/>
                <a:sym typeface="Roboto Mono"/>
              </a:rPr>
              <a:t>		// retorna [ </a:t>
            </a:r>
          </a:p>
          <a:p>
            <a:pPr marL="1066796" lvl="2">
              <a:buSzPts val="1800"/>
            </a:pPr>
            <a:r>
              <a:rPr lang="pt-BR" i="1" dirty="0">
                <a:solidFill>
                  <a:srgbClr val="1B1B1B"/>
                </a:solidFill>
                <a:latin typeface="Roboto Mono"/>
                <a:sym typeface="Roboto Mono"/>
              </a:rPr>
              <a:t>			[" quartos",2 ]</a:t>
            </a:r>
          </a:p>
          <a:p>
            <a:pPr marL="1066796" lvl="2">
              <a:buSzPts val="1800"/>
            </a:pPr>
            <a:r>
              <a:rPr lang="pt-BR" i="1" dirty="0">
                <a:solidFill>
                  <a:srgbClr val="1B1B1B"/>
                </a:solidFill>
                <a:latin typeface="Roboto Mono"/>
                <a:sym typeface="Roboto Mono"/>
              </a:rPr>
              <a:t>			[“tipo”, “apartamento”]</a:t>
            </a:r>
          </a:p>
          <a:p>
            <a:pPr marL="1066796" lvl="2">
              <a:buSzPts val="1800"/>
            </a:pPr>
            <a:r>
              <a:rPr lang="pt-BR" i="1" dirty="0">
                <a:solidFill>
                  <a:srgbClr val="1B1B1B"/>
                </a:solidFill>
                <a:latin typeface="Roboto Mono"/>
                <a:sym typeface="Roboto Mono"/>
              </a:rPr>
              <a:t>			[“andar”, 2]</a:t>
            </a:r>
          </a:p>
          <a:p>
            <a:pPr marL="1066796" lvl="2">
              <a:buSzPts val="1800"/>
            </a:pPr>
            <a:r>
              <a:rPr lang="pt-BR" i="1" dirty="0">
                <a:solidFill>
                  <a:srgbClr val="1B1B1B"/>
                </a:solidFill>
                <a:latin typeface="Roboto Mono"/>
                <a:sym typeface="Roboto Mono"/>
              </a:rPr>
              <a:t>		]</a:t>
            </a:r>
          </a:p>
        </p:txBody>
      </p:sp>
    </p:spTree>
    <p:extLst>
      <p:ext uri="{BB962C8B-B14F-4D97-AF65-F5344CB8AC3E}">
        <p14:creationId xmlns:p14="http://schemas.microsoft.com/office/powerpoint/2010/main" val="27670408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/>
          <p:nvPr/>
        </p:nvSpPr>
        <p:spPr>
          <a:xfrm>
            <a:off x="0" y="905740"/>
            <a:ext cx="12191999" cy="15042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/>
            <a:r>
              <a:rPr lang="pt-BR" sz="5400" dirty="0">
                <a:solidFill>
                  <a:srgbClr val="D6BA32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Trabalhando com objetos</a:t>
            </a:r>
          </a:p>
          <a:p>
            <a:pPr algn="ctr"/>
            <a:r>
              <a:rPr lang="pt-BR" sz="3600" dirty="0">
                <a:solidFill>
                  <a:srgbClr val="FFDA3E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Métodos - </a:t>
            </a:r>
            <a:r>
              <a:rPr lang="pt-BR" sz="3600" dirty="0" err="1">
                <a:solidFill>
                  <a:srgbClr val="FFDA3E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Object.assign</a:t>
            </a:r>
            <a:r>
              <a:rPr lang="pt-BR" sz="3600" dirty="0">
                <a:solidFill>
                  <a:srgbClr val="FFDA3E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()</a:t>
            </a:r>
          </a:p>
        </p:txBody>
      </p:sp>
      <p:sp>
        <p:nvSpPr>
          <p:cNvPr id="6" name="Google Shape;62;p14">
            <a:extLst>
              <a:ext uri="{FF2B5EF4-FFF2-40B4-BE49-F238E27FC236}">
                <a16:creationId xmlns:a16="http://schemas.microsoft.com/office/drawing/2014/main" id="{9CADA192-C9A8-B9C0-227F-815B950732DA}"/>
              </a:ext>
            </a:extLst>
          </p:cNvPr>
          <p:cNvSpPr txBox="1"/>
          <p:nvPr/>
        </p:nvSpPr>
        <p:spPr>
          <a:xfrm>
            <a:off x="731622" y="214261"/>
            <a:ext cx="11004402" cy="51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pt-BR" sz="1600" dirty="0">
                <a:solidFill>
                  <a:srgbClr val="D6BA32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Curso Javascript básico – Aula 05 </a:t>
            </a:r>
          </a:p>
          <a:p>
            <a:endParaRPr sz="1600" dirty="0">
              <a:solidFill>
                <a:srgbClr val="1572B6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6CAB4A95-049E-FA42-9A48-687C191F888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112" y="188606"/>
            <a:ext cx="564510" cy="564510"/>
          </a:xfrm>
          <a:prstGeom prst="rect">
            <a:avLst/>
          </a:prstGeom>
        </p:spPr>
      </p:pic>
      <p:sp>
        <p:nvSpPr>
          <p:cNvPr id="7" name="Google Shape;65;p14">
            <a:extLst>
              <a:ext uri="{FF2B5EF4-FFF2-40B4-BE49-F238E27FC236}">
                <a16:creationId xmlns:a16="http://schemas.microsoft.com/office/drawing/2014/main" id="{797C2C98-63A7-8CC0-347B-999F3D514499}"/>
              </a:ext>
            </a:extLst>
          </p:cNvPr>
          <p:cNvSpPr txBox="1"/>
          <p:nvPr/>
        </p:nvSpPr>
        <p:spPr>
          <a:xfrm>
            <a:off x="232399" y="2588225"/>
            <a:ext cx="11727200" cy="41399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152396">
              <a:buSzPts val="1800"/>
            </a:pPr>
            <a:r>
              <a:rPr lang="pt-BR" sz="2200" dirty="0">
                <a:solidFill>
                  <a:srgbClr val="1B1B1B"/>
                </a:solidFill>
                <a:latin typeface="Roboto Mono"/>
                <a:sym typeface="Roboto Mono"/>
              </a:rPr>
              <a:t>	O </a:t>
            </a:r>
            <a:r>
              <a:rPr lang="pt-BR" sz="2200" dirty="0" err="1">
                <a:solidFill>
                  <a:srgbClr val="1B1B1B"/>
                </a:solidFill>
                <a:latin typeface="Roboto Mono"/>
                <a:sym typeface="Roboto Mono"/>
              </a:rPr>
              <a:t>Object.assign</a:t>
            </a:r>
            <a:r>
              <a:rPr lang="pt-BR" sz="2200" dirty="0">
                <a:solidFill>
                  <a:srgbClr val="1B1B1B"/>
                </a:solidFill>
                <a:latin typeface="Roboto Mono"/>
                <a:sym typeface="Roboto Mono"/>
              </a:rPr>
              <a:t>() é usado para copiar valores de um objeto para outro.</a:t>
            </a:r>
          </a:p>
          <a:p>
            <a:pPr marL="152396">
              <a:buSzPts val="1800"/>
            </a:pPr>
            <a:r>
              <a:rPr lang="pt-BR" sz="2200" dirty="0">
                <a:solidFill>
                  <a:srgbClr val="1B1B1B"/>
                </a:solidFill>
                <a:latin typeface="Roboto Mono"/>
                <a:sym typeface="Roboto Mono"/>
              </a:rPr>
              <a:t>Podemos criar dois objetos e fundi-los com o </a:t>
            </a:r>
            <a:r>
              <a:rPr lang="pt-BR" sz="2200" dirty="0" err="1">
                <a:solidFill>
                  <a:srgbClr val="1B1B1B"/>
                </a:solidFill>
                <a:latin typeface="Roboto Mono"/>
                <a:sym typeface="Roboto Mono"/>
              </a:rPr>
              <a:t>Object.assign</a:t>
            </a:r>
            <a:r>
              <a:rPr lang="pt-BR" sz="2200" dirty="0">
                <a:solidFill>
                  <a:srgbClr val="1B1B1B"/>
                </a:solidFill>
                <a:latin typeface="Roboto Mono"/>
                <a:sym typeface="Roboto Mono"/>
              </a:rPr>
              <a:t>().</a:t>
            </a:r>
          </a:p>
          <a:p>
            <a:pPr marL="152396">
              <a:buSzPts val="1800"/>
            </a:pPr>
            <a:endParaRPr lang="pt-BR" sz="2200" i="1" dirty="0">
              <a:solidFill>
                <a:srgbClr val="1B1B1B"/>
              </a:solidFill>
              <a:latin typeface="Roboto Mono"/>
              <a:sym typeface="Roboto Mono"/>
            </a:endParaRPr>
          </a:p>
          <a:p>
            <a:pPr marL="152396">
              <a:buSzPts val="1800"/>
            </a:pPr>
            <a:r>
              <a:rPr lang="pt-BR" i="1" dirty="0">
                <a:solidFill>
                  <a:srgbClr val="1B1B1B"/>
                </a:solidFill>
                <a:latin typeface="Roboto Mono"/>
                <a:sym typeface="Roboto Mono"/>
              </a:rPr>
              <a:t>		var </a:t>
            </a:r>
            <a:r>
              <a:rPr lang="pt-BR" i="1" dirty="0" err="1">
                <a:solidFill>
                  <a:srgbClr val="1B1B1B"/>
                </a:solidFill>
                <a:latin typeface="Roboto Mono"/>
                <a:sym typeface="Roboto Mono"/>
              </a:rPr>
              <a:t>imovel</a:t>
            </a:r>
            <a:r>
              <a:rPr lang="pt-BR" i="1" dirty="0">
                <a:solidFill>
                  <a:srgbClr val="1B1B1B"/>
                </a:solidFill>
                <a:latin typeface="Roboto Mono"/>
                <a:sym typeface="Roboto Mono"/>
              </a:rPr>
              <a:t> ={</a:t>
            </a:r>
          </a:p>
          <a:p>
            <a:pPr marL="152396">
              <a:buSzPts val="1800"/>
            </a:pPr>
            <a:r>
              <a:rPr lang="pt-BR" i="1" dirty="0">
                <a:solidFill>
                  <a:srgbClr val="1B1B1B"/>
                </a:solidFill>
                <a:latin typeface="Roboto Mono"/>
                <a:sym typeface="Roboto Mono"/>
              </a:rPr>
              <a:t>			quartos: 2, </a:t>
            </a:r>
          </a:p>
          <a:p>
            <a:pPr marL="152396">
              <a:buSzPts val="1800"/>
            </a:pPr>
            <a:r>
              <a:rPr lang="pt-BR" i="1" dirty="0">
                <a:solidFill>
                  <a:srgbClr val="1B1B1B"/>
                </a:solidFill>
                <a:latin typeface="Roboto Mono"/>
                <a:sym typeface="Roboto Mono"/>
              </a:rPr>
              <a:t>			andar: 2	</a:t>
            </a:r>
          </a:p>
          <a:p>
            <a:pPr marL="152396">
              <a:buSzPts val="1800"/>
            </a:pPr>
            <a:r>
              <a:rPr lang="pt-BR" i="1" dirty="0">
                <a:solidFill>
                  <a:srgbClr val="1B1B1B"/>
                </a:solidFill>
                <a:latin typeface="Roboto Mono"/>
                <a:sym typeface="Roboto Mono"/>
              </a:rPr>
              <a:t>        		}</a:t>
            </a:r>
          </a:p>
          <a:p>
            <a:pPr marL="152396">
              <a:buSzPts val="1800"/>
            </a:pPr>
            <a:r>
              <a:rPr lang="pt-BR" i="1" dirty="0">
                <a:solidFill>
                  <a:srgbClr val="1B1B1B"/>
                </a:solidFill>
                <a:latin typeface="Roboto Mono"/>
                <a:sym typeface="Roboto Mono"/>
              </a:rPr>
              <a:t>		var </a:t>
            </a:r>
            <a:r>
              <a:rPr lang="pt-BR" i="1" dirty="0" err="1">
                <a:solidFill>
                  <a:srgbClr val="1B1B1B"/>
                </a:solidFill>
                <a:latin typeface="Roboto Mono"/>
                <a:sym typeface="Roboto Mono"/>
              </a:rPr>
              <a:t>tipoImovel</a:t>
            </a:r>
            <a:r>
              <a:rPr lang="pt-BR" i="1" dirty="0">
                <a:solidFill>
                  <a:srgbClr val="1B1B1B"/>
                </a:solidFill>
                <a:latin typeface="Roboto Mono"/>
                <a:sym typeface="Roboto Mono"/>
              </a:rPr>
              <a:t> ={</a:t>
            </a:r>
          </a:p>
          <a:p>
            <a:pPr marL="152396">
              <a:buSzPts val="1800"/>
            </a:pPr>
            <a:r>
              <a:rPr lang="pt-BR" i="1" dirty="0">
                <a:solidFill>
                  <a:srgbClr val="1B1B1B"/>
                </a:solidFill>
                <a:latin typeface="Roboto Mono"/>
                <a:sym typeface="Roboto Mono"/>
              </a:rPr>
              <a:t>			tipo: “apartamento”</a:t>
            </a:r>
          </a:p>
          <a:p>
            <a:pPr marL="152396">
              <a:buSzPts val="1800"/>
            </a:pPr>
            <a:r>
              <a:rPr lang="pt-BR" i="1" dirty="0">
                <a:solidFill>
                  <a:srgbClr val="1B1B1B"/>
                </a:solidFill>
                <a:latin typeface="Roboto Mono"/>
                <a:sym typeface="Roboto Mono"/>
              </a:rPr>
              <a:t>		}</a:t>
            </a:r>
          </a:p>
          <a:p>
            <a:pPr marL="152396">
              <a:buSzPts val="1800"/>
            </a:pPr>
            <a:r>
              <a:rPr lang="pt-BR" i="1" dirty="0">
                <a:solidFill>
                  <a:srgbClr val="1B1B1B"/>
                </a:solidFill>
                <a:latin typeface="Roboto Mono"/>
                <a:sym typeface="Roboto Mono"/>
              </a:rPr>
              <a:t>		var </a:t>
            </a:r>
            <a:r>
              <a:rPr lang="pt-BR" i="1" dirty="0" err="1">
                <a:solidFill>
                  <a:srgbClr val="1B1B1B"/>
                </a:solidFill>
                <a:latin typeface="Roboto Mono"/>
                <a:sym typeface="Roboto Mono"/>
              </a:rPr>
              <a:t>imovelCompleto</a:t>
            </a:r>
            <a:r>
              <a:rPr lang="pt-BR" i="1" dirty="0">
                <a:solidFill>
                  <a:srgbClr val="1B1B1B"/>
                </a:solidFill>
                <a:latin typeface="Roboto Mono"/>
                <a:sym typeface="Roboto Mono"/>
              </a:rPr>
              <a:t> = </a:t>
            </a:r>
            <a:r>
              <a:rPr lang="pt-BR" i="1" dirty="0" err="1">
                <a:solidFill>
                  <a:srgbClr val="1B1B1B"/>
                </a:solidFill>
                <a:latin typeface="Roboto Mono"/>
                <a:sym typeface="Roboto Mono"/>
              </a:rPr>
              <a:t>Object.assign</a:t>
            </a:r>
            <a:r>
              <a:rPr lang="pt-BR" i="1" dirty="0">
                <a:solidFill>
                  <a:srgbClr val="1B1B1B"/>
                </a:solidFill>
                <a:latin typeface="Roboto Mono"/>
                <a:sym typeface="Roboto Mono"/>
              </a:rPr>
              <a:t>(imóvel, </a:t>
            </a:r>
            <a:r>
              <a:rPr lang="pt-BR" i="1" dirty="0" err="1">
                <a:solidFill>
                  <a:srgbClr val="1B1B1B"/>
                </a:solidFill>
                <a:latin typeface="Roboto Mono"/>
                <a:sym typeface="Roboto Mono"/>
              </a:rPr>
              <a:t>tipoImovel</a:t>
            </a:r>
            <a:r>
              <a:rPr lang="pt-BR" i="1" dirty="0">
                <a:solidFill>
                  <a:srgbClr val="1B1B1B"/>
                </a:solidFill>
                <a:latin typeface="Roboto Mono"/>
                <a:sym typeface="Roboto Mono"/>
              </a:rPr>
              <a:t>);</a:t>
            </a:r>
          </a:p>
          <a:p>
            <a:pPr marL="152396">
              <a:buSzPts val="1800"/>
            </a:pPr>
            <a:r>
              <a:rPr lang="pt-BR" i="1" dirty="0">
                <a:solidFill>
                  <a:srgbClr val="1B1B1B"/>
                </a:solidFill>
                <a:latin typeface="Roboto Mono"/>
                <a:sym typeface="Roboto Mono"/>
              </a:rPr>
              <a:t>		console.log(</a:t>
            </a:r>
            <a:r>
              <a:rPr lang="pt-BR" i="1" dirty="0" err="1">
                <a:solidFill>
                  <a:srgbClr val="1B1B1B"/>
                </a:solidFill>
                <a:latin typeface="Roboto Mono"/>
                <a:sym typeface="Roboto Mono"/>
              </a:rPr>
              <a:t>imovelCompleto</a:t>
            </a:r>
            <a:r>
              <a:rPr lang="pt-BR" i="1" dirty="0">
                <a:solidFill>
                  <a:srgbClr val="1B1B1B"/>
                </a:solidFill>
                <a:latin typeface="Roboto Mono"/>
                <a:sym typeface="Roboto Mono"/>
              </a:rPr>
              <a:t>); // retorna {quartos: 2, andar: 2, tipo: “apartamento” }</a:t>
            </a:r>
          </a:p>
          <a:p>
            <a:pPr marL="152396">
              <a:buSzPts val="1800"/>
            </a:pPr>
            <a:endParaRPr lang="pt-BR" i="1" dirty="0">
              <a:solidFill>
                <a:srgbClr val="1B1B1B"/>
              </a:solidFill>
              <a:latin typeface="Roboto Mono"/>
              <a:sym typeface="Roboto Mono"/>
            </a:endParaRPr>
          </a:p>
        </p:txBody>
      </p:sp>
    </p:spTree>
    <p:extLst>
      <p:ext uri="{BB962C8B-B14F-4D97-AF65-F5344CB8AC3E}">
        <p14:creationId xmlns:p14="http://schemas.microsoft.com/office/powerpoint/2010/main" val="30361914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/>
          <p:nvPr/>
        </p:nvSpPr>
        <p:spPr>
          <a:xfrm>
            <a:off x="0" y="905740"/>
            <a:ext cx="12191999" cy="15042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/>
            <a:r>
              <a:rPr lang="pt-BR" sz="5400" dirty="0">
                <a:solidFill>
                  <a:srgbClr val="D6BA32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Trabalhando com objetos</a:t>
            </a:r>
          </a:p>
          <a:p>
            <a:pPr algn="ctr"/>
            <a:r>
              <a:rPr lang="pt-BR" sz="3600" dirty="0">
                <a:solidFill>
                  <a:srgbClr val="FFDA3E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Métodos - </a:t>
            </a:r>
            <a:r>
              <a:rPr lang="pt-BR" sz="3600" dirty="0" err="1">
                <a:solidFill>
                  <a:srgbClr val="FFDA3E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Object.freeze</a:t>
            </a:r>
            <a:r>
              <a:rPr lang="pt-BR" sz="3600" dirty="0">
                <a:solidFill>
                  <a:srgbClr val="FFDA3E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()</a:t>
            </a:r>
          </a:p>
        </p:txBody>
      </p:sp>
      <p:sp>
        <p:nvSpPr>
          <p:cNvPr id="6" name="Google Shape;62;p14">
            <a:extLst>
              <a:ext uri="{FF2B5EF4-FFF2-40B4-BE49-F238E27FC236}">
                <a16:creationId xmlns:a16="http://schemas.microsoft.com/office/drawing/2014/main" id="{9CADA192-C9A8-B9C0-227F-815B950732DA}"/>
              </a:ext>
            </a:extLst>
          </p:cNvPr>
          <p:cNvSpPr txBox="1"/>
          <p:nvPr/>
        </p:nvSpPr>
        <p:spPr>
          <a:xfrm>
            <a:off x="731622" y="214261"/>
            <a:ext cx="11004402" cy="51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pt-BR" sz="1600" dirty="0">
                <a:solidFill>
                  <a:srgbClr val="D6BA32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Curso Javascript básico – Aula 05 </a:t>
            </a:r>
          </a:p>
          <a:p>
            <a:endParaRPr sz="1600" dirty="0">
              <a:solidFill>
                <a:srgbClr val="1572B6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6CAB4A95-049E-FA42-9A48-687C191F888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112" y="188606"/>
            <a:ext cx="564510" cy="564510"/>
          </a:xfrm>
          <a:prstGeom prst="rect">
            <a:avLst/>
          </a:prstGeom>
        </p:spPr>
      </p:pic>
      <p:sp>
        <p:nvSpPr>
          <p:cNvPr id="7" name="Google Shape;65;p14">
            <a:extLst>
              <a:ext uri="{FF2B5EF4-FFF2-40B4-BE49-F238E27FC236}">
                <a16:creationId xmlns:a16="http://schemas.microsoft.com/office/drawing/2014/main" id="{797C2C98-63A7-8CC0-347B-999F3D514499}"/>
              </a:ext>
            </a:extLst>
          </p:cNvPr>
          <p:cNvSpPr txBox="1"/>
          <p:nvPr/>
        </p:nvSpPr>
        <p:spPr>
          <a:xfrm>
            <a:off x="232399" y="2588225"/>
            <a:ext cx="11727200" cy="41399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152396">
              <a:buSzPts val="1800"/>
            </a:pPr>
            <a:r>
              <a:rPr lang="pt-BR" sz="2200" dirty="0">
                <a:solidFill>
                  <a:srgbClr val="1B1B1B"/>
                </a:solidFill>
                <a:latin typeface="Roboto Mono"/>
                <a:sym typeface="Roboto Mono"/>
              </a:rPr>
              <a:t>	O </a:t>
            </a:r>
            <a:r>
              <a:rPr lang="pt-BR" sz="2200" dirty="0" err="1">
                <a:solidFill>
                  <a:srgbClr val="1B1B1B"/>
                </a:solidFill>
                <a:latin typeface="Roboto Mono"/>
                <a:sym typeface="Roboto Mono"/>
              </a:rPr>
              <a:t>Object.freeze</a:t>
            </a:r>
            <a:r>
              <a:rPr lang="pt-BR" sz="2200" dirty="0">
                <a:solidFill>
                  <a:srgbClr val="1B1B1B"/>
                </a:solidFill>
                <a:latin typeface="Roboto Mono"/>
                <a:sym typeface="Roboto Mono"/>
              </a:rPr>
              <a:t>() impede a modificação de propriedades e valores de um objeto e impede que as propriedades sejam adicionadas ou removidas de um objeto.</a:t>
            </a:r>
            <a:endParaRPr lang="pt-BR" sz="2200" i="1" dirty="0">
              <a:solidFill>
                <a:srgbClr val="1B1B1B"/>
              </a:solidFill>
              <a:latin typeface="Roboto Mono"/>
              <a:sym typeface="Roboto Mono"/>
            </a:endParaRPr>
          </a:p>
          <a:p>
            <a:pPr marL="152396">
              <a:buSzPts val="1800"/>
            </a:pPr>
            <a:r>
              <a:rPr lang="pt-BR" i="1" dirty="0">
                <a:solidFill>
                  <a:srgbClr val="1B1B1B"/>
                </a:solidFill>
                <a:latin typeface="Roboto Mono"/>
                <a:sym typeface="Roboto Mono"/>
              </a:rPr>
              <a:t>		var </a:t>
            </a:r>
            <a:r>
              <a:rPr lang="pt-BR" i="1" dirty="0" err="1">
                <a:solidFill>
                  <a:srgbClr val="1B1B1B"/>
                </a:solidFill>
                <a:latin typeface="Roboto Mono"/>
                <a:sym typeface="Roboto Mono"/>
              </a:rPr>
              <a:t>imovel</a:t>
            </a:r>
            <a:r>
              <a:rPr lang="pt-BR" i="1" dirty="0">
                <a:solidFill>
                  <a:srgbClr val="1B1B1B"/>
                </a:solidFill>
                <a:latin typeface="Roboto Mono"/>
                <a:sym typeface="Roboto Mono"/>
              </a:rPr>
              <a:t> ={</a:t>
            </a:r>
          </a:p>
          <a:p>
            <a:pPr marL="152396">
              <a:buSzPts val="1800"/>
            </a:pPr>
            <a:r>
              <a:rPr lang="pt-BR" i="1" dirty="0">
                <a:solidFill>
                  <a:srgbClr val="1B1B1B"/>
                </a:solidFill>
                <a:latin typeface="Roboto Mono"/>
                <a:sym typeface="Roboto Mono"/>
              </a:rPr>
              <a:t>			quartos: 2, </a:t>
            </a:r>
          </a:p>
          <a:p>
            <a:pPr marL="152396">
              <a:buSzPts val="1800"/>
            </a:pPr>
            <a:r>
              <a:rPr lang="pt-BR" i="1" dirty="0">
                <a:solidFill>
                  <a:srgbClr val="1B1B1B"/>
                </a:solidFill>
                <a:latin typeface="Roboto Mono"/>
                <a:sym typeface="Roboto Mono"/>
              </a:rPr>
              <a:t>			andar: 2,</a:t>
            </a:r>
          </a:p>
          <a:p>
            <a:pPr marL="152396">
              <a:buSzPts val="1800"/>
            </a:pPr>
            <a:r>
              <a:rPr lang="pt-BR" i="1" dirty="0">
                <a:solidFill>
                  <a:srgbClr val="1B1B1B"/>
                </a:solidFill>
                <a:latin typeface="Roboto Mono"/>
                <a:sym typeface="Roboto Mono"/>
              </a:rPr>
              <a:t>			tipo: “apartamento”</a:t>
            </a:r>
          </a:p>
          <a:p>
            <a:pPr marL="152396">
              <a:buSzPts val="1800"/>
            </a:pPr>
            <a:r>
              <a:rPr lang="pt-BR" i="1" dirty="0">
                <a:solidFill>
                  <a:srgbClr val="1B1B1B"/>
                </a:solidFill>
                <a:latin typeface="Roboto Mono"/>
                <a:sym typeface="Roboto Mono"/>
              </a:rPr>
              <a:t>		 }</a:t>
            </a:r>
          </a:p>
          <a:p>
            <a:pPr marL="152396">
              <a:buSzPts val="1800"/>
            </a:pPr>
            <a:r>
              <a:rPr lang="pt-BR" i="1" dirty="0">
                <a:solidFill>
                  <a:srgbClr val="1B1B1B"/>
                </a:solidFill>
                <a:latin typeface="Roboto Mono"/>
                <a:sym typeface="Roboto Mono"/>
              </a:rPr>
              <a:t>		var </a:t>
            </a:r>
            <a:r>
              <a:rPr lang="pt-BR" i="1" dirty="0" err="1">
                <a:solidFill>
                  <a:srgbClr val="1B1B1B"/>
                </a:solidFill>
                <a:latin typeface="Roboto Mono"/>
                <a:sym typeface="Roboto Mono"/>
              </a:rPr>
              <a:t>imovelFreeze</a:t>
            </a:r>
            <a:r>
              <a:rPr lang="pt-BR" i="1" dirty="0">
                <a:solidFill>
                  <a:srgbClr val="1B1B1B"/>
                </a:solidFill>
                <a:latin typeface="Roboto Mono"/>
                <a:sym typeface="Roboto Mono"/>
              </a:rPr>
              <a:t> = </a:t>
            </a:r>
            <a:r>
              <a:rPr lang="pt-BR" i="1" dirty="0" err="1">
                <a:solidFill>
                  <a:srgbClr val="1B1B1B"/>
                </a:solidFill>
                <a:latin typeface="Roboto Mono"/>
                <a:sym typeface="Roboto Mono"/>
              </a:rPr>
              <a:t>Object.freeze</a:t>
            </a:r>
            <a:r>
              <a:rPr lang="pt-BR" i="1" dirty="0">
                <a:solidFill>
                  <a:srgbClr val="1B1B1B"/>
                </a:solidFill>
                <a:latin typeface="Roboto Mono"/>
                <a:sym typeface="Roboto Mono"/>
              </a:rPr>
              <a:t>(</a:t>
            </a:r>
            <a:r>
              <a:rPr lang="pt-BR" i="1" dirty="0" err="1">
                <a:solidFill>
                  <a:srgbClr val="1B1B1B"/>
                </a:solidFill>
                <a:latin typeface="Roboto Mono"/>
                <a:sym typeface="Roboto Mono"/>
              </a:rPr>
              <a:t>imovel</a:t>
            </a:r>
            <a:r>
              <a:rPr lang="pt-BR" i="1" dirty="0">
                <a:solidFill>
                  <a:srgbClr val="1B1B1B"/>
                </a:solidFill>
                <a:latin typeface="Roboto Mono"/>
                <a:sym typeface="Roboto Mono"/>
              </a:rPr>
              <a:t>);</a:t>
            </a:r>
          </a:p>
          <a:p>
            <a:pPr marL="152396">
              <a:buSzPts val="1800"/>
            </a:pPr>
            <a:r>
              <a:rPr lang="pt-BR" i="1" dirty="0">
                <a:solidFill>
                  <a:srgbClr val="1B1B1B"/>
                </a:solidFill>
                <a:latin typeface="Roboto Mono"/>
                <a:sym typeface="Roboto Mono"/>
              </a:rPr>
              <a:t>		</a:t>
            </a:r>
            <a:r>
              <a:rPr lang="pt-BR" i="1" dirty="0" err="1">
                <a:solidFill>
                  <a:srgbClr val="1B1B1B"/>
                </a:solidFill>
                <a:latin typeface="Roboto Mono"/>
                <a:sym typeface="Roboto Mono"/>
              </a:rPr>
              <a:t>imovelFreeze.possuiPiscina</a:t>
            </a:r>
            <a:r>
              <a:rPr lang="pt-BR" i="1" dirty="0">
                <a:solidFill>
                  <a:srgbClr val="1B1B1B"/>
                </a:solidFill>
                <a:latin typeface="Roboto Mono"/>
                <a:sym typeface="Roboto Mono"/>
              </a:rPr>
              <a:t> = </a:t>
            </a:r>
            <a:r>
              <a:rPr lang="pt-BR" i="1" dirty="0" err="1">
                <a:solidFill>
                  <a:srgbClr val="1B1B1B"/>
                </a:solidFill>
                <a:latin typeface="Roboto Mono"/>
                <a:sym typeface="Roboto Mono"/>
              </a:rPr>
              <a:t>true</a:t>
            </a:r>
            <a:r>
              <a:rPr lang="pt-BR" i="1" dirty="0">
                <a:solidFill>
                  <a:srgbClr val="1B1B1B"/>
                </a:solidFill>
                <a:latin typeface="Roboto Mono"/>
                <a:sym typeface="Roboto Mono"/>
              </a:rPr>
              <a:t>;</a:t>
            </a:r>
          </a:p>
          <a:p>
            <a:pPr marL="152396">
              <a:buSzPts val="1800"/>
            </a:pPr>
            <a:r>
              <a:rPr lang="pt-BR" i="1" dirty="0">
                <a:solidFill>
                  <a:srgbClr val="1B1B1B"/>
                </a:solidFill>
                <a:latin typeface="Roboto Mono"/>
                <a:sym typeface="Roboto Mono"/>
              </a:rPr>
              <a:t>		</a:t>
            </a:r>
            <a:r>
              <a:rPr lang="pt-BR" i="1" dirty="0" err="1">
                <a:solidFill>
                  <a:srgbClr val="1B1B1B"/>
                </a:solidFill>
                <a:latin typeface="Roboto Mono"/>
                <a:sym typeface="Roboto Mono"/>
              </a:rPr>
              <a:t>imovelFreeze.quartos</a:t>
            </a:r>
            <a:r>
              <a:rPr lang="pt-BR" i="1" dirty="0">
                <a:solidFill>
                  <a:srgbClr val="1B1B1B"/>
                </a:solidFill>
                <a:latin typeface="Roboto Mono"/>
                <a:sym typeface="Roboto Mono"/>
              </a:rPr>
              <a:t> = 4;</a:t>
            </a:r>
          </a:p>
          <a:p>
            <a:pPr marL="152396">
              <a:buSzPts val="1800"/>
            </a:pPr>
            <a:r>
              <a:rPr lang="pt-BR" i="1" dirty="0">
                <a:solidFill>
                  <a:srgbClr val="1B1B1B"/>
                </a:solidFill>
                <a:latin typeface="Roboto Mono"/>
                <a:sym typeface="Roboto Mono"/>
              </a:rPr>
              <a:t>		console.log(</a:t>
            </a:r>
            <a:r>
              <a:rPr lang="pt-BR" i="1" dirty="0" err="1">
                <a:solidFill>
                  <a:srgbClr val="1B1B1B"/>
                </a:solidFill>
                <a:latin typeface="Roboto Mono"/>
                <a:sym typeface="Roboto Mono"/>
              </a:rPr>
              <a:t>imovelFreeze</a:t>
            </a:r>
            <a:r>
              <a:rPr lang="pt-BR" i="1" dirty="0">
                <a:solidFill>
                  <a:srgbClr val="1B1B1B"/>
                </a:solidFill>
                <a:latin typeface="Roboto Mono"/>
                <a:sym typeface="Roboto Mono"/>
              </a:rPr>
              <a:t>); // retorna {quartos: 2, andar: 2, tipo: “apartamento” }</a:t>
            </a:r>
          </a:p>
          <a:p>
            <a:pPr marL="152396">
              <a:buSzPts val="1800"/>
            </a:pPr>
            <a:endParaRPr lang="pt-BR" i="1" dirty="0">
              <a:solidFill>
                <a:srgbClr val="1B1B1B"/>
              </a:solidFill>
              <a:latin typeface="Roboto Mono"/>
              <a:sym typeface="Roboto Mono"/>
            </a:endParaRPr>
          </a:p>
          <a:p>
            <a:pPr marL="152396">
              <a:buSzPts val="1800"/>
            </a:pPr>
            <a:r>
              <a:rPr lang="pt-BR" dirty="0">
                <a:solidFill>
                  <a:srgbClr val="1B1B1B"/>
                </a:solidFill>
                <a:latin typeface="Roboto Mono"/>
                <a:sym typeface="Roboto Mono"/>
              </a:rPr>
              <a:t>O </a:t>
            </a:r>
            <a:r>
              <a:rPr lang="pt-BR" dirty="0" err="1">
                <a:solidFill>
                  <a:srgbClr val="1B1B1B"/>
                </a:solidFill>
                <a:latin typeface="Roboto Mono"/>
                <a:sym typeface="Roboto Mono"/>
              </a:rPr>
              <a:t>Object.isFrozen</a:t>
            </a:r>
            <a:r>
              <a:rPr lang="pt-BR" dirty="0">
                <a:solidFill>
                  <a:srgbClr val="1B1B1B"/>
                </a:solidFill>
                <a:latin typeface="Roboto Mono"/>
                <a:sym typeface="Roboto Mono"/>
              </a:rPr>
              <a:t>() está disponível para determinar se um objeto foi congelado ou não e retorna um </a:t>
            </a:r>
            <a:r>
              <a:rPr lang="pt-BR" dirty="0" err="1">
                <a:solidFill>
                  <a:srgbClr val="1B1B1B"/>
                </a:solidFill>
                <a:latin typeface="Roboto Mono"/>
                <a:sym typeface="Roboto Mono"/>
              </a:rPr>
              <a:t>Boolean</a:t>
            </a:r>
            <a:r>
              <a:rPr lang="pt-BR" dirty="0">
                <a:solidFill>
                  <a:srgbClr val="1B1B1B"/>
                </a:solidFill>
                <a:latin typeface="Roboto Mono"/>
                <a:sym typeface="Roboto Mono"/>
              </a:rPr>
              <a:t>.</a:t>
            </a:r>
          </a:p>
          <a:p>
            <a:pPr marL="152396">
              <a:buSzPts val="1800"/>
            </a:pPr>
            <a:r>
              <a:rPr lang="pt-BR" dirty="0">
                <a:solidFill>
                  <a:srgbClr val="1B1B1B"/>
                </a:solidFill>
                <a:latin typeface="Roboto Mono"/>
                <a:sym typeface="Roboto Mono"/>
              </a:rPr>
              <a:t>			</a:t>
            </a:r>
            <a:r>
              <a:rPr lang="pt-BR" i="1" dirty="0">
                <a:solidFill>
                  <a:srgbClr val="1B1B1B"/>
                </a:solidFill>
                <a:latin typeface="Roboto Mono"/>
                <a:sym typeface="Roboto Mono"/>
              </a:rPr>
              <a:t> console.log(  </a:t>
            </a:r>
            <a:r>
              <a:rPr lang="pt-BR" dirty="0" err="1">
                <a:solidFill>
                  <a:srgbClr val="1B1B1B"/>
                </a:solidFill>
                <a:latin typeface="Roboto Mono"/>
                <a:sym typeface="Roboto Mono"/>
              </a:rPr>
              <a:t>Object.isFrozen</a:t>
            </a:r>
            <a:r>
              <a:rPr lang="pt-BR" dirty="0">
                <a:solidFill>
                  <a:srgbClr val="1B1B1B"/>
                </a:solidFill>
                <a:latin typeface="Roboto Mono"/>
                <a:sym typeface="Roboto Mono"/>
              </a:rPr>
              <a:t>(</a:t>
            </a:r>
            <a:r>
              <a:rPr lang="pt-BR" i="1" dirty="0" err="1">
                <a:solidFill>
                  <a:srgbClr val="1B1B1B"/>
                </a:solidFill>
                <a:latin typeface="Roboto Mono"/>
                <a:sym typeface="Roboto Mono"/>
              </a:rPr>
              <a:t>imovelFreeze</a:t>
            </a:r>
            <a:r>
              <a:rPr lang="pt-BR" dirty="0">
                <a:solidFill>
                  <a:srgbClr val="1B1B1B"/>
                </a:solidFill>
                <a:latin typeface="Roboto Mono"/>
                <a:sym typeface="Roboto Mono"/>
              </a:rPr>
              <a:t>) ); // retorna </a:t>
            </a:r>
            <a:r>
              <a:rPr lang="pt-BR" dirty="0" err="1">
                <a:solidFill>
                  <a:srgbClr val="1B1B1B"/>
                </a:solidFill>
                <a:latin typeface="Roboto Mono"/>
                <a:sym typeface="Roboto Mono"/>
              </a:rPr>
              <a:t>true</a:t>
            </a:r>
            <a:endParaRPr lang="pt-BR" dirty="0">
              <a:solidFill>
                <a:srgbClr val="1B1B1B"/>
              </a:solidFill>
              <a:latin typeface="Roboto Mono"/>
              <a:sym typeface="Roboto Mono"/>
            </a:endParaRPr>
          </a:p>
        </p:txBody>
      </p:sp>
    </p:spTree>
    <p:extLst>
      <p:ext uri="{BB962C8B-B14F-4D97-AF65-F5344CB8AC3E}">
        <p14:creationId xmlns:p14="http://schemas.microsoft.com/office/powerpoint/2010/main" val="5599920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/>
          <p:nvPr/>
        </p:nvSpPr>
        <p:spPr>
          <a:xfrm>
            <a:off x="0" y="905740"/>
            <a:ext cx="12191999" cy="15042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/>
            <a:r>
              <a:rPr lang="pt-BR" sz="5400" dirty="0">
                <a:solidFill>
                  <a:srgbClr val="D6BA32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Trabalhando com objetos</a:t>
            </a:r>
          </a:p>
          <a:p>
            <a:pPr algn="ctr"/>
            <a:r>
              <a:rPr lang="pt-BR" sz="3600" dirty="0">
                <a:solidFill>
                  <a:srgbClr val="FFDA3E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Métodos - </a:t>
            </a:r>
            <a:r>
              <a:rPr lang="pt-BR" sz="3600" dirty="0" err="1">
                <a:solidFill>
                  <a:srgbClr val="FFDA3E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Object.seal</a:t>
            </a:r>
            <a:r>
              <a:rPr lang="pt-BR" sz="3600" dirty="0">
                <a:solidFill>
                  <a:srgbClr val="FFDA3E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()</a:t>
            </a:r>
          </a:p>
        </p:txBody>
      </p:sp>
      <p:sp>
        <p:nvSpPr>
          <p:cNvPr id="6" name="Google Shape;62;p14">
            <a:extLst>
              <a:ext uri="{FF2B5EF4-FFF2-40B4-BE49-F238E27FC236}">
                <a16:creationId xmlns:a16="http://schemas.microsoft.com/office/drawing/2014/main" id="{9CADA192-C9A8-B9C0-227F-815B950732DA}"/>
              </a:ext>
            </a:extLst>
          </p:cNvPr>
          <p:cNvSpPr txBox="1"/>
          <p:nvPr/>
        </p:nvSpPr>
        <p:spPr>
          <a:xfrm>
            <a:off x="731622" y="214261"/>
            <a:ext cx="11004402" cy="51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pt-BR" sz="1600" dirty="0">
                <a:solidFill>
                  <a:srgbClr val="D6BA32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Curso Javascript básico – Aula 05 </a:t>
            </a:r>
          </a:p>
          <a:p>
            <a:endParaRPr sz="1600" dirty="0">
              <a:solidFill>
                <a:srgbClr val="1572B6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6CAB4A95-049E-FA42-9A48-687C191F888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112" y="188606"/>
            <a:ext cx="564510" cy="564510"/>
          </a:xfrm>
          <a:prstGeom prst="rect">
            <a:avLst/>
          </a:prstGeom>
        </p:spPr>
      </p:pic>
      <p:sp>
        <p:nvSpPr>
          <p:cNvPr id="7" name="Google Shape;65;p14">
            <a:extLst>
              <a:ext uri="{FF2B5EF4-FFF2-40B4-BE49-F238E27FC236}">
                <a16:creationId xmlns:a16="http://schemas.microsoft.com/office/drawing/2014/main" id="{797C2C98-63A7-8CC0-347B-999F3D514499}"/>
              </a:ext>
            </a:extLst>
          </p:cNvPr>
          <p:cNvSpPr txBox="1"/>
          <p:nvPr/>
        </p:nvSpPr>
        <p:spPr>
          <a:xfrm>
            <a:off x="232399" y="2588225"/>
            <a:ext cx="11727200" cy="41399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152396">
              <a:buSzPts val="1800"/>
            </a:pPr>
            <a:r>
              <a:rPr lang="pt-BR" sz="2200" dirty="0">
                <a:solidFill>
                  <a:srgbClr val="1B1B1B"/>
                </a:solidFill>
                <a:latin typeface="Roboto Mono"/>
                <a:sym typeface="Roboto Mono"/>
              </a:rPr>
              <a:t>O </a:t>
            </a:r>
            <a:r>
              <a:rPr lang="pt-BR" sz="2200" dirty="0" err="1">
                <a:solidFill>
                  <a:srgbClr val="1B1B1B"/>
                </a:solidFill>
                <a:latin typeface="Roboto Mono"/>
                <a:sym typeface="Roboto Mono"/>
              </a:rPr>
              <a:t>Object.seal</a:t>
            </a:r>
            <a:r>
              <a:rPr lang="pt-BR" sz="2200" dirty="0">
                <a:solidFill>
                  <a:srgbClr val="1B1B1B"/>
                </a:solidFill>
                <a:latin typeface="Roboto Mono"/>
                <a:sym typeface="Roboto Mono"/>
              </a:rPr>
              <a:t>() impede que novas propriedades sejam adicionadas a um objeto, mas permite a modificação de propriedades existentes. Este método é semelhante ao </a:t>
            </a:r>
            <a:r>
              <a:rPr lang="pt-BR" sz="2200" dirty="0" err="1">
                <a:solidFill>
                  <a:srgbClr val="1B1B1B"/>
                </a:solidFill>
                <a:latin typeface="Roboto Mono"/>
                <a:sym typeface="Roboto Mono"/>
              </a:rPr>
              <a:t>Object.freeze</a:t>
            </a:r>
            <a:r>
              <a:rPr lang="pt-BR" sz="2200" dirty="0">
                <a:solidFill>
                  <a:srgbClr val="1B1B1B"/>
                </a:solidFill>
                <a:latin typeface="Roboto Mono"/>
                <a:sym typeface="Roboto Mono"/>
              </a:rPr>
              <a:t>(). </a:t>
            </a:r>
          </a:p>
          <a:p>
            <a:pPr marL="1066796" lvl="2">
              <a:buSzPts val="1800"/>
            </a:pPr>
            <a:r>
              <a:rPr lang="pt-BR" i="1" dirty="0">
                <a:solidFill>
                  <a:srgbClr val="1B1B1B"/>
                </a:solidFill>
                <a:latin typeface="Roboto Mono"/>
                <a:sym typeface="Roboto Mono"/>
              </a:rPr>
              <a:t>		var </a:t>
            </a:r>
            <a:r>
              <a:rPr lang="pt-BR" i="1" dirty="0" err="1">
                <a:solidFill>
                  <a:srgbClr val="1B1B1B"/>
                </a:solidFill>
                <a:latin typeface="Roboto Mono"/>
                <a:sym typeface="Roboto Mono"/>
              </a:rPr>
              <a:t>imovel</a:t>
            </a:r>
            <a:r>
              <a:rPr lang="pt-BR" i="1" dirty="0">
                <a:solidFill>
                  <a:srgbClr val="1B1B1B"/>
                </a:solidFill>
                <a:latin typeface="Roboto Mono"/>
                <a:sym typeface="Roboto Mono"/>
              </a:rPr>
              <a:t> ={</a:t>
            </a:r>
          </a:p>
          <a:p>
            <a:pPr marL="1066796" lvl="2">
              <a:buSzPts val="1800"/>
            </a:pPr>
            <a:r>
              <a:rPr lang="pt-BR" i="1" dirty="0">
                <a:solidFill>
                  <a:srgbClr val="1B1B1B"/>
                </a:solidFill>
                <a:latin typeface="Roboto Mono"/>
                <a:sym typeface="Roboto Mono"/>
              </a:rPr>
              <a:t>			quartos: 2</a:t>
            </a:r>
          </a:p>
          <a:p>
            <a:pPr marL="1066796" lvl="2">
              <a:buSzPts val="1800"/>
            </a:pPr>
            <a:r>
              <a:rPr lang="pt-BR" i="1" dirty="0">
                <a:solidFill>
                  <a:srgbClr val="1B1B1B"/>
                </a:solidFill>
                <a:latin typeface="Roboto Mono"/>
                <a:sym typeface="Roboto Mono"/>
              </a:rPr>
              <a:t>		 }</a:t>
            </a:r>
          </a:p>
          <a:p>
            <a:pPr marL="1066796" lvl="2">
              <a:buSzPts val="1800"/>
            </a:pPr>
            <a:r>
              <a:rPr lang="pt-BR" i="1" dirty="0">
                <a:solidFill>
                  <a:srgbClr val="1B1B1B"/>
                </a:solidFill>
                <a:latin typeface="Roboto Mono"/>
                <a:sym typeface="Roboto Mono"/>
              </a:rPr>
              <a:t>		var </a:t>
            </a:r>
            <a:r>
              <a:rPr lang="pt-BR" i="1" dirty="0" err="1">
                <a:solidFill>
                  <a:srgbClr val="1B1B1B"/>
                </a:solidFill>
                <a:latin typeface="Roboto Mono"/>
                <a:sym typeface="Roboto Mono"/>
              </a:rPr>
              <a:t>imovelSeal</a:t>
            </a:r>
            <a:r>
              <a:rPr lang="pt-BR" i="1" dirty="0">
                <a:solidFill>
                  <a:srgbClr val="1B1B1B"/>
                </a:solidFill>
                <a:latin typeface="Roboto Mono"/>
                <a:sym typeface="Roboto Mono"/>
              </a:rPr>
              <a:t> = </a:t>
            </a:r>
            <a:r>
              <a:rPr lang="pt-BR" i="1" dirty="0" err="1">
                <a:solidFill>
                  <a:srgbClr val="1B1B1B"/>
                </a:solidFill>
                <a:latin typeface="Roboto Mono"/>
                <a:sym typeface="Roboto Mono"/>
              </a:rPr>
              <a:t>Object.seal</a:t>
            </a:r>
            <a:r>
              <a:rPr lang="pt-BR" i="1" dirty="0">
                <a:solidFill>
                  <a:srgbClr val="1B1B1B"/>
                </a:solidFill>
                <a:latin typeface="Roboto Mono"/>
                <a:sym typeface="Roboto Mono"/>
              </a:rPr>
              <a:t>(</a:t>
            </a:r>
            <a:r>
              <a:rPr lang="pt-BR" i="1" dirty="0" err="1">
                <a:solidFill>
                  <a:srgbClr val="1B1B1B"/>
                </a:solidFill>
                <a:latin typeface="Roboto Mono"/>
                <a:sym typeface="Roboto Mono"/>
              </a:rPr>
              <a:t>imovel</a:t>
            </a:r>
            <a:r>
              <a:rPr lang="pt-BR" i="1" dirty="0">
                <a:solidFill>
                  <a:srgbClr val="1B1B1B"/>
                </a:solidFill>
                <a:latin typeface="Roboto Mono"/>
                <a:sym typeface="Roboto Mono"/>
              </a:rPr>
              <a:t>);</a:t>
            </a:r>
          </a:p>
          <a:p>
            <a:pPr marL="1066796" lvl="2">
              <a:buSzPts val="1800"/>
            </a:pPr>
            <a:r>
              <a:rPr lang="pt-BR" i="1" dirty="0">
                <a:solidFill>
                  <a:srgbClr val="1B1B1B"/>
                </a:solidFill>
                <a:latin typeface="Roboto Mono"/>
                <a:sym typeface="Roboto Mono"/>
              </a:rPr>
              <a:t>		</a:t>
            </a:r>
            <a:r>
              <a:rPr lang="pt-BR" i="1" dirty="0" err="1">
                <a:solidFill>
                  <a:srgbClr val="1B1B1B"/>
                </a:solidFill>
                <a:latin typeface="Roboto Mono"/>
                <a:sym typeface="Roboto Mono"/>
              </a:rPr>
              <a:t>imovelSeal.possuiPiscina</a:t>
            </a:r>
            <a:r>
              <a:rPr lang="pt-BR" i="1" dirty="0">
                <a:solidFill>
                  <a:srgbClr val="1B1B1B"/>
                </a:solidFill>
                <a:latin typeface="Roboto Mono"/>
                <a:sym typeface="Roboto Mono"/>
              </a:rPr>
              <a:t> = </a:t>
            </a:r>
            <a:r>
              <a:rPr lang="pt-BR" i="1" dirty="0" err="1">
                <a:solidFill>
                  <a:srgbClr val="1B1B1B"/>
                </a:solidFill>
                <a:latin typeface="Roboto Mono"/>
                <a:sym typeface="Roboto Mono"/>
              </a:rPr>
              <a:t>true</a:t>
            </a:r>
            <a:r>
              <a:rPr lang="pt-BR" i="1" dirty="0">
                <a:solidFill>
                  <a:srgbClr val="1B1B1B"/>
                </a:solidFill>
                <a:latin typeface="Roboto Mono"/>
                <a:sym typeface="Roboto Mono"/>
              </a:rPr>
              <a:t>;</a:t>
            </a:r>
          </a:p>
          <a:p>
            <a:pPr marL="1066796" lvl="2">
              <a:buSzPts val="1800"/>
            </a:pPr>
            <a:r>
              <a:rPr lang="pt-BR" i="1" dirty="0">
                <a:solidFill>
                  <a:srgbClr val="1B1B1B"/>
                </a:solidFill>
                <a:latin typeface="Roboto Mono"/>
                <a:sym typeface="Roboto Mono"/>
              </a:rPr>
              <a:t>		</a:t>
            </a:r>
            <a:r>
              <a:rPr lang="pt-BR" i="1" dirty="0" err="1">
                <a:solidFill>
                  <a:srgbClr val="1B1B1B"/>
                </a:solidFill>
                <a:latin typeface="Roboto Mono"/>
                <a:sym typeface="Roboto Mono"/>
              </a:rPr>
              <a:t>imovelSeal.quartos</a:t>
            </a:r>
            <a:r>
              <a:rPr lang="pt-BR" i="1" dirty="0">
                <a:solidFill>
                  <a:srgbClr val="1B1B1B"/>
                </a:solidFill>
                <a:latin typeface="Roboto Mono"/>
                <a:sym typeface="Roboto Mono"/>
              </a:rPr>
              <a:t> = 4;</a:t>
            </a:r>
          </a:p>
          <a:p>
            <a:pPr marL="1066796" lvl="2">
              <a:buSzPts val="1800"/>
            </a:pPr>
            <a:r>
              <a:rPr lang="pt-BR" i="1" dirty="0">
                <a:solidFill>
                  <a:srgbClr val="1B1B1B"/>
                </a:solidFill>
                <a:latin typeface="Roboto Mono"/>
                <a:sym typeface="Roboto Mono"/>
              </a:rPr>
              <a:t>		console.log(</a:t>
            </a:r>
            <a:r>
              <a:rPr lang="pt-BR" i="1" dirty="0" err="1">
                <a:solidFill>
                  <a:srgbClr val="1B1B1B"/>
                </a:solidFill>
                <a:latin typeface="Roboto Mono"/>
                <a:sym typeface="Roboto Mono"/>
              </a:rPr>
              <a:t>imovelSeal</a:t>
            </a:r>
            <a:r>
              <a:rPr lang="pt-BR" i="1" dirty="0">
                <a:solidFill>
                  <a:srgbClr val="1B1B1B"/>
                </a:solidFill>
                <a:latin typeface="Roboto Mono"/>
                <a:sym typeface="Roboto Mono"/>
              </a:rPr>
              <a:t>); // retorna {quartos: 4, andar: 2, tipo: “apartamento” }</a:t>
            </a:r>
          </a:p>
          <a:p>
            <a:pPr marL="152396">
              <a:buSzPts val="1800"/>
            </a:pPr>
            <a:r>
              <a:rPr lang="pt-BR" dirty="0">
                <a:solidFill>
                  <a:srgbClr val="1B1B1B"/>
                </a:solidFill>
                <a:latin typeface="Roboto Mono"/>
                <a:sym typeface="Roboto Mono"/>
              </a:rPr>
              <a:t>O </a:t>
            </a:r>
            <a:r>
              <a:rPr lang="pt-BR" dirty="0" err="1">
                <a:solidFill>
                  <a:srgbClr val="1B1B1B"/>
                </a:solidFill>
                <a:latin typeface="Roboto Mono"/>
                <a:sym typeface="Roboto Mono"/>
              </a:rPr>
              <a:t>Object.isSealed</a:t>
            </a:r>
            <a:r>
              <a:rPr lang="pt-BR" dirty="0">
                <a:solidFill>
                  <a:srgbClr val="1B1B1B"/>
                </a:solidFill>
                <a:latin typeface="Roboto Mono"/>
                <a:sym typeface="Roboto Mono"/>
              </a:rPr>
              <a:t>() está disponível para determinar se um objeto foi selado(</a:t>
            </a:r>
            <a:r>
              <a:rPr lang="pt-BR" dirty="0" err="1">
                <a:solidFill>
                  <a:srgbClr val="1B1B1B"/>
                </a:solidFill>
                <a:latin typeface="Roboto Mono"/>
                <a:sym typeface="Roboto Mono"/>
              </a:rPr>
              <a:t>seal</a:t>
            </a:r>
            <a:r>
              <a:rPr lang="pt-BR" dirty="0">
                <a:solidFill>
                  <a:srgbClr val="1B1B1B"/>
                </a:solidFill>
                <a:latin typeface="Roboto Mono"/>
                <a:sym typeface="Roboto Mono"/>
              </a:rPr>
              <a:t>) ou não e retorna um </a:t>
            </a:r>
            <a:r>
              <a:rPr lang="pt-BR" dirty="0" err="1">
                <a:solidFill>
                  <a:srgbClr val="1B1B1B"/>
                </a:solidFill>
                <a:latin typeface="Roboto Mono"/>
                <a:sym typeface="Roboto Mono"/>
              </a:rPr>
              <a:t>Boolean</a:t>
            </a:r>
            <a:r>
              <a:rPr lang="pt-BR" dirty="0">
                <a:solidFill>
                  <a:srgbClr val="1B1B1B"/>
                </a:solidFill>
                <a:latin typeface="Roboto Mono"/>
                <a:sym typeface="Roboto Mono"/>
              </a:rPr>
              <a:t>.</a:t>
            </a:r>
          </a:p>
          <a:p>
            <a:pPr marL="152396">
              <a:buSzPts val="1800"/>
            </a:pPr>
            <a:r>
              <a:rPr lang="pt-BR" dirty="0">
                <a:solidFill>
                  <a:srgbClr val="1B1B1B"/>
                </a:solidFill>
                <a:latin typeface="Roboto Mono"/>
                <a:sym typeface="Roboto Mono"/>
              </a:rPr>
              <a:t>			 console.log(  </a:t>
            </a:r>
            <a:r>
              <a:rPr lang="pt-BR" dirty="0" err="1">
                <a:solidFill>
                  <a:srgbClr val="1B1B1B"/>
                </a:solidFill>
                <a:latin typeface="Roboto Mono"/>
                <a:sym typeface="Roboto Mono"/>
              </a:rPr>
              <a:t>Object.isSealed</a:t>
            </a:r>
            <a:r>
              <a:rPr lang="pt-BR" dirty="0">
                <a:solidFill>
                  <a:srgbClr val="1B1B1B"/>
                </a:solidFill>
                <a:latin typeface="Roboto Mono"/>
                <a:sym typeface="Roboto Mono"/>
              </a:rPr>
              <a:t>(</a:t>
            </a:r>
            <a:r>
              <a:rPr lang="pt-BR" dirty="0" err="1">
                <a:solidFill>
                  <a:srgbClr val="1B1B1B"/>
                </a:solidFill>
                <a:latin typeface="Roboto Mono"/>
                <a:sym typeface="Roboto Mono"/>
              </a:rPr>
              <a:t>imovelSeal</a:t>
            </a:r>
            <a:r>
              <a:rPr lang="pt-BR" i="1" dirty="0">
                <a:solidFill>
                  <a:srgbClr val="1B1B1B"/>
                </a:solidFill>
                <a:latin typeface="Roboto Mono"/>
                <a:sym typeface="Roboto Mono"/>
              </a:rPr>
              <a:t> </a:t>
            </a:r>
            <a:r>
              <a:rPr lang="pt-BR" dirty="0">
                <a:solidFill>
                  <a:srgbClr val="1B1B1B"/>
                </a:solidFill>
                <a:latin typeface="Roboto Mono"/>
                <a:sym typeface="Roboto Mono"/>
              </a:rPr>
              <a:t>) ); // retorna </a:t>
            </a:r>
            <a:r>
              <a:rPr lang="pt-BR" dirty="0" err="1">
                <a:solidFill>
                  <a:srgbClr val="1B1B1B"/>
                </a:solidFill>
                <a:latin typeface="Roboto Mono"/>
                <a:sym typeface="Roboto Mono"/>
              </a:rPr>
              <a:t>true</a:t>
            </a:r>
            <a:endParaRPr lang="pt-BR" dirty="0">
              <a:solidFill>
                <a:srgbClr val="1B1B1B"/>
              </a:solidFill>
              <a:latin typeface="Roboto Mono"/>
              <a:sym typeface="Roboto Mono"/>
            </a:endParaRPr>
          </a:p>
          <a:p>
            <a:pPr marL="1066796" lvl="2">
              <a:buSzPts val="1800"/>
            </a:pPr>
            <a:endParaRPr lang="pt-BR" dirty="0">
              <a:solidFill>
                <a:srgbClr val="1B1B1B"/>
              </a:solidFill>
              <a:latin typeface="Roboto Mono"/>
              <a:sym typeface="Roboto Mono"/>
            </a:endParaRPr>
          </a:p>
        </p:txBody>
      </p:sp>
    </p:spTree>
    <p:extLst>
      <p:ext uri="{BB962C8B-B14F-4D97-AF65-F5344CB8AC3E}">
        <p14:creationId xmlns:p14="http://schemas.microsoft.com/office/powerpoint/2010/main" val="796403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/>
          <p:nvPr/>
        </p:nvSpPr>
        <p:spPr>
          <a:xfrm>
            <a:off x="0" y="905740"/>
            <a:ext cx="12191999" cy="15042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/>
            <a:r>
              <a:rPr lang="pt-BR" sz="5400" dirty="0">
                <a:solidFill>
                  <a:srgbClr val="D6BA32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Trabalhando com objetos</a:t>
            </a:r>
          </a:p>
          <a:p>
            <a:pPr algn="ctr"/>
            <a:r>
              <a:rPr lang="pt-BR" sz="3600" dirty="0">
                <a:solidFill>
                  <a:srgbClr val="FFDA3E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Métodos - </a:t>
            </a:r>
            <a:r>
              <a:rPr lang="pt-BR" sz="3600" dirty="0" err="1">
                <a:solidFill>
                  <a:srgbClr val="FFDA3E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Object.create</a:t>
            </a:r>
            <a:r>
              <a:rPr lang="pt-BR" sz="3600" dirty="0">
                <a:solidFill>
                  <a:srgbClr val="FFDA3E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()</a:t>
            </a:r>
          </a:p>
          <a:p>
            <a:pPr algn="ctr"/>
            <a:endParaRPr lang="pt-BR" sz="3600" dirty="0">
              <a:solidFill>
                <a:srgbClr val="FFDA3E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  <a:p>
            <a:pPr algn="ctr"/>
            <a:endParaRPr lang="pt-BR" sz="3600" dirty="0">
              <a:solidFill>
                <a:srgbClr val="FFDA3E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sp>
        <p:nvSpPr>
          <p:cNvPr id="6" name="Google Shape;62;p14">
            <a:extLst>
              <a:ext uri="{FF2B5EF4-FFF2-40B4-BE49-F238E27FC236}">
                <a16:creationId xmlns:a16="http://schemas.microsoft.com/office/drawing/2014/main" id="{9CADA192-C9A8-B9C0-227F-815B950732DA}"/>
              </a:ext>
            </a:extLst>
          </p:cNvPr>
          <p:cNvSpPr txBox="1"/>
          <p:nvPr/>
        </p:nvSpPr>
        <p:spPr>
          <a:xfrm>
            <a:off x="731622" y="214261"/>
            <a:ext cx="11004402" cy="51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pt-BR" sz="1600" dirty="0">
                <a:solidFill>
                  <a:srgbClr val="D6BA32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Curso Javascript básico – Aula 05 </a:t>
            </a:r>
          </a:p>
          <a:p>
            <a:endParaRPr sz="1600" dirty="0">
              <a:solidFill>
                <a:srgbClr val="1572B6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6CAB4A95-049E-FA42-9A48-687C191F888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112" y="188606"/>
            <a:ext cx="564510" cy="564510"/>
          </a:xfrm>
          <a:prstGeom prst="rect">
            <a:avLst/>
          </a:prstGeom>
        </p:spPr>
      </p:pic>
      <p:sp>
        <p:nvSpPr>
          <p:cNvPr id="7" name="Google Shape;65;p14">
            <a:extLst>
              <a:ext uri="{FF2B5EF4-FFF2-40B4-BE49-F238E27FC236}">
                <a16:creationId xmlns:a16="http://schemas.microsoft.com/office/drawing/2014/main" id="{797C2C98-63A7-8CC0-347B-999F3D514499}"/>
              </a:ext>
            </a:extLst>
          </p:cNvPr>
          <p:cNvSpPr txBox="1"/>
          <p:nvPr/>
        </p:nvSpPr>
        <p:spPr>
          <a:xfrm>
            <a:off x="232400" y="2718032"/>
            <a:ext cx="11727200" cy="41399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152396">
              <a:buSzPts val="1800"/>
            </a:pPr>
            <a:r>
              <a:rPr lang="pt-BR" sz="2200" dirty="0">
                <a:solidFill>
                  <a:srgbClr val="1B1B1B"/>
                </a:solidFill>
                <a:latin typeface="Roboto Mono"/>
                <a:sym typeface="Roboto Mono"/>
              </a:rPr>
              <a:t>	O método </a:t>
            </a:r>
            <a:r>
              <a:rPr lang="pt-BR" sz="2200" dirty="0" err="1">
                <a:solidFill>
                  <a:srgbClr val="1B1B1B"/>
                </a:solidFill>
                <a:latin typeface="Roboto Mono"/>
                <a:sym typeface="Roboto Mono"/>
              </a:rPr>
              <a:t>Object.create</a:t>
            </a:r>
            <a:r>
              <a:rPr lang="pt-BR" sz="2200" dirty="0">
                <a:solidFill>
                  <a:srgbClr val="1B1B1B"/>
                </a:solidFill>
                <a:latin typeface="Roboto Mono"/>
                <a:sym typeface="Roboto Mono"/>
              </a:rPr>
              <a:t>() é usado para criar um novo objeto e conectá-lo ao protótipo de um objeto existente.</a:t>
            </a:r>
          </a:p>
          <a:p>
            <a:pPr marL="152396">
              <a:buSzPts val="1800"/>
            </a:pPr>
            <a:r>
              <a:rPr lang="pt-BR" sz="2200" dirty="0">
                <a:solidFill>
                  <a:srgbClr val="1B1B1B"/>
                </a:solidFill>
                <a:latin typeface="Roboto Mono"/>
                <a:sym typeface="Roboto Mono"/>
              </a:rPr>
              <a:t>Podemos criar uma instância de um objeto e estendê-la para um objeto mais específico.</a:t>
            </a:r>
          </a:p>
          <a:p>
            <a:pPr marL="152396">
              <a:buSzPts val="1800"/>
            </a:pPr>
            <a:r>
              <a:rPr lang="pt-BR" sz="2200" i="1" dirty="0">
                <a:solidFill>
                  <a:srgbClr val="1B1B1B"/>
                </a:solidFill>
                <a:latin typeface="Roboto Mono"/>
                <a:sym typeface="Roboto Mono"/>
              </a:rPr>
              <a:t>	</a:t>
            </a:r>
            <a:r>
              <a:rPr lang="pt-BR" i="1" dirty="0">
                <a:solidFill>
                  <a:srgbClr val="1B1B1B"/>
                </a:solidFill>
                <a:latin typeface="Roboto Mono"/>
                <a:sym typeface="Roboto Mono"/>
              </a:rPr>
              <a:t>	var </a:t>
            </a:r>
            <a:r>
              <a:rPr lang="pt-BR" i="1" dirty="0" err="1">
                <a:solidFill>
                  <a:srgbClr val="1B1B1B"/>
                </a:solidFill>
                <a:latin typeface="Roboto Mono"/>
                <a:sym typeface="Roboto Mono"/>
              </a:rPr>
              <a:t>imovel</a:t>
            </a:r>
            <a:r>
              <a:rPr lang="pt-BR" i="1" dirty="0">
                <a:solidFill>
                  <a:srgbClr val="1B1B1B"/>
                </a:solidFill>
                <a:latin typeface="Roboto Mono"/>
                <a:sym typeface="Roboto Mono"/>
              </a:rPr>
              <a:t> ={</a:t>
            </a:r>
          </a:p>
          <a:p>
            <a:pPr marL="152396">
              <a:buSzPts val="1800"/>
            </a:pPr>
            <a:r>
              <a:rPr lang="pt-BR" i="1" dirty="0">
                <a:solidFill>
                  <a:srgbClr val="1B1B1B"/>
                </a:solidFill>
                <a:latin typeface="Roboto Mono"/>
                <a:sym typeface="Roboto Mono"/>
              </a:rPr>
              <a:t>			quartos: 2,</a:t>
            </a:r>
          </a:p>
          <a:p>
            <a:pPr marL="152396">
              <a:buSzPts val="1800"/>
            </a:pPr>
            <a:r>
              <a:rPr lang="pt-BR" i="1" dirty="0">
                <a:solidFill>
                  <a:srgbClr val="1B1B1B"/>
                </a:solidFill>
                <a:latin typeface="Roboto Mono"/>
                <a:sym typeface="Roboto Mono"/>
              </a:rPr>
              <a:t>			tipo: “apartamento”,</a:t>
            </a:r>
          </a:p>
          <a:p>
            <a:pPr marL="152396">
              <a:buSzPts val="1800"/>
            </a:pPr>
            <a:r>
              <a:rPr lang="pt-BR" i="1" dirty="0">
                <a:solidFill>
                  <a:srgbClr val="1B1B1B"/>
                </a:solidFill>
                <a:latin typeface="Roboto Mono"/>
                <a:sym typeface="Roboto Mono"/>
              </a:rPr>
              <a:t>			andar: 2	</a:t>
            </a:r>
          </a:p>
          <a:p>
            <a:pPr marL="152396">
              <a:buSzPts val="1800"/>
            </a:pPr>
            <a:r>
              <a:rPr lang="pt-BR" i="1" dirty="0">
                <a:solidFill>
                  <a:srgbClr val="1B1B1B"/>
                </a:solidFill>
                <a:latin typeface="Roboto Mono"/>
                <a:sym typeface="Roboto Mono"/>
              </a:rPr>
              <a:t>        		}</a:t>
            </a:r>
          </a:p>
          <a:p>
            <a:pPr marL="152396">
              <a:buSzPts val="1800"/>
            </a:pPr>
            <a:r>
              <a:rPr lang="pt-BR" i="1" dirty="0">
                <a:solidFill>
                  <a:srgbClr val="1B1B1B"/>
                </a:solidFill>
                <a:latin typeface="Roboto Mono"/>
                <a:sym typeface="Roboto Mono"/>
              </a:rPr>
              <a:t>		var cobertura = </a:t>
            </a:r>
            <a:r>
              <a:rPr lang="pt-BR" i="1" dirty="0" err="1">
                <a:solidFill>
                  <a:srgbClr val="1B1B1B"/>
                </a:solidFill>
                <a:latin typeface="Roboto Mono"/>
                <a:sym typeface="Roboto Mono"/>
              </a:rPr>
              <a:t>Object.create</a:t>
            </a:r>
            <a:r>
              <a:rPr lang="pt-BR" i="1" dirty="0">
                <a:solidFill>
                  <a:srgbClr val="1B1B1B"/>
                </a:solidFill>
                <a:latin typeface="Roboto Mono"/>
                <a:sym typeface="Roboto Mono"/>
              </a:rPr>
              <a:t>(</a:t>
            </a:r>
            <a:r>
              <a:rPr lang="pt-BR" i="1" dirty="0" err="1">
                <a:solidFill>
                  <a:srgbClr val="1B1B1B"/>
                </a:solidFill>
                <a:latin typeface="Roboto Mono"/>
                <a:sym typeface="Roboto Mono"/>
              </a:rPr>
              <a:t>imovel</a:t>
            </a:r>
            <a:r>
              <a:rPr lang="pt-BR" i="1" dirty="0">
                <a:solidFill>
                  <a:srgbClr val="1B1B1B"/>
                </a:solidFill>
                <a:latin typeface="Roboto Mono"/>
                <a:sym typeface="Roboto Mono"/>
              </a:rPr>
              <a:t>);</a:t>
            </a:r>
          </a:p>
          <a:p>
            <a:pPr marL="152396">
              <a:buSzPts val="1800"/>
            </a:pPr>
            <a:r>
              <a:rPr lang="pt-BR" i="1" dirty="0">
                <a:solidFill>
                  <a:srgbClr val="1B1B1B"/>
                </a:solidFill>
                <a:latin typeface="Roboto Mono"/>
                <a:sym typeface="Roboto Mono"/>
              </a:rPr>
              <a:t>		</a:t>
            </a:r>
            <a:r>
              <a:rPr lang="pt-BR" i="1" dirty="0" err="1">
                <a:solidFill>
                  <a:srgbClr val="1B1B1B"/>
                </a:solidFill>
                <a:latin typeface="Roboto Mono"/>
                <a:sym typeface="Roboto Mono"/>
              </a:rPr>
              <a:t>cobertura.quartos</a:t>
            </a:r>
            <a:r>
              <a:rPr lang="pt-BR" i="1" dirty="0">
                <a:solidFill>
                  <a:srgbClr val="1B1B1B"/>
                </a:solidFill>
                <a:latin typeface="Roboto Mono"/>
                <a:sym typeface="Roboto Mono"/>
              </a:rPr>
              <a:t> = 4;</a:t>
            </a:r>
          </a:p>
          <a:p>
            <a:pPr marL="152396">
              <a:buSzPts val="1800"/>
            </a:pPr>
            <a:r>
              <a:rPr lang="pt-BR" i="1" dirty="0">
                <a:solidFill>
                  <a:srgbClr val="1B1B1B"/>
                </a:solidFill>
                <a:latin typeface="Roboto Mono"/>
                <a:sym typeface="Roboto Mono"/>
              </a:rPr>
              <a:t>		</a:t>
            </a:r>
            <a:r>
              <a:rPr lang="pt-BR" i="1" dirty="0" err="1">
                <a:solidFill>
                  <a:srgbClr val="1B1B1B"/>
                </a:solidFill>
                <a:latin typeface="Roboto Mono"/>
                <a:sym typeface="Roboto Mono"/>
              </a:rPr>
              <a:t>cobertura.andar</a:t>
            </a:r>
            <a:r>
              <a:rPr lang="pt-BR" i="1" dirty="0">
                <a:solidFill>
                  <a:srgbClr val="1B1B1B"/>
                </a:solidFill>
                <a:latin typeface="Roboto Mono"/>
                <a:sym typeface="Roboto Mono"/>
              </a:rPr>
              <a:t> = 12;</a:t>
            </a:r>
          </a:p>
          <a:p>
            <a:pPr marL="152396">
              <a:buSzPts val="1800"/>
            </a:pPr>
            <a:r>
              <a:rPr lang="pt-BR" i="1" dirty="0">
                <a:solidFill>
                  <a:srgbClr val="1B1B1B"/>
                </a:solidFill>
                <a:latin typeface="Roboto Mono"/>
                <a:sym typeface="Roboto Mono"/>
              </a:rPr>
              <a:t>		</a:t>
            </a:r>
            <a:r>
              <a:rPr lang="pt-BR" i="1" dirty="0" err="1">
                <a:solidFill>
                  <a:srgbClr val="1B1B1B"/>
                </a:solidFill>
                <a:latin typeface="Roboto Mono"/>
                <a:sym typeface="Roboto Mono"/>
              </a:rPr>
              <a:t>cobertura.closet</a:t>
            </a:r>
            <a:r>
              <a:rPr lang="pt-BR" i="1" dirty="0">
                <a:solidFill>
                  <a:srgbClr val="1B1B1B"/>
                </a:solidFill>
                <a:latin typeface="Roboto Mono"/>
                <a:sym typeface="Roboto Mono"/>
              </a:rPr>
              <a:t> = </a:t>
            </a:r>
            <a:r>
              <a:rPr lang="pt-BR" i="1" dirty="0" err="1">
                <a:solidFill>
                  <a:srgbClr val="1B1B1B"/>
                </a:solidFill>
                <a:latin typeface="Roboto Mono"/>
                <a:sym typeface="Roboto Mono"/>
              </a:rPr>
              <a:t>true</a:t>
            </a:r>
            <a:endParaRPr lang="pt-BR" i="1" dirty="0">
              <a:solidFill>
                <a:srgbClr val="1B1B1B"/>
              </a:solidFill>
              <a:latin typeface="Roboto Mono"/>
              <a:sym typeface="Roboto Mono"/>
            </a:endParaRPr>
          </a:p>
        </p:txBody>
      </p:sp>
    </p:spTree>
    <p:extLst>
      <p:ext uri="{BB962C8B-B14F-4D97-AF65-F5344CB8AC3E}">
        <p14:creationId xmlns:p14="http://schemas.microsoft.com/office/powerpoint/2010/main" val="20571745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/>
          <p:nvPr/>
        </p:nvSpPr>
        <p:spPr>
          <a:xfrm>
            <a:off x="0" y="905740"/>
            <a:ext cx="12191999" cy="15042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/>
            <a:r>
              <a:rPr lang="pt-BR" sz="5400" dirty="0">
                <a:solidFill>
                  <a:srgbClr val="D6BA32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Trabalhando com objetos</a:t>
            </a:r>
          </a:p>
          <a:p>
            <a:pPr algn="ctr"/>
            <a:r>
              <a:rPr lang="pt-BR" sz="3600" dirty="0">
                <a:solidFill>
                  <a:srgbClr val="FFDA3E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Métodos - </a:t>
            </a:r>
            <a:r>
              <a:rPr lang="pt-BR" sz="3600" dirty="0" err="1">
                <a:solidFill>
                  <a:srgbClr val="FFDA3E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Object.getPrototypeOf</a:t>
            </a:r>
            <a:r>
              <a:rPr lang="pt-BR" sz="3600" dirty="0">
                <a:solidFill>
                  <a:srgbClr val="FFDA3E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()</a:t>
            </a:r>
          </a:p>
          <a:p>
            <a:pPr algn="ctr"/>
            <a:endParaRPr lang="pt-BR" sz="3600" dirty="0">
              <a:solidFill>
                <a:srgbClr val="FFDA3E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  <a:p>
            <a:pPr algn="ctr"/>
            <a:endParaRPr lang="pt-BR" sz="3600" dirty="0">
              <a:solidFill>
                <a:srgbClr val="FFDA3E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sp>
        <p:nvSpPr>
          <p:cNvPr id="6" name="Google Shape;62;p14">
            <a:extLst>
              <a:ext uri="{FF2B5EF4-FFF2-40B4-BE49-F238E27FC236}">
                <a16:creationId xmlns:a16="http://schemas.microsoft.com/office/drawing/2014/main" id="{9CADA192-C9A8-B9C0-227F-815B950732DA}"/>
              </a:ext>
            </a:extLst>
          </p:cNvPr>
          <p:cNvSpPr txBox="1"/>
          <p:nvPr/>
        </p:nvSpPr>
        <p:spPr>
          <a:xfrm>
            <a:off x="731622" y="214261"/>
            <a:ext cx="11004402" cy="51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pt-BR" sz="1600" dirty="0">
                <a:solidFill>
                  <a:srgbClr val="D6BA32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Curso Javascript básico – Aula 05 </a:t>
            </a:r>
          </a:p>
          <a:p>
            <a:endParaRPr sz="1600" dirty="0">
              <a:solidFill>
                <a:srgbClr val="1572B6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6CAB4A95-049E-FA42-9A48-687C191F888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112" y="188606"/>
            <a:ext cx="564510" cy="564510"/>
          </a:xfrm>
          <a:prstGeom prst="rect">
            <a:avLst/>
          </a:prstGeom>
        </p:spPr>
      </p:pic>
      <p:sp>
        <p:nvSpPr>
          <p:cNvPr id="7" name="Google Shape;65;p14">
            <a:extLst>
              <a:ext uri="{FF2B5EF4-FFF2-40B4-BE49-F238E27FC236}">
                <a16:creationId xmlns:a16="http://schemas.microsoft.com/office/drawing/2014/main" id="{797C2C98-63A7-8CC0-347B-999F3D514499}"/>
              </a:ext>
            </a:extLst>
          </p:cNvPr>
          <p:cNvSpPr txBox="1"/>
          <p:nvPr/>
        </p:nvSpPr>
        <p:spPr>
          <a:xfrm>
            <a:off x="232400" y="2718032"/>
            <a:ext cx="11727200" cy="41399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152396">
              <a:buSzPts val="1800"/>
            </a:pPr>
            <a:r>
              <a:rPr lang="pt-BR" sz="2200" dirty="0">
                <a:solidFill>
                  <a:srgbClr val="1B1B1B"/>
                </a:solidFill>
                <a:latin typeface="Roboto Mono"/>
                <a:sym typeface="Roboto Mono"/>
              </a:rPr>
              <a:t>	O </a:t>
            </a:r>
            <a:r>
              <a:rPr lang="pt-BR" sz="2200" dirty="0" err="1">
                <a:solidFill>
                  <a:srgbClr val="1B1B1B"/>
                </a:solidFill>
                <a:latin typeface="Roboto Mono"/>
                <a:sym typeface="Roboto Mono"/>
              </a:rPr>
              <a:t>Object.getPrototypeOf</a:t>
            </a:r>
            <a:r>
              <a:rPr lang="pt-BR" sz="2200" dirty="0">
                <a:solidFill>
                  <a:srgbClr val="1B1B1B"/>
                </a:solidFill>
                <a:latin typeface="Roboto Mono"/>
                <a:sym typeface="Roboto Mono"/>
              </a:rPr>
              <a:t>() é usado para obter o [[</a:t>
            </a:r>
            <a:r>
              <a:rPr lang="pt-BR" sz="2200" dirty="0" err="1">
                <a:solidFill>
                  <a:srgbClr val="1B1B1B"/>
                </a:solidFill>
                <a:latin typeface="Roboto Mono"/>
                <a:sym typeface="Roboto Mono"/>
              </a:rPr>
              <a:t>Prototype</a:t>
            </a:r>
            <a:r>
              <a:rPr lang="pt-BR" sz="2200" dirty="0">
                <a:solidFill>
                  <a:srgbClr val="1B1B1B"/>
                </a:solidFill>
                <a:latin typeface="Roboto Mono"/>
                <a:sym typeface="Roboto Mono"/>
              </a:rPr>
              <a:t>]] interno oculto de um objeto, também acessível através da propriedade __</a:t>
            </a:r>
            <a:r>
              <a:rPr lang="pt-BR" sz="2200" dirty="0" err="1">
                <a:solidFill>
                  <a:srgbClr val="1B1B1B"/>
                </a:solidFill>
                <a:latin typeface="Roboto Mono"/>
                <a:sym typeface="Roboto Mono"/>
              </a:rPr>
              <a:t>proto</a:t>
            </a:r>
            <a:r>
              <a:rPr lang="pt-BR" sz="2200" dirty="0">
                <a:solidFill>
                  <a:srgbClr val="1B1B1B"/>
                </a:solidFill>
                <a:latin typeface="Roboto Mono"/>
                <a:sym typeface="Roboto Mono"/>
              </a:rPr>
              <a:t>__..</a:t>
            </a:r>
          </a:p>
          <a:p>
            <a:pPr marL="152396">
              <a:buSzPts val="1800"/>
            </a:pPr>
            <a:r>
              <a:rPr lang="pt-BR" sz="2200" i="1" dirty="0">
                <a:solidFill>
                  <a:srgbClr val="1B1B1B"/>
                </a:solidFill>
                <a:latin typeface="Roboto Mono"/>
                <a:sym typeface="Roboto Mono"/>
              </a:rPr>
              <a:t>	</a:t>
            </a:r>
            <a:r>
              <a:rPr lang="pt-BR" i="1" dirty="0">
                <a:solidFill>
                  <a:srgbClr val="1B1B1B"/>
                </a:solidFill>
                <a:latin typeface="Roboto Mono"/>
                <a:sym typeface="Roboto Mono"/>
              </a:rPr>
              <a:t>	var </a:t>
            </a:r>
            <a:r>
              <a:rPr lang="pt-BR" i="1" dirty="0" err="1">
                <a:solidFill>
                  <a:srgbClr val="1B1B1B"/>
                </a:solidFill>
                <a:latin typeface="Roboto Mono"/>
                <a:sym typeface="Roboto Mono"/>
              </a:rPr>
              <a:t>imovel</a:t>
            </a:r>
            <a:r>
              <a:rPr lang="pt-BR" i="1" dirty="0">
                <a:solidFill>
                  <a:srgbClr val="1B1B1B"/>
                </a:solidFill>
                <a:latin typeface="Roboto Mono"/>
                <a:sym typeface="Roboto Mono"/>
              </a:rPr>
              <a:t> ={</a:t>
            </a:r>
          </a:p>
          <a:p>
            <a:pPr marL="152396">
              <a:buSzPts val="1800"/>
            </a:pPr>
            <a:r>
              <a:rPr lang="pt-BR" i="1" dirty="0">
                <a:solidFill>
                  <a:srgbClr val="1B1B1B"/>
                </a:solidFill>
                <a:latin typeface="Roboto Mono"/>
                <a:sym typeface="Roboto Mono"/>
              </a:rPr>
              <a:t>			quartos: 2,</a:t>
            </a:r>
          </a:p>
          <a:p>
            <a:pPr marL="152396">
              <a:buSzPts val="1800"/>
            </a:pPr>
            <a:r>
              <a:rPr lang="pt-BR" i="1" dirty="0">
                <a:solidFill>
                  <a:srgbClr val="1B1B1B"/>
                </a:solidFill>
                <a:latin typeface="Roboto Mono"/>
                <a:sym typeface="Roboto Mono"/>
              </a:rPr>
              <a:t>			tipo: “apartamento”,</a:t>
            </a:r>
          </a:p>
          <a:p>
            <a:pPr marL="152396">
              <a:buSzPts val="1800"/>
            </a:pPr>
            <a:r>
              <a:rPr lang="pt-BR" i="1" dirty="0">
                <a:solidFill>
                  <a:srgbClr val="1B1B1B"/>
                </a:solidFill>
                <a:latin typeface="Roboto Mono"/>
                <a:sym typeface="Roboto Mono"/>
              </a:rPr>
              <a:t>			andar: 2	</a:t>
            </a:r>
          </a:p>
          <a:p>
            <a:pPr marL="152396">
              <a:buSzPts val="1800"/>
            </a:pPr>
            <a:r>
              <a:rPr lang="pt-BR" i="1" dirty="0">
                <a:solidFill>
                  <a:srgbClr val="1B1B1B"/>
                </a:solidFill>
                <a:latin typeface="Roboto Mono"/>
                <a:sym typeface="Roboto Mono"/>
              </a:rPr>
              <a:t>        		}</a:t>
            </a:r>
          </a:p>
          <a:p>
            <a:pPr marL="152396">
              <a:buSzPts val="1800"/>
            </a:pPr>
            <a:r>
              <a:rPr lang="pt-BR" i="1" dirty="0">
                <a:solidFill>
                  <a:srgbClr val="1B1B1B"/>
                </a:solidFill>
                <a:latin typeface="Roboto Mono"/>
                <a:sym typeface="Roboto Mono"/>
              </a:rPr>
              <a:t>		var cobertura = </a:t>
            </a:r>
            <a:r>
              <a:rPr lang="pt-BR" i="1" dirty="0" err="1">
                <a:solidFill>
                  <a:srgbClr val="1B1B1B"/>
                </a:solidFill>
                <a:latin typeface="Roboto Mono"/>
                <a:sym typeface="Roboto Mono"/>
              </a:rPr>
              <a:t>Object.getPrototypeOf</a:t>
            </a:r>
            <a:r>
              <a:rPr lang="pt-BR" i="1" dirty="0">
                <a:solidFill>
                  <a:srgbClr val="1B1B1B"/>
                </a:solidFill>
                <a:latin typeface="Roboto Mono"/>
                <a:sym typeface="Roboto Mono"/>
              </a:rPr>
              <a:t>(</a:t>
            </a:r>
            <a:r>
              <a:rPr lang="pt-BR" i="1" dirty="0" err="1">
                <a:solidFill>
                  <a:srgbClr val="1B1B1B"/>
                </a:solidFill>
                <a:latin typeface="Roboto Mono"/>
                <a:sym typeface="Roboto Mono"/>
              </a:rPr>
              <a:t>imovel</a:t>
            </a:r>
            <a:r>
              <a:rPr lang="pt-BR" i="1" dirty="0">
                <a:solidFill>
                  <a:srgbClr val="1B1B1B"/>
                </a:solidFill>
                <a:latin typeface="Roboto Mono"/>
                <a:sym typeface="Roboto Mono"/>
              </a:rPr>
              <a:t>);</a:t>
            </a:r>
          </a:p>
          <a:p>
            <a:pPr marL="152396">
              <a:buSzPts val="1800"/>
            </a:pPr>
            <a:r>
              <a:rPr lang="pt-BR" i="1" dirty="0">
                <a:solidFill>
                  <a:srgbClr val="1B1B1B"/>
                </a:solidFill>
                <a:latin typeface="Roboto Mono"/>
                <a:sym typeface="Roboto Mono"/>
              </a:rPr>
              <a:t>		</a:t>
            </a:r>
            <a:r>
              <a:rPr lang="pt-BR" i="1" dirty="0" err="1">
                <a:solidFill>
                  <a:srgbClr val="1B1B1B"/>
                </a:solidFill>
                <a:latin typeface="Roboto Mono"/>
                <a:sym typeface="Roboto Mono"/>
              </a:rPr>
              <a:t>cobertura.quartos</a:t>
            </a:r>
            <a:r>
              <a:rPr lang="pt-BR" i="1" dirty="0">
                <a:solidFill>
                  <a:srgbClr val="1B1B1B"/>
                </a:solidFill>
                <a:latin typeface="Roboto Mono"/>
                <a:sym typeface="Roboto Mono"/>
              </a:rPr>
              <a:t> = 4;</a:t>
            </a:r>
          </a:p>
          <a:p>
            <a:pPr marL="152396">
              <a:buSzPts val="1800"/>
            </a:pPr>
            <a:r>
              <a:rPr lang="pt-BR" i="1" dirty="0">
                <a:solidFill>
                  <a:srgbClr val="1B1B1B"/>
                </a:solidFill>
                <a:latin typeface="Roboto Mono"/>
                <a:sym typeface="Roboto Mono"/>
              </a:rPr>
              <a:t>		</a:t>
            </a:r>
            <a:r>
              <a:rPr lang="pt-BR" i="1" dirty="0" err="1">
                <a:solidFill>
                  <a:srgbClr val="1B1B1B"/>
                </a:solidFill>
                <a:latin typeface="Roboto Mono"/>
                <a:sym typeface="Roboto Mono"/>
              </a:rPr>
              <a:t>cobertura.andar</a:t>
            </a:r>
            <a:r>
              <a:rPr lang="pt-BR" i="1" dirty="0">
                <a:solidFill>
                  <a:srgbClr val="1B1B1B"/>
                </a:solidFill>
                <a:latin typeface="Roboto Mono"/>
                <a:sym typeface="Roboto Mono"/>
              </a:rPr>
              <a:t> = 12;</a:t>
            </a:r>
          </a:p>
          <a:p>
            <a:pPr marL="152396">
              <a:buSzPts val="1800"/>
            </a:pPr>
            <a:r>
              <a:rPr lang="pt-BR" i="1" dirty="0">
                <a:solidFill>
                  <a:srgbClr val="1B1B1B"/>
                </a:solidFill>
                <a:latin typeface="Roboto Mono"/>
                <a:sym typeface="Roboto Mono"/>
              </a:rPr>
              <a:t>		</a:t>
            </a:r>
            <a:r>
              <a:rPr lang="pt-BR" i="1" dirty="0" err="1">
                <a:solidFill>
                  <a:srgbClr val="1B1B1B"/>
                </a:solidFill>
                <a:latin typeface="Roboto Mono"/>
                <a:sym typeface="Roboto Mono"/>
              </a:rPr>
              <a:t>cobertura.closet</a:t>
            </a:r>
            <a:r>
              <a:rPr lang="pt-BR" i="1" dirty="0">
                <a:solidFill>
                  <a:srgbClr val="1B1B1B"/>
                </a:solidFill>
                <a:latin typeface="Roboto Mono"/>
                <a:sym typeface="Roboto Mono"/>
              </a:rPr>
              <a:t> = </a:t>
            </a:r>
            <a:r>
              <a:rPr lang="pt-BR" i="1" dirty="0" err="1">
                <a:solidFill>
                  <a:srgbClr val="1B1B1B"/>
                </a:solidFill>
                <a:latin typeface="Roboto Mono"/>
                <a:sym typeface="Roboto Mono"/>
              </a:rPr>
              <a:t>true</a:t>
            </a:r>
            <a:endParaRPr lang="pt-BR" i="1" dirty="0">
              <a:solidFill>
                <a:srgbClr val="1B1B1B"/>
              </a:solidFill>
              <a:latin typeface="Roboto Mono"/>
              <a:sym typeface="Roboto Mono"/>
            </a:endParaRPr>
          </a:p>
        </p:txBody>
      </p:sp>
    </p:spTree>
    <p:extLst>
      <p:ext uri="{BB962C8B-B14F-4D97-AF65-F5344CB8AC3E}">
        <p14:creationId xmlns:p14="http://schemas.microsoft.com/office/powerpoint/2010/main" val="41875754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/>
          <p:nvPr/>
        </p:nvSpPr>
        <p:spPr>
          <a:xfrm>
            <a:off x="0" y="905740"/>
            <a:ext cx="12191999" cy="15042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/>
            <a:r>
              <a:rPr lang="pt-BR" sz="5400" dirty="0">
                <a:solidFill>
                  <a:srgbClr val="D6BA32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Trabalhando com objetos</a:t>
            </a:r>
          </a:p>
          <a:p>
            <a:pPr algn="ctr"/>
            <a:r>
              <a:rPr lang="pt-BR" sz="3600" dirty="0">
                <a:solidFill>
                  <a:srgbClr val="FFDA3E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Métodos - resumo</a:t>
            </a:r>
          </a:p>
          <a:p>
            <a:pPr algn="ctr"/>
            <a:endParaRPr lang="pt-BR" sz="3600" dirty="0">
              <a:solidFill>
                <a:srgbClr val="FFDA3E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  <a:p>
            <a:pPr algn="ctr"/>
            <a:endParaRPr lang="pt-BR" sz="3600" dirty="0">
              <a:solidFill>
                <a:srgbClr val="FFDA3E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sp>
        <p:nvSpPr>
          <p:cNvPr id="6" name="Google Shape;62;p14">
            <a:extLst>
              <a:ext uri="{FF2B5EF4-FFF2-40B4-BE49-F238E27FC236}">
                <a16:creationId xmlns:a16="http://schemas.microsoft.com/office/drawing/2014/main" id="{9CADA192-C9A8-B9C0-227F-815B950732DA}"/>
              </a:ext>
            </a:extLst>
          </p:cNvPr>
          <p:cNvSpPr txBox="1"/>
          <p:nvPr/>
        </p:nvSpPr>
        <p:spPr>
          <a:xfrm>
            <a:off x="731622" y="214261"/>
            <a:ext cx="11004402" cy="51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pt-BR" sz="1600" dirty="0">
                <a:solidFill>
                  <a:srgbClr val="D6BA32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Curso Javascript básico – Aula 05 </a:t>
            </a:r>
          </a:p>
          <a:p>
            <a:endParaRPr sz="1600" dirty="0">
              <a:solidFill>
                <a:srgbClr val="1572B6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6CAB4A95-049E-FA42-9A48-687C191F888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112" y="188606"/>
            <a:ext cx="564510" cy="564510"/>
          </a:xfrm>
          <a:prstGeom prst="rect">
            <a:avLst/>
          </a:prstGeom>
        </p:spPr>
      </p:pic>
      <p:graphicFrame>
        <p:nvGraphicFramePr>
          <p:cNvPr id="2" name="Objeto 1">
            <a:extLst>
              <a:ext uri="{FF2B5EF4-FFF2-40B4-BE49-F238E27FC236}">
                <a16:creationId xmlns:a16="http://schemas.microsoft.com/office/drawing/2014/main" id="{47D67BC1-FD5A-6C6B-197C-EAB984453BB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70317219"/>
              </p:ext>
            </p:extLst>
          </p:nvPr>
        </p:nvGraphicFramePr>
        <p:xfrm>
          <a:off x="331788" y="2500313"/>
          <a:ext cx="11528425" cy="4221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4" imgW="11529095" imgH="4221276" progId="Excel.Sheet.12">
                  <p:embed/>
                </p:oleObj>
              </mc:Choice>
              <mc:Fallback>
                <p:oleObj name="Worksheet" r:id="rId4" imgW="11529095" imgH="4221276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31788" y="2500313"/>
                        <a:ext cx="11528425" cy="42211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75403035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6026</TotalTime>
  <Words>1003</Words>
  <Application>Microsoft Office PowerPoint</Application>
  <PresentationFormat>Widescreen</PresentationFormat>
  <Paragraphs>118</Paragraphs>
  <Slides>10</Slides>
  <Notes>10</Notes>
  <HiddenSlides>0</HiddenSlides>
  <MMClips>0</MMClips>
  <ScaleCrop>false</ScaleCrop>
  <HeadingPairs>
    <vt:vector size="8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Servidores OLE inseridos</vt:lpstr>
      </vt:variant>
      <vt:variant>
        <vt:i4>1</vt:i4>
      </vt:variant>
      <vt:variant>
        <vt:lpstr>Títulos de slides</vt:lpstr>
      </vt:variant>
      <vt:variant>
        <vt:i4>10</vt:i4>
      </vt:variant>
    </vt:vector>
  </HeadingPairs>
  <TitlesOfParts>
    <vt:vector size="17" baseType="lpstr">
      <vt:lpstr>Arial</vt:lpstr>
      <vt:lpstr>Calibri</vt:lpstr>
      <vt:lpstr>Calibri Light</vt:lpstr>
      <vt:lpstr>Roboto Mono</vt:lpstr>
      <vt:lpstr>Roboto Mono Medium</vt:lpstr>
      <vt:lpstr>Tema do Office</vt:lpstr>
      <vt:lpstr>Planilha do Microsoft Excel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João Henrique Cunha Rangel</dc:creator>
  <cp:lastModifiedBy>Marcelo Vieira</cp:lastModifiedBy>
  <cp:revision>63</cp:revision>
  <dcterms:created xsi:type="dcterms:W3CDTF">2018-09-27T21:57:56Z</dcterms:created>
  <dcterms:modified xsi:type="dcterms:W3CDTF">2022-06-26T20:22:12Z</dcterms:modified>
</cp:coreProperties>
</file>