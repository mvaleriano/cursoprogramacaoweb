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1.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769" r:id="rId2"/>
    <p:sldId id="797" r:id="rId3"/>
    <p:sldId id="806" r:id="rId4"/>
    <p:sldId id="807" r:id="rId5"/>
    <p:sldId id="809" r:id="rId6"/>
    <p:sldId id="808" r:id="rId7"/>
    <p:sldId id="825" r:id="rId8"/>
    <p:sldId id="826" r:id="rId9"/>
    <p:sldId id="824" r:id="rId10"/>
    <p:sldId id="815" r:id="rId11"/>
    <p:sldId id="816" r:id="rId12"/>
    <p:sldId id="814" r:id="rId13"/>
    <p:sldId id="817" r:id="rId14"/>
    <p:sldId id="819" r:id="rId15"/>
    <p:sldId id="820" r:id="rId16"/>
    <p:sldId id="821" r:id="rId17"/>
    <p:sldId id="813" r:id="rId18"/>
    <p:sldId id="810" r:id="rId19"/>
    <p:sldId id="812" r:id="rId20"/>
    <p:sldId id="811" r:id="rId21"/>
    <p:sldId id="822" r:id="rId22"/>
    <p:sldId id="823" r:id="rId23"/>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A3E"/>
    <a:srgbClr val="D6BA32"/>
    <a:srgbClr val="F47920"/>
    <a:srgbClr val="1572B6"/>
    <a:srgbClr val="35A8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C8844-F009-45FC-92E0-5330E07D2391}" type="datetimeFigureOut">
              <a:rPr lang="pt-BR" smtClean="0"/>
              <a:t>04/07/2022</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488C18-FEF5-4A10-8A62-F4039403FDD5}" type="slidenum">
              <a:rPr lang="pt-BR" smtClean="0"/>
              <a:t>‹nº›</a:t>
            </a:fld>
            <a:endParaRPr lang="pt-BR"/>
          </a:p>
        </p:txBody>
      </p:sp>
    </p:spTree>
    <p:extLst>
      <p:ext uri="{BB962C8B-B14F-4D97-AF65-F5344CB8AC3E}">
        <p14:creationId xmlns:p14="http://schemas.microsoft.com/office/powerpoint/2010/main" val="289208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61b1306868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61b1306868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4522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510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3544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46716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1527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4763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4989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5077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06127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76855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6681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72935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8596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5493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9753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35582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0131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83443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8184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89854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36118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4359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D7094C45-9102-437E-AE66-F57C174F1152}" type="datetimeFigureOut">
              <a:rPr lang="pt-BR" smtClean="0"/>
              <a:t>04/07/2022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2107349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7094C45-9102-437E-AE66-F57C174F1152}" type="datetimeFigureOut">
              <a:rPr lang="pt-BR" smtClean="0"/>
              <a:t>04/07/2022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4098692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D7094C45-9102-437E-AE66-F57C174F1152}" type="datetimeFigureOut">
              <a:rPr lang="pt-BR" smtClean="0"/>
              <a:t>04/07/2022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1269879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838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72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D7094C45-9102-437E-AE66-F57C174F1152}" type="datetimeFigureOut">
              <a:rPr lang="pt-BR" smtClean="0"/>
              <a:t>04/07/2022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604696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D7094C45-9102-437E-AE66-F57C174F1152}" type="datetimeFigureOut">
              <a:rPr lang="pt-BR" smtClean="0"/>
              <a:t>04/07/2022</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1721016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D7094C45-9102-437E-AE66-F57C174F1152}" type="datetimeFigureOut">
              <a:rPr lang="pt-BR" smtClean="0"/>
              <a:t>04/07/2022</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521920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D7094C45-9102-437E-AE66-F57C174F1152}" type="datetimeFigureOut">
              <a:rPr lang="pt-BR" smtClean="0"/>
              <a:t>04/07/2022</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241555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D7094C45-9102-437E-AE66-F57C174F1152}" type="datetimeFigureOut">
              <a:rPr lang="pt-BR" smtClean="0"/>
              <a:t>04/07/2022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408335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D7094C45-9102-437E-AE66-F57C174F1152}" type="datetimeFigureOut">
              <a:rPr lang="pt-BR" smtClean="0"/>
              <a:t>04/07/2022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825923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7094C45-9102-437E-AE66-F57C174F1152}" type="datetimeFigureOut">
              <a:rPr lang="pt-BR" smtClean="0"/>
              <a:t>04/07/2022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2964112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7094C45-9102-437E-AE66-F57C174F1152}" type="datetimeFigureOut">
              <a:rPr lang="pt-BR" smtClean="0"/>
              <a:t>04/07/2022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706884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094C45-9102-437E-AE66-F57C174F1152}" type="datetimeFigureOut">
              <a:rPr lang="pt-BR" smtClean="0"/>
              <a:t>04/07/2022</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BBABEC-0FAF-4CB4-8A95-78DD35F8A712}" type="slidenum">
              <a:rPr lang="pt-BR" smtClean="0"/>
              <a:t>‹nº›</a:t>
            </a:fld>
            <a:endParaRPr lang="pt-BR"/>
          </a:p>
        </p:txBody>
      </p:sp>
    </p:spTree>
    <p:extLst>
      <p:ext uri="{BB962C8B-B14F-4D97-AF65-F5344CB8AC3E}">
        <p14:creationId xmlns:p14="http://schemas.microsoft.com/office/powerpoint/2010/main" val="2176365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p13"/>
          <p:cNvSpPr txBox="1"/>
          <p:nvPr/>
        </p:nvSpPr>
        <p:spPr>
          <a:xfrm>
            <a:off x="871017" y="4381269"/>
            <a:ext cx="10450000" cy="1046000"/>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Curso Javascript básico</a:t>
            </a:r>
          </a:p>
          <a:p>
            <a:pPr algn="ctr"/>
            <a:r>
              <a:rPr lang="pt-BR" sz="5600" dirty="0">
                <a:solidFill>
                  <a:srgbClr val="D6BA32"/>
                </a:solidFill>
                <a:latin typeface="Roboto Mono Medium"/>
                <a:ea typeface="Roboto Mono Medium"/>
                <a:cs typeface="Roboto Mono Medium"/>
                <a:sym typeface="Roboto Mono Medium"/>
              </a:rPr>
              <a:t>Aula 07 - </a:t>
            </a:r>
            <a:r>
              <a:rPr lang="pt-BR" sz="3200" dirty="0">
                <a:solidFill>
                  <a:srgbClr val="D6BA32"/>
                </a:solidFill>
                <a:latin typeface="Roboto Mono Medium"/>
                <a:ea typeface="Roboto Mono Medium"/>
                <a:cs typeface="Roboto Mono Medium"/>
                <a:sym typeface="Roboto Mono Medium"/>
              </a:rPr>
              <a:t>Manipulando HTML com </a:t>
            </a:r>
            <a:r>
              <a:rPr lang="pt-BR" sz="3200" dirty="0" err="1">
                <a:solidFill>
                  <a:srgbClr val="D6BA32"/>
                </a:solidFill>
                <a:latin typeface="Roboto Mono Medium"/>
                <a:ea typeface="Roboto Mono Medium"/>
                <a:cs typeface="Roboto Mono Medium"/>
                <a:sym typeface="Roboto Mono Medium"/>
              </a:rPr>
              <a:t>JavaScript</a:t>
            </a:r>
            <a:endParaRPr sz="3200" dirty="0">
              <a:solidFill>
                <a:srgbClr val="264DE3"/>
              </a:solidFill>
              <a:latin typeface="Roboto Mono Medium"/>
              <a:ea typeface="Roboto Mono Medium"/>
              <a:cs typeface="Roboto Mono Medium"/>
              <a:sym typeface="Roboto Mono Medium"/>
            </a:endParaRPr>
          </a:p>
        </p:txBody>
      </p:sp>
      <p:pic>
        <p:nvPicPr>
          <p:cNvPr id="4" name="Imagem 3">
            <a:extLst>
              <a:ext uri="{FF2B5EF4-FFF2-40B4-BE49-F238E27FC236}">
                <a16:creationId xmlns:a16="http://schemas.microsoft.com/office/drawing/2014/main" id="{4C604F82-D39D-A579-B80D-9584FB8013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0496" y="841227"/>
            <a:ext cx="3534212" cy="3534212"/>
          </a:xfrm>
          <a:prstGeom prst="rect">
            <a:avLst/>
          </a:prstGeom>
        </p:spPr>
      </p:pic>
    </p:spTree>
    <p:extLst>
      <p:ext uri="{BB962C8B-B14F-4D97-AF65-F5344CB8AC3E}">
        <p14:creationId xmlns:p14="http://schemas.microsoft.com/office/powerpoint/2010/main" val="3471836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DOM – </a:t>
            </a:r>
            <a:r>
              <a:rPr lang="pt-BR" sz="3600" dirty="0" err="1">
                <a:solidFill>
                  <a:srgbClr val="FFDA3E"/>
                </a:solidFill>
                <a:latin typeface="Roboto Mono Medium"/>
                <a:ea typeface="Roboto Mono Medium"/>
                <a:cs typeface="Roboto Mono Medium"/>
                <a:sym typeface="Roboto Mono Medium"/>
              </a:rPr>
              <a:t>Document</a:t>
            </a:r>
            <a:r>
              <a:rPr lang="pt-BR" sz="3600" dirty="0">
                <a:solidFill>
                  <a:srgbClr val="FFDA3E"/>
                </a:solidFill>
                <a:latin typeface="Roboto Mono Medium"/>
                <a:ea typeface="Roboto Mono Medium"/>
                <a:cs typeface="Roboto Mono Medium"/>
                <a:sym typeface="Roboto Mono Medium"/>
              </a:rPr>
              <a:t> </a:t>
            </a:r>
            <a:r>
              <a:rPr lang="pt-BR" sz="3600" dirty="0" err="1">
                <a:solidFill>
                  <a:srgbClr val="FFDA3E"/>
                </a:solidFill>
                <a:latin typeface="Roboto Mono Medium"/>
                <a:ea typeface="Roboto Mono Medium"/>
                <a:cs typeface="Roboto Mono Medium"/>
                <a:sym typeface="Roboto Mono Medium"/>
              </a:rPr>
              <a:t>Object</a:t>
            </a:r>
            <a:r>
              <a:rPr lang="pt-BR" sz="3600" dirty="0">
                <a:solidFill>
                  <a:srgbClr val="FFDA3E"/>
                </a:solidFill>
                <a:latin typeface="Roboto Mono Medium"/>
                <a:ea typeface="Roboto Mono Medium"/>
                <a:cs typeface="Roboto Mono Medium"/>
                <a:sym typeface="Roboto Mono Medium"/>
              </a:rPr>
              <a:t> Model</a:t>
            </a:r>
          </a:p>
          <a:p>
            <a:pPr algn="ctr"/>
            <a:endParaRPr lang="pt-BR" sz="3600" dirty="0">
              <a:solidFill>
                <a:srgbClr val="FFDA3E"/>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3045204"/>
            <a:ext cx="11727200" cy="3812795"/>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Quando uma página web é carregada, o navegador cria um DOM – </a:t>
            </a:r>
            <a:r>
              <a:rPr lang="pt-BR" sz="2200" dirty="0" err="1">
                <a:solidFill>
                  <a:srgbClr val="1B1B1B"/>
                </a:solidFill>
                <a:latin typeface="Roboto Mono"/>
                <a:sym typeface="Roboto Mono"/>
              </a:rPr>
              <a:t>Document</a:t>
            </a:r>
            <a:r>
              <a:rPr lang="pt-BR" sz="2200" dirty="0">
                <a:solidFill>
                  <a:srgbClr val="1B1B1B"/>
                </a:solidFill>
                <a:latin typeface="Roboto Mono"/>
                <a:sym typeface="Roboto Mono"/>
              </a:rPr>
              <a:t> </a:t>
            </a:r>
            <a:r>
              <a:rPr lang="pt-BR" sz="2200" dirty="0" err="1">
                <a:solidFill>
                  <a:srgbClr val="1B1B1B"/>
                </a:solidFill>
                <a:latin typeface="Roboto Mono"/>
                <a:sym typeface="Roboto Mono"/>
              </a:rPr>
              <a:t>Object</a:t>
            </a:r>
            <a:r>
              <a:rPr lang="pt-BR" sz="2200" dirty="0">
                <a:solidFill>
                  <a:srgbClr val="1B1B1B"/>
                </a:solidFill>
                <a:latin typeface="Roboto Mono"/>
                <a:sym typeface="Roboto Mono"/>
              </a:rPr>
              <a:t> Model, o DOM é um Modelo de Objeto de Documento que permite o acesso e manipulação ao HTML, ou seja, é a representação de dados dos objetos que compõem a estrutura e o conteúdo de um documento na Web. Assim </a:t>
            </a:r>
            <a:r>
              <a:rPr lang="pt-BR" sz="2200" dirty="0" err="1">
                <a:solidFill>
                  <a:srgbClr val="1B1B1B"/>
                </a:solidFill>
                <a:latin typeface="Roboto Mono"/>
                <a:sym typeface="Roboto Mono"/>
              </a:rPr>
              <a:t>JavaScript</a:t>
            </a:r>
            <a:r>
              <a:rPr lang="pt-BR" sz="2200" dirty="0">
                <a:solidFill>
                  <a:srgbClr val="1B1B1B"/>
                </a:solidFill>
                <a:latin typeface="Roboto Mono"/>
                <a:sym typeface="Roboto Mono"/>
              </a:rPr>
              <a:t> pode acessar e alterar todos os elementos de um documento HTML. </a:t>
            </a:r>
            <a:endParaRPr lang="pt-BR" i="1" dirty="0">
              <a:solidFill>
                <a:srgbClr val="1B1B1B"/>
              </a:solidFill>
              <a:latin typeface="Roboto Mono"/>
              <a:sym typeface="Roboto Mono"/>
            </a:endParaRPr>
          </a:p>
        </p:txBody>
      </p:sp>
    </p:spTree>
    <p:extLst>
      <p:ext uri="{BB962C8B-B14F-4D97-AF65-F5344CB8AC3E}">
        <p14:creationId xmlns:p14="http://schemas.microsoft.com/office/powerpoint/2010/main" val="2045171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O que é o DOM?</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3045204"/>
            <a:ext cx="11727200" cy="3812795"/>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O </a:t>
            </a:r>
            <a:r>
              <a:rPr lang="pt-BR" sz="2200" dirty="0" err="1">
                <a:solidFill>
                  <a:srgbClr val="1B1B1B"/>
                </a:solidFill>
                <a:latin typeface="Roboto Mono"/>
                <a:sym typeface="Roboto Mono"/>
              </a:rPr>
              <a:t>Document</a:t>
            </a:r>
            <a:r>
              <a:rPr lang="pt-BR" sz="2200" dirty="0">
                <a:solidFill>
                  <a:srgbClr val="1B1B1B"/>
                </a:solidFill>
                <a:latin typeface="Roboto Mono"/>
                <a:sym typeface="Roboto Mono"/>
              </a:rPr>
              <a:t> </a:t>
            </a:r>
            <a:r>
              <a:rPr lang="pt-BR" sz="2200" dirty="0" err="1">
                <a:solidFill>
                  <a:srgbClr val="1B1B1B"/>
                </a:solidFill>
                <a:latin typeface="Roboto Mono"/>
                <a:sym typeface="Roboto Mono"/>
              </a:rPr>
              <a:t>Object</a:t>
            </a:r>
            <a:r>
              <a:rPr lang="pt-BR" sz="2200" dirty="0">
                <a:solidFill>
                  <a:srgbClr val="1B1B1B"/>
                </a:solidFill>
                <a:latin typeface="Roboto Mono"/>
                <a:sym typeface="Roboto Mono"/>
              </a:rPr>
              <a:t> Model (DOM) é uma interface de programação para os documentos HTML e XML. Representa a página de forma que os programas possam alterar a estrutura do documento, alterar o estilo e conteúdo. O DOM representa o documento com nós e objetos, dessa forma, as linguagens de programação podem se conectar à página.</a:t>
            </a:r>
          </a:p>
          <a:p>
            <a:pPr marL="152396">
              <a:buSzPts val="1800"/>
            </a:pPr>
            <a:r>
              <a:rPr lang="pt-BR" sz="2200" dirty="0">
                <a:solidFill>
                  <a:srgbClr val="1B1B1B"/>
                </a:solidFill>
                <a:latin typeface="Roboto Mono"/>
                <a:sym typeface="Roboto Mono"/>
              </a:rPr>
              <a:t>	Uma página da Web é um documento. Este documento pode ser exibido na janela do navegador ou como a fonte HTML. Mas é o mesmo documento nos dois casos. O DOM (</a:t>
            </a:r>
            <a:r>
              <a:rPr lang="pt-BR" sz="2200" dirty="0" err="1">
                <a:solidFill>
                  <a:srgbClr val="1B1B1B"/>
                </a:solidFill>
                <a:latin typeface="Roboto Mono"/>
                <a:sym typeface="Roboto Mono"/>
              </a:rPr>
              <a:t>Document</a:t>
            </a:r>
            <a:r>
              <a:rPr lang="pt-BR" sz="2200" dirty="0">
                <a:solidFill>
                  <a:srgbClr val="1B1B1B"/>
                </a:solidFill>
                <a:latin typeface="Roboto Mono"/>
                <a:sym typeface="Roboto Mono"/>
              </a:rPr>
              <a:t> </a:t>
            </a:r>
            <a:r>
              <a:rPr lang="pt-BR" sz="2200" dirty="0" err="1">
                <a:solidFill>
                  <a:srgbClr val="1B1B1B"/>
                </a:solidFill>
                <a:latin typeface="Roboto Mono"/>
                <a:sym typeface="Roboto Mono"/>
              </a:rPr>
              <a:t>Object</a:t>
            </a:r>
            <a:r>
              <a:rPr lang="pt-BR" sz="2200" dirty="0">
                <a:solidFill>
                  <a:srgbClr val="1B1B1B"/>
                </a:solidFill>
                <a:latin typeface="Roboto Mono"/>
                <a:sym typeface="Roboto Mono"/>
              </a:rPr>
              <a:t> Model) representa o mesmo documento para que possa ser manipulado. O DOM é uma representação orientada a objetos da página da web, que pode ser modificada com uma linguagem de script como </a:t>
            </a:r>
            <a:r>
              <a:rPr lang="pt-BR" sz="2200" dirty="0" err="1">
                <a:solidFill>
                  <a:srgbClr val="1B1B1B"/>
                </a:solidFill>
                <a:latin typeface="Roboto Mono"/>
                <a:sym typeface="Roboto Mono"/>
              </a:rPr>
              <a:t>JavaScript</a:t>
            </a:r>
            <a:r>
              <a:rPr lang="pt-BR" sz="2200" dirty="0">
                <a:solidFill>
                  <a:srgbClr val="1B1B1B"/>
                </a:solidFill>
                <a:latin typeface="Roboto Mono"/>
                <a:sym typeface="Roboto Mono"/>
              </a:rPr>
              <a:t>.</a:t>
            </a:r>
            <a:endParaRPr lang="pt-BR" i="1" dirty="0">
              <a:solidFill>
                <a:srgbClr val="1B1B1B"/>
              </a:solidFill>
              <a:latin typeface="Roboto Mono"/>
              <a:sym typeface="Roboto Mono"/>
            </a:endParaRPr>
          </a:p>
        </p:txBody>
      </p:sp>
    </p:spTree>
    <p:extLst>
      <p:ext uri="{BB962C8B-B14F-4D97-AF65-F5344CB8AC3E}">
        <p14:creationId xmlns:p14="http://schemas.microsoft.com/office/powerpoint/2010/main" val="2012003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O que é o DOM?</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835480"/>
            <a:ext cx="11727200" cy="4022520"/>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a:t>
            </a:r>
            <a:r>
              <a:rPr lang="pt-BR" sz="2000" dirty="0">
                <a:solidFill>
                  <a:srgbClr val="1B1B1B"/>
                </a:solidFill>
                <a:latin typeface="Roboto Mono"/>
                <a:sym typeface="Roboto Mono"/>
              </a:rPr>
              <a:t>O DOM não é uma linguagem de programação, mas sem ela, a linguagem </a:t>
            </a:r>
            <a:r>
              <a:rPr lang="pt-BR" sz="2000" dirty="0" err="1">
                <a:solidFill>
                  <a:srgbClr val="1B1B1B"/>
                </a:solidFill>
                <a:latin typeface="Roboto Mono"/>
                <a:sym typeface="Roboto Mono"/>
              </a:rPr>
              <a:t>JavaScript</a:t>
            </a:r>
            <a:r>
              <a:rPr lang="pt-BR" sz="2000" dirty="0">
                <a:solidFill>
                  <a:srgbClr val="1B1B1B"/>
                </a:solidFill>
                <a:latin typeface="Roboto Mono"/>
                <a:sym typeface="Roboto Mono"/>
              </a:rPr>
              <a:t> não teria nenhum modelo ou noção de páginas da web, documentos HTML, documentos XML e suas partes componentes (por exemplo, elementos). Cada elemento de um documento - o documento como um todo, o cabeçalho, as tabelas do documento, os cabeçalhos da tabela, o texto nas células da tabela - faz parte do modelo de objeto do documento desse documento, para que todos possam ser acessados e manipulados usando o método DOM e uma linguagem de script como </a:t>
            </a:r>
            <a:r>
              <a:rPr lang="pt-BR" sz="2000" dirty="0" err="1">
                <a:solidFill>
                  <a:srgbClr val="1B1B1B"/>
                </a:solidFill>
                <a:latin typeface="Roboto Mono"/>
                <a:sym typeface="Roboto Mono"/>
              </a:rPr>
              <a:t>JavaScript</a:t>
            </a:r>
            <a:r>
              <a:rPr lang="pt-BR" sz="2000" dirty="0">
                <a:solidFill>
                  <a:srgbClr val="1B1B1B"/>
                </a:solidFill>
                <a:latin typeface="Roboto Mono"/>
                <a:sym typeface="Roboto Mono"/>
              </a:rPr>
              <a:t>.</a:t>
            </a:r>
          </a:p>
          <a:p>
            <a:pPr marL="152396">
              <a:buSzPts val="1800"/>
            </a:pPr>
            <a:r>
              <a:rPr lang="pt-BR" sz="2000" dirty="0">
                <a:solidFill>
                  <a:srgbClr val="1B1B1B"/>
                </a:solidFill>
                <a:latin typeface="Roboto Mono"/>
                <a:sym typeface="Roboto Mono"/>
              </a:rPr>
              <a:t>	O DOM foi projetado para ser independente de qualquer linguagem de programação específica, disponibilizando a representação estrutural do documento a partir de uma única API consistente. Embora nos concentremos exclusivamente no </a:t>
            </a:r>
            <a:r>
              <a:rPr lang="pt-BR" sz="2000" dirty="0" err="1">
                <a:solidFill>
                  <a:srgbClr val="1B1B1B"/>
                </a:solidFill>
                <a:latin typeface="Roboto Mono"/>
                <a:sym typeface="Roboto Mono"/>
              </a:rPr>
              <a:t>JavaScript</a:t>
            </a:r>
            <a:r>
              <a:rPr lang="pt-BR" sz="2000" dirty="0">
                <a:solidFill>
                  <a:srgbClr val="1B1B1B"/>
                </a:solidFill>
                <a:latin typeface="Roboto Mono"/>
                <a:sym typeface="Roboto Mono"/>
              </a:rPr>
              <a:t> nesta documentação de referência, as implementações do DOM podem ser construídas para qualquer idioma.</a:t>
            </a:r>
          </a:p>
        </p:txBody>
      </p:sp>
    </p:spTree>
    <p:extLst>
      <p:ext uri="{BB962C8B-B14F-4D97-AF65-F5344CB8AC3E}">
        <p14:creationId xmlns:p14="http://schemas.microsoft.com/office/powerpoint/2010/main" val="1103611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2" name="Picture 2">
            <a:extLst>
              <a:ext uri="{FF2B5EF4-FFF2-40B4-BE49-F238E27FC236}">
                <a16:creationId xmlns:a16="http://schemas.microsoft.com/office/drawing/2014/main" id="{232E7E0F-1EF2-159B-3B82-F2E895B6DD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324" y="276837"/>
            <a:ext cx="11860552" cy="6367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3813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Tipos de dados fundamentais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3137482"/>
            <a:ext cx="11727200" cy="3720517"/>
          </a:xfrm>
          <a:prstGeom prst="rect">
            <a:avLst/>
          </a:prstGeom>
          <a:noFill/>
          <a:ln>
            <a:noFill/>
          </a:ln>
        </p:spPr>
        <p:txBody>
          <a:bodyPr spcFirstLastPara="1" wrap="square" lIns="121900" tIns="121900" rIns="121900" bIns="121900" anchor="t" anchorCtr="0">
            <a:noAutofit/>
          </a:bodyPr>
          <a:lstStyle/>
          <a:p>
            <a:pPr marL="152396">
              <a:buSzPts val="1800"/>
            </a:pPr>
            <a:r>
              <a:rPr lang="pt-BR" sz="1600" b="1" dirty="0" err="1">
                <a:solidFill>
                  <a:srgbClr val="1B1B1B"/>
                </a:solidFill>
                <a:latin typeface="Roboto Mono"/>
                <a:sym typeface="Roboto Mono"/>
              </a:rPr>
              <a:t>Document</a:t>
            </a:r>
            <a:r>
              <a:rPr lang="pt-BR" sz="1600" dirty="0">
                <a:solidFill>
                  <a:srgbClr val="1B1B1B"/>
                </a:solidFill>
                <a:latin typeface="Roboto Mono"/>
                <a:sym typeface="Roboto Mono"/>
              </a:rPr>
              <a:t>: Quando um membro retorna um objeto do tipo </a:t>
            </a:r>
            <a:r>
              <a:rPr lang="pt-BR" sz="1600" dirty="0" err="1">
                <a:solidFill>
                  <a:srgbClr val="1B1B1B"/>
                </a:solidFill>
                <a:latin typeface="Roboto Mono"/>
                <a:sym typeface="Roboto Mono"/>
              </a:rPr>
              <a:t>document</a:t>
            </a:r>
            <a:r>
              <a:rPr lang="pt-BR" sz="1600" dirty="0">
                <a:solidFill>
                  <a:srgbClr val="1B1B1B"/>
                </a:solidFill>
                <a:latin typeface="Roboto Mono"/>
                <a:sym typeface="Roboto Mono"/>
              </a:rPr>
              <a:t> (por exemplo, a propriedade </a:t>
            </a:r>
            <a:r>
              <a:rPr lang="pt-BR" sz="1600" dirty="0" err="1">
                <a:solidFill>
                  <a:srgbClr val="1B1B1B"/>
                </a:solidFill>
                <a:latin typeface="Roboto Mono"/>
                <a:sym typeface="Roboto Mono"/>
              </a:rPr>
              <a:t>ownerDocument</a:t>
            </a:r>
            <a:r>
              <a:rPr lang="pt-BR" sz="1600" dirty="0">
                <a:solidFill>
                  <a:srgbClr val="1B1B1B"/>
                </a:solidFill>
                <a:latin typeface="Roboto Mono"/>
                <a:sym typeface="Roboto Mono"/>
              </a:rPr>
              <a:t> de um elemento retorna o </a:t>
            </a:r>
            <a:r>
              <a:rPr lang="pt-BR" sz="1600" dirty="0" err="1">
                <a:solidFill>
                  <a:srgbClr val="1B1B1B"/>
                </a:solidFill>
                <a:latin typeface="Roboto Mono"/>
                <a:sym typeface="Roboto Mono"/>
              </a:rPr>
              <a:t>document</a:t>
            </a:r>
            <a:r>
              <a:rPr lang="pt-BR" sz="1600" dirty="0">
                <a:solidFill>
                  <a:srgbClr val="1B1B1B"/>
                </a:solidFill>
                <a:latin typeface="Roboto Mono"/>
                <a:sym typeface="Roboto Mono"/>
              </a:rPr>
              <a:t> ao qual ele pertence),esse objeto é o próprio objeto de  </a:t>
            </a:r>
            <a:r>
              <a:rPr lang="pt-BR" sz="1600" dirty="0" err="1">
                <a:solidFill>
                  <a:srgbClr val="1B1B1B"/>
                </a:solidFill>
                <a:latin typeface="Roboto Mono"/>
                <a:sym typeface="Roboto Mono"/>
              </a:rPr>
              <a:t>document</a:t>
            </a:r>
            <a:r>
              <a:rPr lang="pt-BR" sz="1600" dirty="0">
                <a:solidFill>
                  <a:srgbClr val="1B1B1B"/>
                </a:solidFill>
                <a:latin typeface="Roboto Mono"/>
                <a:sym typeface="Roboto Mono"/>
              </a:rPr>
              <a:t> raiz. </a:t>
            </a:r>
          </a:p>
          <a:p>
            <a:pPr marL="152396">
              <a:buSzPts val="1800"/>
            </a:pPr>
            <a:endParaRPr lang="pt-BR" sz="1600" dirty="0">
              <a:solidFill>
                <a:srgbClr val="1B1B1B"/>
              </a:solidFill>
              <a:latin typeface="Roboto Mono"/>
              <a:sym typeface="Roboto Mono"/>
            </a:endParaRPr>
          </a:p>
          <a:p>
            <a:pPr marL="152396">
              <a:buSzPts val="1800"/>
            </a:pPr>
            <a:r>
              <a:rPr lang="pt-BR" sz="1600" b="1" dirty="0">
                <a:solidFill>
                  <a:srgbClr val="1B1B1B"/>
                </a:solidFill>
                <a:latin typeface="Roboto Mono"/>
                <a:sym typeface="Roboto Mono"/>
              </a:rPr>
              <a:t>Node: </a:t>
            </a:r>
            <a:r>
              <a:rPr lang="pt-BR" sz="1600" dirty="0">
                <a:solidFill>
                  <a:srgbClr val="1B1B1B"/>
                </a:solidFill>
                <a:latin typeface="Roboto Mono"/>
                <a:sym typeface="Roboto Mono"/>
              </a:rPr>
              <a:t>Todo objeto localizado em um documento é um nó de algum tipo. Em um documento HTML, um objeto pode ser um nó de elemento, mas também um nó de texto ou atributo.</a:t>
            </a:r>
          </a:p>
          <a:p>
            <a:pPr marL="152396">
              <a:buSzPts val="1800"/>
            </a:pPr>
            <a:endParaRPr lang="pt-BR" sz="1600" dirty="0">
              <a:solidFill>
                <a:srgbClr val="1B1B1B"/>
              </a:solidFill>
              <a:latin typeface="Roboto Mono"/>
              <a:sym typeface="Roboto Mono"/>
            </a:endParaRPr>
          </a:p>
          <a:p>
            <a:pPr marL="152396">
              <a:buSzPts val="1800"/>
            </a:pPr>
            <a:r>
              <a:rPr lang="pt-BR" sz="1600" b="1" dirty="0" err="1">
                <a:solidFill>
                  <a:srgbClr val="1B1B1B"/>
                </a:solidFill>
                <a:latin typeface="Roboto Mono"/>
                <a:sym typeface="Roboto Mono"/>
              </a:rPr>
              <a:t>Element</a:t>
            </a:r>
            <a:r>
              <a:rPr lang="pt-BR" sz="1600" b="1" dirty="0">
                <a:solidFill>
                  <a:srgbClr val="1B1B1B"/>
                </a:solidFill>
                <a:latin typeface="Roboto Mono"/>
                <a:sym typeface="Roboto Mono"/>
              </a:rPr>
              <a:t>:</a:t>
            </a:r>
            <a:r>
              <a:rPr lang="pt-BR" sz="1600" dirty="0">
                <a:solidFill>
                  <a:srgbClr val="1B1B1B"/>
                </a:solidFill>
                <a:latin typeface="Roboto Mono"/>
                <a:sym typeface="Roboto Mono"/>
              </a:rPr>
              <a:t> O tipo do </a:t>
            </a:r>
            <a:r>
              <a:rPr lang="pt-BR" sz="1600" dirty="0" err="1">
                <a:solidFill>
                  <a:srgbClr val="1B1B1B"/>
                </a:solidFill>
                <a:latin typeface="Roboto Mono"/>
                <a:sym typeface="Roboto Mono"/>
              </a:rPr>
              <a:t>element</a:t>
            </a:r>
            <a:r>
              <a:rPr lang="pt-BR" sz="1600" dirty="0">
                <a:solidFill>
                  <a:srgbClr val="1B1B1B"/>
                </a:solidFill>
                <a:latin typeface="Roboto Mono"/>
                <a:sym typeface="Roboto Mono"/>
              </a:rPr>
              <a:t> é baseado em node. Isso se refere a um elemento ou um nó do tipo </a:t>
            </a:r>
            <a:r>
              <a:rPr lang="pt-BR" sz="1600" dirty="0" err="1">
                <a:solidFill>
                  <a:srgbClr val="1B1B1B"/>
                </a:solidFill>
                <a:latin typeface="Roboto Mono"/>
                <a:sym typeface="Roboto Mono"/>
              </a:rPr>
              <a:t>element</a:t>
            </a:r>
            <a:r>
              <a:rPr lang="pt-BR" sz="1600" dirty="0">
                <a:solidFill>
                  <a:srgbClr val="1B1B1B"/>
                </a:solidFill>
                <a:latin typeface="Roboto Mono"/>
                <a:sym typeface="Roboto Mono"/>
              </a:rPr>
              <a:t> retornado por um membro do DOM API. Ao invés de dizer, por exemplo, que o método </a:t>
            </a:r>
            <a:r>
              <a:rPr lang="pt-BR" sz="1600" dirty="0" err="1">
                <a:solidFill>
                  <a:srgbClr val="1B1B1B"/>
                </a:solidFill>
                <a:latin typeface="Roboto Mono"/>
                <a:sym typeface="Roboto Mono"/>
              </a:rPr>
              <a:t>document.createElement</a:t>
            </a:r>
            <a:r>
              <a:rPr lang="pt-BR" sz="1600" dirty="0">
                <a:solidFill>
                  <a:srgbClr val="1B1B1B"/>
                </a:solidFill>
                <a:latin typeface="Roboto Mono"/>
                <a:sym typeface="Roboto Mono"/>
              </a:rPr>
              <a:t>()  retorna um objeto de referência para um nó, nós apenas dizemos que esse método retorna o </a:t>
            </a:r>
            <a:r>
              <a:rPr lang="pt-BR" sz="1600" dirty="0" err="1">
                <a:solidFill>
                  <a:srgbClr val="1B1B1B"/>
                </a:solidFill>
                <a:latin typeface="Roboto Mono"/>
                <a:sym typeface="Roboto Mono"/>
              </a:rPr>
              <a:t>element</a:t>
            </a:r>
            <a:r>
              <a:rPr lang="pt-BR" sz="1600" dirty="0">
                <a:solidFill>
                  <a:srgbClr val="1B1B1B"/>
                </a:solidFill>
                <a:latin typeface="Roboto Mono"/>
                <a:sym typeface="Roboto Mono"/>
              </a:rPr>
              <a:t> que acabou de ser criado no DOM. Os objetos do </a:t>
            </a:r>
            <a:r>
              <a:rPr lang="pt-BR" sz="1600" dirty="0" err="1">
                <a:solidFill>
                  <a:srgbClr val="1B1B1B"/>
                </a:solidFill>
                <a:latin typeface="Roboto Mono"/>
                <a:sym typeface="Roboto Mono"/>
              </a:rPr>
              <a:t>element</a:t>
            </a:r>
            <a:r>
              <a:rPr lang="pt-BR" sz="1600" dirty="0">
                <a:solidFill>
                  <a:srgbClr val="1B1B1B"/>
                </a:solidFill>
                <a:latin typeface="Roboto Mono"/>
                <a:sym typeface="Roboto Mono"/>
              </a:rPr>
              <a:t>  implementam a interface DOM </a:t>
            </a:r>
            <a:r>
              <a:rPr lang="pt-BR" sz="1600" dirty="0" err="1">
                <a:solidFill>
                  <a:srgbClr val="1B1B1B"/>
                </a:solidFill>
                <a:latin typeface="Roboto Mono"/>
                <a:sym typeface="Roboto Mono"/>
              </a:rPr>
              <a:t>Element</a:t>
            </a:r>
            <a:r>
              <a:rPr lang="pt-BR" sz="1600" dirty="0">
                <a:solidFill>
                  <a:srgbClr val="1B1B1B"/>
                </a:solidFill>
                <a:latin typeface="Roboto Mono"/>
                <a:sym typeface="Roboto Mono"/>
              </a:rPr>
              <a:t> e também a mais básica interface Node, sendo ambas incluídas juntas nessa referência. Em um documento HTML, elementos são ainda mais aprimorados pelas APIs HTML DOM. A interface </a:t>
            </a:r>
            <a:r>
              <a:rPr lang="pt-BR" sz="1600" dirty="0" err="1">
                <a:solidFill>
                  <a:srgbClr val="1B1B1B"/>
                </a:solidFill>
                <a:latin typeface="Roboto Mono"/>
                <a:sym typeface="Roboto Mono"/>
              </a:rPr>
              <a:t>HTMLElement</a:t>
            </a:r>
            <a:r>
              <a:rPr lang="pt-BR" sz="1600" dirty="0">
                <a:solidFill>
                  <a:srgbClr val="1B1B1B"/>
                </a:solidFill>
                <a:latin typeface="Roboto Mono"/>
                <a:sym typeface="Roboto Mono"/>
              </a:rPr>
              <a:t> bem como outras interfaces descrevem capacidades de tipos </a:t>
            </a:r>
            <a:r>
              <a:rPr lang="pt-BR" sz="1600" dirty="0" err="1">
                <a:solidFill>
                  <a:srgbClr val="1B1B1B"/>
                </a:solidFill>
                <a:latin typeface="Roboto Mono"/>
                <a:sym typeface="Roboto Mono"/>
              </a:rPr>
              <a:t>especifícos</a:t>
            </a:r>
            <a:r>
              <a:rPr lang="pt-BR" sz="1600" dirty="0">
                <a:solidFill>
                  <a:srgbClr val="1B1B1B"/>
                </a:solidFill>
                <a:latin typeface="Roboto Mono"/>
                <a:sym typeface="Roboto Mono"/>
              </a:rPr>
              <a:t> de elementos (por </a:t>
            </a:r>
            <a:r>
              <a:rPr lang="pt-BR" sz="1600" dirty="0" err="1">
                <a:solidFill>
                  <a:srgbClr val="1B1B1B"/>
                </a:solidFill>
                <a:latin typeface="Roboto Mono"/>
                <a:sym typeface="Roboto Mono"/>
              </a:rPr>
              <a:t>exemlo</a:t>
            </a:r>
            <a:r>
              <a:rPr lang="pt-BR" sz="1600" dirty="0">
                <a:solidFill>
                  <a:srgbClr val="1B1B1B"/>
                </a:solidFill>
                <a:latin typeface="Roboto Mono"/>
                <a:sym typeface="Roboto Mono"/>
              </a:rPr>
              <a:t>, </a:t>
            </a:r>
            <a:r>
              <a:rPr lang="pt-BR" sz="1600" dirty="0" err="1">
                <a:solidFill>
                  <a:srgbClr val="1B1B1B"/>
                </a:solidFill>
                <a:latin typeface="Roboto Mono"/>
                <a:sym typeface="Roboto Mono"/>
              </a:rPr>
              <a:t>HTMLTableElement</a:t>
            </a:r>
            <a:r>
              <a:rPr lang="pt-BR" sz="1600" dirty="0">
                <a:solidFill>
                  <a:srgbClr val="1B1B1B"/>
                </a:solidFill>
                <a:latin typeface="Roboto Mono"/>
                <a:sym typeface="Roboto Mono"/>
              </a:rPr>
              <a:t> para elementos &lt;</a:t>
            </a:r>
            <a:r>
              <a:rPr lang="pt-BR" sz="1600" dirty="0" err="1">
                <a:solidFill>
                  <a:srgbClr val="1B1B1B"/>
                </a:solidFill>
                <a:latin typeface="Roboto Mono"/>
                <a:sym typeface="Roboto Mono"/>
              </a:rPr>
              <a:t>table</a:t>
            </a:r>
            <a:r>
              <a:rPr lang="pt-BR" sz="1600" dirty="0">
                <a:solidFill>
                  <a:srgbClr val="1B1B1B"/>
                </a:solidFill>
                <a:latin typeface="Roboto Mono"/>
                <a:sym typeface="Roboto Mono"/>
              </a:rPr>
              <a:t>&gt;).</a:t>
            </a:r>
          </a:p>
        </p:txBody>
      </p:sp>
    </p:spTree>
    <p:extLst>
      <p:ext uri="{BB962C8B-B14F-4D97-AF65-F5344CB8AC3E}">
        <p14:creationId xmlns:p14="http://schemas.microsoft.com/office/powerpoint/2010/main" val="127076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Tipos de dados fundamentais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3137482"/>
            <a:ext cx="11727200" cy="3720517"/>
          </a:xfrm>
          <a:prstGeom prst="rect">
            <a:avLst/>
          </a:prstGeom>
          <a:noFill/>
          <a:ln>
            <a:noFill/>
          </a:ln>
        </p:spPr>
        <p:txBody>
          <a:bodyPr spcFirstLastPara="1" wrap="square" lIns="121900" tIns="121900" rIns="121900" bIns="121900" anchor="t" anchorCtr="0">
            <a:noAutofit/>
          </a:bodyPr>
          <a:lstStyle/>
          <a:p>
            <a:pPr marL="152396">
              <a:buSzPts val="1800"/>
            </a:pPr>
            <a:r>
              <a:rPr lang="pt-BR" sz="1600" b="1" dirty="0" err="1">
                <a:solidFill>
                  <a:srgbClr val="1B1B1B"/>
                </a:solidFill>
                <a:latin typeface="Roboto Mono"/>
                <a:sym typeface="Roboto Mono"/>
              </a:rPr>
              <a:t>NodeList</a:t>
            </a:r>
            <a:r>
              <a:rPr lang="pt-BR" sz="1600" dirty="0">
                <a:solidFill>
                  <a:srgbClr val="1B1B1B"/>
                </a:solidFill>
                <a:latin typeface="Roboto Mono"/>
                <a:sym typeface="Roboto Mono"/>
              </a:rPr>
              <a:t>: Uma </a:t>
            </a:r>
            <a:r>
              <a:rPr lang="pt-BR" sz="1600" dirty="0" err="1">
                <a:solidFill>
                  <a:srgbClr val="1B1B1B"/>
                </a:solidFill>
                <a:latin typeface="Roboto Mono"/>
                <a:sym typeface="Roboto Mono"/>
              </a:rPr>
              <a:t>nodeList</a:t>
            </a:r>
            <a:r>
              <a:rPr lang="pt-BR" sz="1600" dirty="0">
                <a:solidFill>
                  <a:srgbClr val="1B1B1B"/>
                </a:solidFill>
                <a:latin typeface="Roboto Mono"/>
                <a:sym typeface="Roboto Mono"/>
              </a:rPr>
              <a:t> é um </a:t>
            </a:r>
            <a:r>
              <a:rPr lang="pt-BR" sz="1600" dirty="0" err="1">
                <a:solidFill>
                  <a:srgbClr val="1B1B1B"/>
                </a:solidFill>
                <a:latin typeface="Roboto Mono"/>
                <a:sym typeface="Roboto Mono"/>
              </a:rPr>
              <a:t>array</a:t>
            </a:r>
            <a:r>
              <a:rPr lang="pt-BR" sz="1600" dirty="0">
                <a:solidFill>
                  <a:srgbClr val="1B1B1B"/>
                </a:solidFill>
                <a:latin typeface="Roboto Mono"/>
                <a:sym typeface="Roboto Mono"/>
              </a:rPr>
              <a:t> de elementos </a:t>
            </a:r>
            <a:r>
              <a:rPr lang="pt-BR" sz="1600" dirty="0" err="1">
                <a:solidFill>
                  <a:srgbClr val="1B1B1B"/>
                </a:solidFill>
                <a:latin typeface="Roboto Mono"/>
                <a:sym typeface="Roboto Mono"/>
              </a:rPr>
              <a:t>comos</a:t>
            </a:r>
            <a:r>
              <a:rPr lang="pt-BR" sz="1600" dirty="0">
                <a:solidFill>
                  <a:srgbClr val="1B1B1B"/>
                </a:solidFill>
                <a:latin typeface="Roboto Mono"/>
                <a:sym typeface="Roboto Mono"/>
              </a:rPr>
              <a:t> os que são retornados pelo método </a:t>
            </a:r>
            <a:r>
              <a:rPr lang="pt-BR" sz="1600" dirty="0" err="1">
                <a:solidFill>
                  <a:srgbClr val="1B1B1B"/>
                </a:solidFill>
                <a:latin typeface="Roboto Mono"/>
                <a:sym typeface="Roboto Mono"/>
              </a:rPr>
              <a:t>document.getElementsByTagName</a:t>
            </a:r>
            <a:r>
              <a:rPr lang="pt-BR" sz="1600" dirty="0">
                <a:solidFill>
                  <a:srgbClr val="1B1B1B"/>
                </a:solidFill>
                <a:latin typeface="Roboto Mono"/>
                <a:sym typeface="Roboto Mono"/>
              </a:rPr>
              <a:t>(). Itens numa </a:t>
            </a:r>
            <a:r>
              <a:rPr lang="pt-BR" sz="1600" dirty="0" err="1">
                <a:solidFill>
                  <a:srgbClr val="1B1B1B"/>
                </a:solidFill>
                <a:latin typeface="Roboto Mono"/>
                <a:sym typeface="Roboto Mono"/>
              </a:rPr>
              <a:t>nodeList</a:t>
            </a:r>
            <a:r>
              <a:rPr lang="pt-BR" sz="1600" dirty="0">
                <a:solidFill>
                  <a:srgbClr val="1B1B1B"/>
                </a:solidFill>
                <a:latin typeface="Roboto Mono"/>
                <a:sym typeface="Roboto Mono"/>
              </a:rPr>
              <a:t> são acessados por índices em uma das duas formas:</a:t>
            </a:r>
          </a:p>
          <a:p>
            <a:pPr marL="895346" lvl="1" indent="-285750">
              <a:buSzPts val="1800"/>
              <a:buFont typeface="Arial" panose="020B0604020202020204" pitchFamily="34" charset="0"/>
              <a:buChar char="•"/>
            </a:pPr>
            <a:r>
              <a:rPr lang="pt-BR" sz="1600" dirty="0" err="1">
                <a:solidFill>
                  <a:srgbClr val="1B1B1B"/>
                </a:solidFill>
                <a:latin typeface="Roboto Mono"/>
                <a:sym typeface="Roboto Mono"/>
              </a:rPr>
              <a:t>list.item</a:t>
            </a:r>
            <a:r>
              <a:rPr lang="pt-BR" sz="1600" dirty="0">
                <a:solidFill>
                  <a:srgbClr val="1B1B1B"/>
                </a:solidFill>
                <a:latin typeface="Roboto Mono"/>
                <a:sym typeface="Roboto Mono"/>
              </a:rPr>
              <a:t>(1)</a:t>
            </a:r>
          </a:p>
          <a:p>
            <a:pPr marL="895346" lvl="1" indent="-285750">
              <a:buSzPts val="1800"/>
              <a:buFont typeface="Arial" panose="020B0604020202020204" pitchFamily="34" charset="0"/>
              <a:buChar char="•"/>
            </a:pPr>
            <a:r>
              <a:rPr lang="pt-BR" sz="1600" dirty="0" err="1">
                <a:solidFill>
                  <a:srgbClr val="1B1B1B"/>
                </a:solidFill>
                <a:latin typeface="Roboto Mono"/>
                <a:sym typeface="Roboto Mono"/>
              </a:rPr>
              <a:t>list</a:t>
            </a:r>
            <a:r>
              <a:rPr lang="pt-BR" sz="1600" dirty="0">
                <a:solidFill>
                  <a:srgbClr val="1B1B1B"/>
                </a:solidFill>
                <a:latin typeface="Roboto Mono"/>
                <a:sym typeface="Roboto Mono"/>
              </a:rPr>
              <a:t>[1]</a:t>
            </a:r>
          </a:p>
          <a:p>
            <a:pPr marL="152396">
              <a:buSzPts val="1800"/>
            </a:pPr>
            <a:r>
              <a:rPr lang="pt-BR" sz="1600" dirty="0">
                <a:solidFill>
                  <a:srgbClr val="1B1B1B"/>
                </a:solidFill>
                <a:latin typeface="Roboto Mono"/>
                <a:sym typeface="Roboto Mono"/>
              </a:rPr>
              <a:t>Esses dois são equivalentes. No primeiro, </a:t>
            </a:r>
            <a:r>
              <a:rPr lang="pt-BR" sz="1600" b="1" dirty="0">
                <a:solidFill>
                  <a:srgbClr val="1B1B1B"/>
                </a:solidFill>
                <a:latin typeface="Roboto Mono"/>
                <a:sym typeface="Roboto Mono"/>
              </a:rPr>
              <a:t>item() </a:t>
            </a:r>
            <a:r>
              <a:rPr lang="pt-BR" sz="1600" dirty="0">
                <a:solidFill>
                  <a:srgbClr val="1B1B1B"/>
                </a:solidFill>
                <a:latin typeface="Roboto Mono"/>
                <a:sym typeface="Roboto Mono"/>
              </a:rPr>
              <a:t>é o método único no objeto da </a:t>
            </a:r>
            <a:r>
              <a:rPr lang="pt-BR" sz="1600" dirty="0" err="1">
                <a:solidFill>
                  <a:srgbClr val="1B1B1B"/>
                </a:solidFill>
                <a:latin typeface="Roboto Mono"/>
                <a:sym typeface="Roboto Mono"/>
              </a:rPr>
              <a:t>nodeList</a:t>
            </a:r>
            <a:r>
              <a:rPr lang="pt-BR" sz="1600" dirty="0">
                <a:solidFill>
                  <a:srgbClr val="1B1B1B"/>
                </a:solidFill>
                <a:latin typeface="Roboto Mono"/>
                <a:sym typeface="Roboto Mono"/>
              </a:rPr>
              <a:t>. O último  usa uma sintaxe típica de </a:t>
            </a:r>
            <a:r>
              <a:rPr lang="pt-BR" sz="1600" dirty="0" err="1">
                <a:solidFill>
                  <a:srgbClr val="1B1B1B"/>
                </a:solidFill>
                <a:latin typeface="Roboto Mono"/>
                <a:sym typeface="Roboto Mono"/>
              </a:rPr>
              <a:t>array</a:t>
            </a:r>
            <a:r>
              <a:rPr lang="pt-BR" sz="1600" dirty="0">
                <a:solidFill>
                  <a:srgbClr val="1B1B1B"/>
                </a:solidFill>
                <a:latin typeface="Roboto Mono"/>
                <a:sym typeface="Roboto Mono"/>
              </a:rPr>
              <a:t> para buscar o segundo item na lista.</a:t>
            </a:r>
          </a:p>
          <a:p>
            <a:pPr marL="152396">
              <a:buSzPts val="1800"/>
            </a:pPr>
            <a:endParaRPr lang="pt-BR" sz="1600" dirty="0">
              <a:solidFill>
                <a:srgbClr val="1B1B1B"/>
              </a:solidFill>
              <a:latin typeface="Roboto Mono"/>
              <a:sym typeface="Roboto Mono"/>
            </a:endParaRPr>
          </a:p>
          <a:p>
            <a:pPr marL="152396">
              <a:buSzPts val="1800"/>
            </a:pPr>
            <a:r>
              <a:rPr lang="pt-BR" sz="1600" b="1" dirty="0" err="1">
                <a:solidFill>
                  <a:srgbClr val="1B1B1B"/>
                </a:solidFill>
                <a:latin typeface="Roboto Mono"/>
                <a:sym typeface="Roboto Mono"/>
              </a:rPr>
              <a:t>Attribute</a:t>
            </a:r>
            <a:r>
              <a:rPr lang="pt-BR" sz="1600" b="1" dirty="0">
                <a:solidFill>
                  <a:srgbClr val="1B1B1B"/>
                </a:solidFill>
                <a:latin typeface="Roboto Mono"/>
                <a:sym typeface="Roboto Mono"/>
              </a:rPr>
              <a:t>: </a:t>
            </a:r>
            <a:r>
              <a:rPr lang="pt-BR" sz="1600" dirty="0">
                <a:solidFill>
                  <a:srgbClr val="1B1B1B"/>
                </a:solidFill>
                <a:latin typeface="Roboto Mono"/>
                <a:sym typeface="Roboto Mono"/>
              </a:rPr>
              <a:t>Quando um </a:t>
            </a:r>
            <a:r>
              <a:rPr lang="pt-BR" sz="1600" dirty="0" err="1">
                <a:solidFill>
                  <a:srgbClr val="1B1B1B"/>
                </a:solidFill>
                <a:latin typeface="Roboto Mono"/>
                <a:sym typeface="Roboto Mono"/>
              </a:rPr>
              <a:t>attribute</a:t>
            </a:r>
            <a:r>
              <a:rPr lang="pt-BR" sz="1600" dirty="0">
                <a:solidFill>
                  <a:srgbClr val="1B1B1B"/>
                </a:solidFill>
                <a:latin typeface="Roboto Mono"/>
                <a:sym typeface="Roboto Mono"/>
              </a:rPr>
              <a:t> é retornado por um membro (por exemplo, pelo método </a:t>
            </a:r>
            <a:r>
              <a:rPr lang="pt-BR" sz="1600" dirty="0" err="1">
                <a:solidFill>
                  <a:srgbClr val="1B1B1B"/>
                </a:solidFill>
                <a:latin typeface="Roboto Mono"/>
                <a:sym typeface="Roboto Mono"/>
              </a:rPr>
              <a:t>createAttribute</a:t>
            </a:r>
            <a:r>
              <a:rPr lang="pt-BR" sz="1600" dirty="0">
                <a:solidFill>
                  <a:srgbClr val="1B1B1B"/>
                </a:solidFill>
                <a:latin typeface="Roboto Mono"/>
                <a:sym typeface="Roboto Mono"/>
              </a:rPr>
              <a:t>()), é um objeto de referência que expõe uma interface especial (embora pequena) para atributos. Atributos são nós no DOM bem como elementos, mesmo que raramente você possa usá-los como tal.</a:t>
            </a:r>
          </a:p>
        </p:txBody>
      </p:sp>
    </p:spTree>
    <p:extLst>
      <p:ext uri="{BB962C8B-B14F-4D97-AF65-F5344CB8AC3E}">
        <p14:creationId xmlns:p14="http://schemas.microsoft.com/office/powerpoint/2010/main" val="62978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Tipos de dados fundamentais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3137482"/>
            <a:ext cx="11727200" cy="3720517"/>
          </a:xfrm>
          <a:prstGeom prst="rect">
            <a:avLst/>
          </a:prstGeom>
          <a:noFill/>
          <a:ln>
            <a:noFill/>
          </a:ln>
        </p:spPr>
        <p:txBody>
          <a:bodyPr spcFirstLastPara="1" wrap="square" lIns="121900" tIns="121900" rIns="121900" bIns="121900" anchor="t" anchorCtr="0">
            <a:noAutofit/>
          </a:bodyPr>
          <a:lstStyle/>
          <a:p>
            <a:pPr marL="152396">
              <a:buSzPts val="1800"/>
            </a:pPr>
            <a:r>
              <a:rPr lang="pt-BR" sz="1600" b="1" dirty="0" err="1">
                <a:solidFill>
                  <a:srgbClr val="1B1B1B"/>
                </a:solidFill>
                <a:latin typeface="Roboto Mono"/>
                <a:sym typeface="Roboto Mono"/>
              </a:rPr>
              <a:t>NamedNodeMap</a:t>
            </a:r>
            <a:r>
              <a:rPr lang="pt-BR" sz="1600" dirty="0">
                <a:solidFill>
                  <a:srgbClr val="1B1B1B"/>
                </a:solidFill>
                <a:latin typeface="Roboto Mono"/>
                <a:sym typeface="Roboto Mono"/>
              </a:rPr>
              <a:t>:  é como um </a:t>
            </a:r>
            <a:r>
              <a:rPr lang="pt-BR" sz="1600" dirty="0" err="1">
                <a:solidFill>
                  <a:srgbClr val="1B1B1B"/>
                </a:solidFill>
                <a:latin typeface="Roboto Mono"/>
                <a:sym typeface="Roboto Mono"/>
              </a:rPr>
              <a:t>array</a:t>
            </a:r>
            <a:r>
              <a:rPr lang="pt-BR" sz="1600" dirty="0">
                <a:solidFill>
                  <a:srgbClr val="1B1B1B"/>
                </a:solidFill>
                <a:latin typeface="Roboto Mono"/>
                <a:sym typeface="Roboto Mono"/>
              </a:rPr>
              <a:t>, mas os itens são acessados por nome ou índice, embora este último caso seja meramente uma conveniência para enumeração, já que eles não estão em uma ordem específica na lista. Um </a:t>
            </a:r>
            <a:r>
              <a:rPr lang="pt-BR" sz="1600" dirty="0" err="1">
                <a:solidFill>
                  <a:srgbClr val="1B1B1B"/>
                </a:solidFill>
                <a:latin typeface="Roboto Mono"/>
                <a:sym typeface="Roboto Mono"/>
              </a:rPr>
              <a:t>namedNodeMap</a:t>
            </a:r>
            <a:r>
              <a:rPr lang="pt-BR" sz="1600" dirty="0">
                <a:solidFill>
                  <a:srgbClr val="1B1B1B"/>
                </a:solidFill>
                <a:latin typeface="Roboto Mono"/>
                <a:sym typeface="Roboto Mono"/>
              </a:rPr>
              <a:t> possui um método item () para esse propósito, e você também pode adicionar e remover itens de um </a:t>
            </a:r>
            <a:r>
              <a:rPr lang="pt-BR" sz="1600" dirty="0" err="1">
                <a:solidFill>
                  <a:srgbClr val="1B1B1B"/>
                </a:solidFill>
                <a:latin typeface="Roboto Mono"/>
                <a:sym typeface="Roboto Mono"/>
              </a:rPr>
              <a:t>namedNodeMap</a:t>
            </a:r>
            <a:r>
              <a:rPr lang="pt-BR" sz="1600" dirty="0">
                <a:solidFill>
                  <a:srgbClr val="1B1B1B"/>
                </a:solidFill>
                <a:latin typeface="Roboto Mono"/>
                <a:sym typeface="Roboto Mono"/>
              </a:rPr>
              <a:t>.</a:t>
            </a:r>
          </a:p>
          <a:p>
            <a:pPr marL="152396">
              <a:buSzPts val="1800"/>
            </a:pPr>
            <a:endParaRPr lang="pt-BR" sz="1600" dirty="0">
              <a:solidFill>
                <a:srgbClr val="1B1B1B"/>
              </a:solidFill>
              <a:latin typeface="Roboto Mono"/>
              <a:sym typeface="Roboto Mono"/>
            </a:endParaRPr>
          </a:p>
          <a:p>
            <a:pPr marL="152396">
              <a:buSzPts val="1800"/>
            </a:pPr>
            <a:r>
              <a:rPr lang="pt-BR" sz="1600" dirty="0">
                <a:solidFill>
                  <a:srgbClr val="1B1B1B"/>
                </a:solidFill>
                <a:latin typeface="Roboto Mono"/>
                <a:sym typeface="Roboto Mono"/>
              </a:rPr>
              <a:t>Um </a:t>
            </a:r>
            <a:r>
              <a:rPr lang="pt-BR" sz="1600" dirty="0" err="1">
                <a:solidFill>
                  <a:srgbClr val="1B1B1B"/>
                </a:solidFill>
                <a:latin typeface="Roboto Mono"/>
                <a:sym typeface="Roboto Mono"/>
              </a:rPr>
              <a:t>namedNodeMap</a:t>
            </a:r>
            <a:r>
              <a:rPr lang="pt-BR" sz="1600" dirty="0">
                <a:solidFill>
                  <a:srgbClr val="1B1B1B"/>
                </a:solidFill>
                <a:latin typeface="Roboto Mono"/>
                <a:sym typeface="Roboto Mono"/>
              </a:rPr>
              <a:t> é como um </a:t>
            </a:r>
            <a:r>
              <a:rPr lang="pt-BR" sz="1600" dirty="0" err="1">
                <a:solidFill>
                  <a:srgbClr val="1B1B1B"/>
                </a:solidFill>
                <a:latin typeface="Roboto Mono"/>
                <a:sym typeface="Roboto Mono"/>
              </a:rPr>
              <a:t>array</a:t>
            </a:r>
            <a:r>
              <a:rPr lang="pt-BR" sz="1600" dirty="0">
                <a:solidFill>
                  <a:srgbClr val="1B1B1B"/>
                </a:solidFill>
                <a:latin typeface="Roboto Mono"/>
                <a:sym typeface="Roboto Mono"/>
              </a:rPr>
              <a:t>, mas os itens são acessados por nome ou índice, embora este último caso seja meramente uma conveniência para enumeração, já que eles não estão em uma ordem específica na lista. O </a:t>
            </a:r>
            <a:r>
              <a:rPr lang="pt-BR" sz="1600" dirty="0" err="1">
                <a:solidFill>
                  <a:srgbClr val="1B1B1B"/>
                </a:solidFill>
                <a:latin typeface="Roboto Mono"/>
                <a:sym typeface="Roboto Mono"/>
              </a:rPr>
              <a:t>namedNodeMap</a:t>
            </a:r>
            <a:r>
              <a:rPr lang="pt-BR" sz="1600" dirty="0">
                <a:solidFill>
                  <a:srgbClr val="1B1B1B"/>
                </a:solidFill>
                <a:latin typeface="Roboto Mono"/>
                <a:sym typeface="Roboto Mono"/>
              </a:rPr>
              <a:t> possui um método item() para esse propósito, e você também pode adicionar e remover itens de um </a:t>
            </a:r>
            <a:r>
              <a:rPr lang="pt-BR" sz="1600" dirty="0" err="1">
                <a:solidFill>
                  <a:srgbClr val="1B1B1B"/>
                </a:solidFill>
                <a:latin typeface="Roboto Mono"/>
                <a:sym typeface="Roboto Mono"/>
              </a:rPr>
              <a:t>namedNodeMap</a:t>
            </a:r>
            <a:r>
              <a:rPr lang="pt-BR" sz="1600" dirty="0">
                <a:solidFill>
                  <a:srgbClr val="1B1B1B"/>
                </a:solidFill>
                <a:latin typeface="Roboto Mono"/>
                <a:sym typeface="Roboto Mono"/>
              </a:rPr>
              <a:t>.</a:t>
            </a:r>
          </a:p>
        </p:txBody>
      </p:sp>
    </p:spTree>
    <p:extLst>
      <p:ext uri="{BB962C8B-B14F-4D97-AF65-F5344CB8AC3E}">
        <p14:creationId xmlns:p14="http://schemas.microsoft.com/office/powerpoint/2010/main" val="3829123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err="1">
                <a:solidFill>
                  <a:srgbClr val="FFDA3E"/>
                </a:solidFill>
                <a:latin typeface="Roboto Mono Medium"/>
                <a:ea typeface="Roboto Mono Medium"/>
                <a:cs typeface="Roboto Mono Medium"/>
                <a:sym typeface="Roboto Mono Medium"/>
              </a:rPr>
              <a:t>HTMLCollection</a:t>
            </a:r>
            <a:r>
              <a:rPr lang="pt-BR" sz="3600" dirty="0">
                <a:solidFill>
                  <a:srgbClr val="FFDA3E"/>
                </a:solidFill>
                <a:latin typeface="Roboto Mono Medium"/>
                <a:ea typeface="Roboto Mono Medium"/>
                <a:cs typeface="Roboto Mono Medium"/>
                <a:sym typeface="Roboto Mono Medium"/>
              </a:rPr>
              <a:t> e </a:t>
            </a:r>
            <a:r>
              <a:rPr lang="pt-BR" sz="3600" dirty="0" err="1">
                <a:solidFill>
                  <a:srgbClr val="FFDA3E"/>
                </a:solidFill>
                <a:latin typeface="Roboto Mono Medium"/>
                <a:ea typeface="Roboto Mono Medium"/>
                <a:cs typeface="Roboto Mono Medium"/>
                <a:sym typeface="Roboto Mono Medium"/>
              </a:rPr>
              <a:t>NodeList</a:t>
            </a:r>
            <a:endParaRPr lang="pt-BR" sz="3600" dirty="0">
              <a:solidFill>
                <a:srgbClr val="FFDA3E"/>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3137482"/>
            <a:ext cx="11727200" cy="3720517"/>
          </a:xfrm>
          <a:prstGeom prst="rect">
            <a:avLst/>
          </a:prstGeom>
          <a:noFill/>
          <a:ln>
            <a:noFill/>
          </a:ln>
        </p:spPr>
        <p:txBody>
          <a:bodyPr spcFirstLastPara="1" wrap="square" lIns="121900" tIns="121900" rIns="121900" bIns="121900" anchor="t" anchorCtr="0">
            <a:noAutofit/>
          </a:bodyPr>
          <a:lstStyle/>
          <a:p>
            <a:pPr marL="152396">
              <a:buSzPts val="1800"/>
            </a:pPr>
            <a:r>
              <a:rPr lang="pt-BR" sz="2200" b="1" dirty="0" err="1">
                <a:solidFill>
                  <a:srgbClr val="1B1B1B"/>
                </a:solidFill>
                <a:latin typeface="Roboto Mono"/>
                <a:sym typeface="Roboto Mono"/>
              </a:rPr>
              <a:t>HTMLCollection</a:t>
            </a:r>
            <a:endParaRPr lang="pt-BR" sz="2200" b="1" dirty="0">
              <a:solidFill>
                <a:srgbClr val="1B1B1B"/>
              </a:solidFill>
              <a:latin typeface="Roboto Mono"/>
              <a:sym typeface="Roboto Mono"/>
            </a:endParaRPr>
          </a:p>
          <a:p>
            <a:pPr marL="152396">
              <a:buSzPts val="1800"/>
            </a:pPr>
            <a:r>
              <a:rPr lang="pt-BR" sz="2200" dirty="0">
                <a:solidFill>
                  <a:srgbClr val="1B1B1B"/>
                </a:solidFill>
                <a:latin typeface="Roboto Mono"/>
                <a:sym typeface="Roboto Mono"/>
              </a:rPr>
              <a:t>Um </a:t>
            </a:r>
            <a:r>
              <a:rPr lang="pt-BR" sz="2200" dirty="0" err="1">
                <a:solidFill>
                  <a:srgbClr val="1B1B1B"/>
                </a:solidFill>
                <a:latin typeface="Roboto Mono"/>
                <a:sym typeface="Roboto Mono"/>
              </a:rPr>
              <a:t>HTMLCollection</a:t>
            </a:r>
            <a:r>
              <a:rPr lang="pt-BR" sz="2200" dirty="0">
                <a:solidFill>
                  <a:srgbClr val="1B1B1B"/>
                </a:solidFill>
                <a:latin typeface="Roboto Mono"/>
                <a:sym typeface="Roboto Mono"/>
              </a:rPr>
              <a:t> é uma coleção (lista) semelhante a um </a:t>
            </a:r>
            <a:r>
              <a:rPr lang="pt-BR" sz="2200" dirty="0" err="1">
                <a:solidFill>
                  <a:srgbClr val="1B1B1B"/>
                </a:solidFill>
                <a:latin typeface="Roboto Mono"/>
                <a:sym typeface="Roboto Mono"/>
              </a:rPr>
              <a:t>array</a:t>
            </a:r>
            <a:r>
              <a:rPr lang="pt-BR" sz="2200" dirty="0">
                <a:solidFill>
                  <a:srgbClr val="1B1B1B"/>
                </a:solidFill>
                <a:latin typeface="Roboto Mono"/>
                <a:sym typeface="Roboto Mono"/>
              </a:rPr>
              <a:t> de elementos HTML.</a:t>
            </a:r>
          </a:p>
          <a:p>
            <a:pPr marL="152396">
              <a:buSzPts val="1800"/>
            </a:pPr>
            <a:r>
              <a:rPr lang="pt-BR" sz="2200" dirty="0">
                <a:solidFill>
                  <a:srgbClr val="1B1B1B"/>
                </a:solidFill>
                <a:latin typeface="Roboto Mono"/>
                <a:sym typeface="Roboto Mono"/>
              </a:rPr>
              <a:t>Os elementos em uma coleção podem ser acessados ​​por índice (começa em 0).</a:t>
            </a:r>
          </a:p>
          <a:p>
            <a:pPr marL="152396">
              <a:buSzPts val="1800"/>
            </a:pPr>
            <a:r>
              <a:rPr lang="pt-BR" sz="2200" dirty="0">
                <a:solidFill>
                  <a:srgbClr val="1B1B1B"/>
                </a:solidFill>
                <a:latin typeface="Roboto Mono"/>
                <a:sym typeface="Roboto Mono"/>
              </a:rPr>
              <a:t>A propriedade </a:t>
            </a:r>
            <a:r>
              <a:rPr lang="pt-BR" sz="2200" dirty="0" err="1">
                <a:solidFill>
                  <a:srgbClr val="1B1B1B"/>
                </a:solidFill>
                <a:latin typeface="Roboto Mono"/>
                <a:sym typeface="Roboto Mono"/>
              </a:rPr>
              <a:t>length</a:t>
            </a:r>
            <a:r>
              <a:rPr lang="pt-BR" sz="2200" dirty="0">
                <a:solidFill>
                  <a:srgbClr val="1B1B1B"/>
                </a:solidFill>
                <a:latin typeface="Roboto Mono"/>
                <a:sym typeface="Roboto Mono"/>
              </a:rPr>
              <a:t> retorna o número de elementos na coleção.</a:t>
            </a:r>
            <a:endParaRPr lang="pt-BR" sz="2000" dirty="0">
              <a:solidFill>
                <a:srgbClr val="1B1B1B"/>
              </a:solidFill>
              <a:latin typeface="Roboto Mono"/>
              <a:sym typeface="Roboto Mono"/>
            </a:endParaRPr>
          </a:p>
        </p:txBody>
      </p:sp>
    </p:spTree>
    <p:extLst>
      <p:ext uri="{BB962C8B-B14F-4D97-AF65-F5344CB8AC3E}">
        <p14:creationId xmlns:p14="http://schemas.microsoft.com/office/powerpoint/2010/main" val="860721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err="1">
                <a:solidFill>
                  <a:srgbClr val="FFDA3E"/>
                </a:solidFill>
                <a:latin typeface="Roboto Mono Medium"/>
                <a:ea typeface="Roboto Mono Medium"/>
                <a:cs typeface="Roboto Mono Medium"/>
                <a:sym typeface="Roboto Mono Medium"/>
              </a:rPr>
              <a:t>HTMLCollection</a:t>
            </a:r>
            <a:r>
              <a:rPr lang="pt-BR" sz="3600" dirty="0">
                <a:solidFill>
                  <a:srgbClr val="FFDA3E"/>
                </a:solidFill>
                <a:latin typeface="Roboto Mono Medium"/>
                <a:ea typeface="Roboto Mono Medium"/>
                <a:cs typeface="Roboto Mono Medium"/>
                <a:sym typeface="Roboto Mono Medium"/>
              </a:rPr>
              <a:t> e </a:t>
            </a:r>
            <a:r>
              <a:rPr lang="pt-BR" sz="3600" dirty="0" err="1">
                <a:solidFill>
                  <a:srgbClr val="FFDA3E"/>
                </a:solidFill>
                <a:latin typeface="Roboto Mono Medium"/>
                <a:ea typeface="Roboto Mono Medium"/>
                <a:cs typeface="Roboto Mono Medium"/>
                <a:sym typeface="Roboto Mono Medium"/>
              </a:rPr>
              <a:t>NodeList</a:t>
            </a:r>
            <a:endParaRPr lang="pt-BR" sz="3600" dirty="0">
              <a:solidFill>
                <a:srgbClr val="FFDA3E"/>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3137482"/>
            <a:ext cx="11727200" cy="3720517"/>
          </a:xfrm>
          <a:prstGeom prst="rect">
            <a:avLst/>
          </a:prstGeom>
          <a:noFill/>
          <a:ln>
            <a:noFill/>
          </a:ln>
        </p:spPr>
        <p:txBody>
          <a:bodyPr spcFirstLastPara="1" wrap="square" lIns="121900" tIns="121900" rIns="121900" bIns="121900" anchor="t" anchorCtr="0">
            <a:noAutofit/>
          </a:bodyPr>
          <a:lstStyle/>
          <a:p>
            <a:pPr marL="152396">
              <a:buSzPts val="1800"/>
            </a:pPr>
            <a:r>
              <a:rPr lang="pt-BR" sz="2200" b="1" dirty="0">
                <a:solidFill>
                  <a:srgbClr val="1B1B1B"/>
                </a:solidFill>
                <a:latin typeface="Roboto Mono"/>
                <a:sym typeface="Roboto Mono"/>
              </a:rPr>
              <a:t>Quem Retorna um </a:t>
            </a:r>
            <a:r>
              <a:rPr lang="pt-BR" sz="2200" b="1" dirty="0" err="1">
                <a:solidFill>
                  <a:srgbClr val="1B1B1B"/>
                </a:solidFill>
                <a:latin typeface="Roboto Mono"/>
                <a:sym typeface="Roboto Mono"/>
              </a:rPr>
              <a:t>HTMLCollection</a:t>
            </a:r>
            <a:r>
              <a:rPr lang="pt-BR" sz="2200" b="1" dirty="0">
                <a:solidFill>
                  <a:srgbClr val="1B1B1B"/>
                </a:solidFill>
                <a:latin typeface="Roboto Mono"/>
                <a:sym typeface="Roboto Mono"/>
              </a:rPr>
              <a:t>?</a:t>
            </a:r>
          </a:p>
          <a:p>
            <a:pPr marL="152396">
              <a:buSzPts val="1800"/>
            </a:pPr>
            <a:r>
              <a:rPr lang="pt-BR" sz="2200" dirty="0">
                <a:solidFill>
                  <a:srgbClr val="1B1B1B"/>
                </a:solidFill>
                <a:latin typeface="Roboto Mono"/>
                <a:sym typeface="Roboto Mono"/>
              </a:rPr>
              <a:t>O método </a:t>
            </a:r>
            <a:r>
              <a:rPr lang="pt-BR" sz="2200" dirty="0" err="1">
                <a:solidFill>
                  <a:srgbClr val="1B1B1B"/>
                </a:solidFill>
                <a:latin typeface="Roboto Mono"/>
                <a:sym typeface="Roboto Mono"/>
              </a:rPr>
              <a:t>getElementsByTagName</a:t>
            </a:r>
            <a:r>
              <a:rPr lang="pt-BR" sz="2200" dirty="0">
                <a:solidFill>
                  <a:srgbClr val="1B1B1B"/>
                </a:solidFill>
                <a:latin typeface="Roboto Mono"/>
                <a:sym typeface="Roboto Mono"/>
              </a:rPr>
              <a:t>()</a:t>
            </a:r>
          </a:p>
          <a:p>
            <a:pPr marL="152396">
              <a:buSzPts val="1800"/>
            </a:pPr>
            <a:r>
              <a:rPr lang="pt-BR" sz="2200" dirty="0">
                <a:solidFill>
                  <a:srgbClr val="1B1B1B"/>
                </a:solidFill>
                <a:latin typeface="Roboto Mono"/>
                <a:sym typeface="Roboto Mono"/>
              </a:rPr>
              <a:t>O método </a:t>
            </a:r>
            <a:r>
              <a:rPr lang="pt-BR" sz="2200" dirty="0" err="1">
                <a:solidFill>
                  <a:srgbClr val="1B1B1B"/>
                </a:solidFill>
                <a:latin typeface="Roboto Mono"/>
                <a:sym typeface="Roboto Mono"/>
              </a:rPr>
              <a:t>getElementsByClassName</a:t>
            </a:r>
            <a:r>
              <a:rPr lang="pt-BR" sz="2200" dirty="0">
                <a:solidFill>
                  <a:srgbClr val="1B1B1B"/>
                </a:solidFill>
                <a:latin typeface="Roboto Mono"/>
                <a:sym typeface="Roboto Mono"/>
              </a:rPr>
              <a:t>()</a:t>
            </a:r>
          </a:p>
          <a:p>
            <a:pPr marL="152396">
              <a:buSzPts val="1800"/>
            </a:pPr>
            <a:r>
              <a:rPr lang="pt-BR" sz="2200" dirty="0">
                <a:solidFill>
                  <a:srgbClr val="1B1B1B"/>
                </a:solidFill>
                <a:latin typeface="Roboto Mono"/>
                <a:sym typeface="Roboto Mono"/>
              </a:rPr>
              <a:t>A propriedade dos filhos.</a:t>
            </a:r>
            <a:endParaRPr lang="pt-BR" sz="2000" dirty="0">
              <a:solidFill>
                <a:srgbClr val="1B1B1B"/>
              </a:solidFill>
              <a:latin typeface="Roboto Mono"/>
              <a:sym typeface="Roboto Mono"/>
            </a:endParaRPr>
          </a:p>
        </p:txBody>
      </p:sp>
    </p:spTree>
    <p:extLst>
      <p:ext uri="{BB962C8B-B14F-4D97-AF65-F5344CB8AC3E}">
        <p14:creationId xmlns:p14="http://schemas.microsoft.com/office/powerpoint/2010/main" val="3151205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err="1">
                <a:solidFill>
                  <a:srgbClr val="FFDA3E"/>
                </a:solidFill>
                <a:latin typeface="Roboto Mono Medium"/>
                <a:ea typeface="Roboto Mono Medium"/>
                <a:cs typeface="Roboto Mono Medium"/>
                <a:sym typeface="Roboto Mono Medium"/>
              </a:rPr>
              <a:t>HTMLCollection</a:t>
            </a:r>
            <a:r>
              <a:rPr lang="pt-BR" sz="3600" dirty="0">
                <a:solidFill>
                  <a:srgbClr val="FFDA3E"/>
                </a:solidFill>
                <a:latin typeface="Roboto Mono Medium"/>
                <a:ea typeface="Roboto Mono Medium"/>
                <a:cs typeface="Roboto Mono Medium"/>
                <a:sym typeface="Roboto Mono Medium"/>
              </a:rPr>
              <a:t> e </a:t>
            </a:r>
            <a:r>
              <a:rPr lang="pt-BR" sz="3600" dirty="0" err="1">
                <a:solidFill>
                  <a:srgbClr val="FFDA3E"/>
                </a:solidFill>
                <a:latin typeface="Roboto Mono Medium"/>
                <a:ea typeface="Roboto Mono Medium"/>
                <a:cs typeface="Roboto Mono Medium"/>
                <a:sym typeface="Roboto Mono Medium"/>
              </a:rPr>
              <a:t>NodeList</a:t>
            </a:r>
            <a:endParaRPr lang="pt-BR" sz="3600" dirty="0">
              <a:solidFill>
                <a:srgbClr val="FFDA3E"/>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3137483"/>
            <a:ext cx="11727200" cy="981512"/>
          </a:xfrm>
          <a:prstGeom prst="rect">
            <a:avLst/>
          </a:prstGeom>
          <a:noFill/>
          <a:ln>
            <a:noFill/>
          </a:ln>
        </p:spPr>
        <p:txBody>
          <a:bodyPr spcFirstLastPara="1" wrap="square" lIns="121900" tIns="121900" rIns="121900" bIns="121900" anchor="t" anchorCtr="0">
            <a:noAutofit/>
          </a:bodyPr>
          <a:lstStyle/>
          <a:p>
            <a:pPr marL="152396">
              <a:buSzPts val="1800"/>
            </a:pPr>
            <a:r>
              <a:rPr lang="pt-BR" sz="2200" b="1" dirty="0">
                <a:solidFill>
                  <a:srgbClr val="1B1B1B"/>
                </a:solidFill>
                <a:latin typeface="Roboto Mono"/>
                <a:sym typeface="Roboto Mono"/>
              </a:rPr>
              <a:t>Propriedades e métodos</a:t>
            </a:r>
          </a:p>
          <a:p>
            <a:pPr marL="152396">
              <a:buSzPts val="1800"/>
            </a:pPr>
            <a:r>
              <a:rPr lang="pt-BR" sz="2200" dirty="0">
                <a:solidFill>
                  <a:srgbClr val="1B1B1B"/>
                </a:solidFill>
                <a:latin typeface="Roboto Mono"/>
                <a:sym typeface="Roboto Mono"/>
              </a:rPr>
              <a:t>As seguintes propriedades e métodos podem ser usados ​​em um </a:t>
            </a:r>
            <a:r>
              <a:rPr lang="pt-BR" sz="2200" dirty="0" err="1">
                <a:solidFill>
                  <a:srgbClr val="1B1B1B"/>
                </a:solidFill>
                <a:latin typeface="Roboto Mono"/>
                <a:sym typeface="Roboto Mono"/>
              </a:rPr>
              <a:t>HTMLCollection</a:t>
            </a:r>
            <a:r>
              <a:rPr lang="pt-BR" sz="2200" dirty="0">
                <a:solidFill>
                  <a:srgbClr val="1B1B1B"/>
                </a:solidFill>
                <a:latin typeface="Roboto Mono"/>
                <a:sym typeface="Roboto Mono"/>
              </a:rPr>
              <a:t>:</a:t>
            </a:r>
          </a:p>
          <a:p>
            <a:pPr marL="152396">
              <a:buSzPts val="1800"/>
            </a:pPr>
            <a:endParaRPr lang="pt-BR" sz="2000" dirty="0">
              <a:solidFill>
                <a:srgbClr val="1B1B1B"/>
              </a:solidFill>
              <a:latin typeface="Roboto Mono"/>
              <a:sym typeface="Roboto Mono"/>
            </a:endParaRPr>
          </a:p>
        </p:txBody>
      </p:sp>
      <p:graphicFrame>
        <p:nvGraphicFramePr>
          <p:cNvPr id="3" name="Tabela 3">
            <a:extLst>
              <a:ext uri="{FF2B5EF4-FFF2-40B4-BE49-F238E27FC236}">
                <a16:creationId xmlns:a16="http://schemas.microsoft.com/office/drawing/2014/main" id="{43912C1D-93AA-19A9-1574-C00931590F67}"/>
              </a:ext>
            </a:extLst>
          </p:cNvPr>
          <p:cNvGraphicFramePr>
            <a:graphicFrameLocks noGrp="1"/>
          </p:cNvGraphicFramePr>
          <p:nvPr>
            <p:extLst>
              <p:ext uri="{D42A27DB-BD31-4B8C-83A1-F6EECF244321}">
                <p14:modId xmlns:p14="http://schemas.microsoft.com/office/powerpoint/2010/main" val="2184809489"/>
              </p:ext>
            </p:extLst>
          </p:nvPr>
        </p:nvGraphicFramePr>
        <p:xfrm>
          <a:off x="232400" y="4428731"/>
          <a:ext cx="11302462" cy="1478280"/>
        </p:xfrm>
        <a:graphic>
          <a:graphicData uri="http://schemas.openxmlformats.org/drawingml/2006/table">
            <a:tbl>
              <a:tblPr firstRow="1" bandRow="1">
                <a:tableStyleId>{5C22544A-7EE6-4342-B048-85BDC9FD1C3A}</a:tableStyleId>
              </a:tblPr>
              <a:tblGrid>
                <a:gridCol w="3001893">
                  <a:extLst>
                    <a:ext uri="{9D8B030D-6E8A-4147-A177-3AD203B41FA5}">
                      <a16:colId xmlns:a16="http://schemas.microsoft.com/office/drawing/2014/main" val="1033087695"/>
                    </a:ext>
                  </a:extLst>
                </a:gridCol>
                <a:gridCol w="8300569">
                  <a:extLst>
                    <a:ext uri="{9D8B030D-6E8A-4147-A177-3AD203B41FA5}">
                      <a16:colId xmlns:a16="http://schemas.microsoft.com/office/drawing/2014/main" val="896926977"/>
                    </a:ext>
                  </a:extLst>
                </a:gridCol>
              </a:tblGrid>
              <a:tr h="370840">
                <a:tc>
                  <a:txBody>
                    <a:bodyPr/>
                    <a:lstStyle/>
                    <a:p>
                      <a:pPr algn="ctr"/>
                      <a:r>
                        <a:rPr lang="pt-BR" sz="1800" dirty="0">
                          <a:solidFill>
                            <a:srgbClr val="1B1B1B"/>
                          </a:solidFill>
                          <a:latin typeface="Roboto Mono"/>
                          <a:sym typeface="Roboto Mono"/>
                        </a:rPr>
                        <a:t>Nome</a:t>
                      </a:r>
                      <a:endParaRPr lang="pt-BR" dirty="0"/>
                    </a:p>
                  </a:txBody>
                  <a:tcPr anchor="ctr"/>
                </a:tc>
                <a:tc>
                  <a:txBody>
                    <a:bodyPr/>
                    <a:lstStyle/>
                    <a:p>
                      <a:pPr algn="ctr"/>
                      <a:r>
                        <a:rPr lang="pt-BR" sz="1800" dirty="0">
                          <a:solidFill>
                            <a:srgbClr val="1B1B1B"/>
                          </a:solidFill>
                          <a:latin typeface="Roboto Mono"/>
                          <a:sym typeface="Roboto Mono"/>
                        </a:rPr>
                        <a:t>Descrição</a:t>
                      </a:r>
                      <a:endParaRPr lang="pt-BR" dirty="0"/>
                    </a:p>
                  </a:txBody>
                  <a:tcPr anchor="ctr"/>
                </a:tc>
                <a:extLst>
                  <a:ext uri="{0D108BD9-81ED-4DB2-BD59-A6C34878D82A}">
                    <a16:rowId xmlns:a16="http://schemas.microsoft.com/office/drawing/2014/main" val="373534074"/>
                  </a:ext>
                </a:extLst>
              </a:tr>
              <a:tr h="370840">
                <a:tc>
                  <a:txBody>
                    <a:bodyPr/>
                    <a:lstStyle/>
                    <a:p>
                      <a:pPr algn="l"/>
                      <a:r>
                        <a:rPr lang="pt-BR" sz="1800" dirty="0" err="1">
                          <a:solidFill>
                            <a:srgbClr val="1B1B1B"/>
                          </a:solidFill>
                          <a:latin typeface="Roboto Mono"/>
                          <a:sym typeface="Roboto Mono"/>
                        </a:rPr>
                        <a:t>length</a:t>
                      </a:r>
                      <a:endParaRPr lang="pt-BR"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800" dirty="0">
                          <a:solidFill>
                            <a:srgbClr val="1B1B1B"/>
                          </a:solidFill>
                          <a:latin typeface="Roboto Mono"/>
                          <a:sym typeface="Roboto Mono"/>
                        </a:rPr>
                        <a:t>Retorna o número de elementos em um </a:t>
                      </a:r>
                      <a:r>
                        <a:rPr lang="pt-BR" sz="1800" dirty="0" err="1">
                          <a:solidFill>
                            <a:srgbClr val="1B1B1B"/>
                          </a:solidFill>
                          <a:latin typeface="Roboto Mono"/>
                          <a:sym typeface="Roboto Mono"/>
                        </a:rPr>
                        <a:t>HTMLCollection</a:t>
                      </a:r>
                      <a:endParaRPr lang="pt-BR" sz="1800" dirty="0">
                        <a:solidFill>
                          <a:srgbClr val="1B1B1B"/>
                        </a:solidFill>
                        <a:latin typeface="Roboto Mono"/>
                        <a:sym typeface="Roboto Mono"/>
                      </a:endParaRPr>
                    </a:p>
                  </a:txBody>
                  <a:tcPr anchor="b"/>
                </a:tc>
                <a:extLst>
                  <a:ext uri="{0D108BD9-81ED-4DB2-BD59-A6C34878D82A}">
                    <a16:rowId xmlns:a16="http://schemas.microsoft.com/office/drawing/2014/main" val="2843296941"/>
                  </a:ext>
                </a:extLst>
              </a:tr>
              <a:tr h="139366">
                <a:tc>
                  <a:txBody>
                    <a:bodyPr/>
                    <a:lstStyle/>
                    <a:p>
                      <a:pPr algn="l"/>
                      <a:r>
                        <a:rPr lang="pt-BR" sz="1800" dirty="0">
                          <a:solidFill>
                            <a:srgbClr val="1B1B1B"/>
                          </a:solidFill>
                          <a:latin typeface="Roboto Mono"/>
                          <a:sym typeface="Roboto Mono"/>
                        </a:rPr>
                        <a:t>item() </a:t>
                      </a:r>
                      <a:endParaRPr lang="pt-BR"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800" dirty="0">
                          <a:solidFill>
                            <a:srgbClr val="1B1B1B"/>
                          </a:solidFill>
                          <a:latin typeface="Roboto Mono"/>
                          <a:sym typeface="Roboto Mono"/>
                        </a:rPr>
                        <a:t>Retorna o elemento em um índice especificado</a:t>
                      </a:r>
                    </a:p>
                  </a:txBody>
                  <a:tcPr anchor="b"/>
                </a:tc>
                <a:extLst>
                  <a:ext uri="{0D108BD9-81ED-4DB2-BD59-A6C34878D82A}">
                    <a16:rowId xmlns:a16="http://schemas.microsoft.com/office/drawing/2014/main" val="267016608"/>
                  </a:ext>
                </a:extLst>
              </a:tr>
              <a:tr h="370840">
                <a:tc>
                  <a:txBody>
                    <a:bodyPr/>
                    <a:lstStyle/>
                    <a:p>
                      <a:pPr algn="l"/>
                      <a:r>
                        <a:rPr lang="pt-BR" sz="1800" dirty="0" err="1">
                          <a:solidFill>
                            <a:srgbClr val="1B1B1B"/>
                          </a:solidFill>
                          <a:latin typeface="Roboto Mono"/>
                          <a:sym typeface="Roboto Mono"/>
                        </a:rPr>
                        <a:t>namedItem</a:t>
                      </a:r>
                      <a:r>
                        <a:rPr lang="pt-BR" sz="1800" dirty="0">
                          <a:solidFill>
                            <a:srgbClr val="1B1B1B"/>
                          </a:solidFill>
                          <a:latin typeface="Roboto Mono"/>
                          <a:sym typeface="Roboto Mono"/>
                        </a:rPr>
                        <a:t>() </a:t>
                      </a:r>
                      <a:endParaRPr lang="pt-BR"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800" dirty="0">
                          <a:solidFill>
                            <a:srgbClr val="1B1B1B"/>
                          </a:solidFill>
                          <a:latin typeface="Roboto Mono"/>
                          <a:sym typeface="Roboto Mono"/>
                        </a:rPr>
                        <a:t>Retorna o elemento com um id especificado</a:t>
                      </a:r>
                    </a:p>
                  </a:txBody>
                  <a:tcPr anchor="b"/>
                </a:tc>
                <a:extLst>
                  <a:ext uri="{0D108BD9-81ED-4DB2-BD59-A6C34878D82A}">
                    <a16:rowId xmlns:a16="http://schemas.microsoft.com/office/drawing/2014/main" val="3912563831"/>
                  </a:ext>
                </a:extLst>
              </a:tr>
            </a:tbl>
          </a:graphicData>
        </a:graphic>
      </p:graphicFrame>
    </p:spTree>
    <p:extLst>
      <p:ext uri="{BB962C8B-B14F-4D97-AF65-F5344CB8AC3E}">
        <p14:creationId xmlns:p14="http://schemas.microsoft.com/office/powerpoint/2010/main" val="978793582"/>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err="1">
                <a:solidFill>
                  <a:srgbClr val="FFDA3E"/>
                </a:solidFill>
                <a:latin typeface="Roboto Mono Medium"/>
                <a:ea typeface="Roboto Mono Medium"/>
                <a:cs typeface="Roboto Mono Medium"/>
                <a:sym typeface="Roboto Mono Medium"/>
              </a:rPr>
              <a:t>HTMLCollection</a:t>
            </a:r>
            <a:r>
              <a:rPr lang="pt-BR" sz="3600" dirty="0">
                <a:solidFill>
                  <a:srgbClr val="FFDA3E"/>
                </a:solidFill>
                <a:latin typeface="Roboto Mono Medium"/>
                <a:ea typeface="Roboto Mono Medium"/>
                <a:cs typeface="Roboto Mono Medium"/>
                <a:sym typeface="Roboto Mono Medium"/>
              </a:rPr>
              <a:t> e </a:t>
            </a:r>
            <a:r>
              <a:rPr lang="pt-BR" sz="3600" dirty="0" err="1">
                <a:solidFill>
                  <a:srgbClr val="FFDA3E"/>
                </a:solidFill>
                <a:latin typeface="Roboto Mono Medium"/>
                <a:ea typeface="Roboto Mono Medium"/>
                <a:cs typeface="Roboto Mono Medium"/>
                <a:sym typeface="Roboto Mono Medium"/>
              </a:rPr>
              <a:t>NodeList</a:t>
            </a:r>
            <a:endParaRPr lang="pt-BR" sz="3600" dirty="0">
              <a:solidFill>
                <a:srgbClr val="FFDA3E"/>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3137482"/>
            <a:ext cx="11727200" cy="3720517"/>
          </a:xfrm>
          <a:prstGeom prst="rect">
            <a:avLst/>
          </a:prstGeom>
          <a:noFill/>
          <a:ln>
            <a:noFill/>
          </a:ln>
        </p:spPr>
        <p:txBody>
          <a:bodyPr spcFirstLastPara="1" wrap="square" lIns="121900" tIns="121900" rIns="121900" bIns="121900" anchor="t" anchorCtr="0">
            <a:noAutofit/>
          </a:bodyPr>
          <a:lstStyle/>
          <a:p>
            <a:pPr marL="152396">
              <a:buSzPts val="1800"/>
            </a:pPr>
            <a:r>
              <a:rPr lang="pt-BR" sz="2200" b="1" dirty="0" err="1">
                <a:solidFill>
                  <a:srgbClr val="1B1B1B"/>
                </a:solidFill>
                <a:latin typeface="Roboto Mono"/>
                <a:sym typeface="Roboto Mono"/>
              </a:rPr>
              <a:t>NodeList</a:t>
            </a:r>
            <a:r>
              <a:rPr lang="pt-BR" sz="2200" dirty="0">
                <a:solidFill>
                  <a:srgbClr val="1B1B1B"/>
                </a:solidFill>
                <a:latin typeface="Roboto Mono"/>
                <a:sym typeface="Roboto Mono"/>
              </a:rPr>
              <a:t> </a:t>
            </a:r>
          </a:p>
          <a:p>
            <a:pPr marL="152396">
              <a:buSzPts val="1800"/>
            </a:pPr>
            <a:r>
              <a:rPr lang="pt-BR" sz="2200" dirty="0">
                <a:solidFill>
                  <a:srgbClr val="1B1B1B"/>
                </a:solidFill>
                <a:latin typeface="Roboto Mono"/>
                <a:sym typeface="Roboto Mono"/>
              </a:rPr>
              <a:t>Uma </a:t>
            </a:r>
            <a:r>
              <a:rPr lang="pt-BR" sz="2200" dirty="0" err="1">
                <a:solidFill>
                  <a:srgbClr val="1B1B1B"/>
                </a:solidFill>
                <a:latin typeface="Roboto Mono"/>
                <a:sym typeface="Roboto Mono"/>
              </a:rPr>
              <a:t>NodeList</a:t>
            </a:r>
            <a:r>
              <a:rPr lang="pt-BR" sz="2200" dirty="0">
                <a:solidFill>
                  <a:srgbClr val="1B1B1B"/>
                </a:solidFill>
                <a:latin typeface="Roboto Mono"/>
                <a:sym typeface="Roboto Mono"/>
              </a:rPr>
              <a:t> é uma coleção (lista) semelhante a um </a:t>
            </a:r>
            <a:r>
              <a:rPr lang="pt-BR" sz="2200" dirty="0" err="1">
                <a:solidFill>
                  <a:srgbClr val="1B1B1B"/>
                </a:solidFill>
                <a:latin typeface="Roboto Mono"/>
                <a:sym typeface="Roboto Mono"/>
              </a:rPr>
              <a:t>array</a:t>
            </a:r>
            <a:r>
              <a:rPr lang="pt-BR" sz="2200" dirty="0">
                <a:solidFill>
                  <a:srgbClr val="1B1B1B"/>
                </a:solidFill>
                <a:latin typeface="Roboto Mono"/>
                <a:sym typeface="Roboto Mono"/>
              </a:rPr>
              <a:t> de Node </a:t>
            </a:r>
            <a:r>
              <a:rPr lang="pt-BR" sz="2200" dirty="0" err="1">
                <a:solidFill>
                  <a:srgbClr val="1B1B1B"/>
                </a:solidFill>
                <a:latin typeface="Roboto Mono"/>
                <a:sym typeface="Roboto Mono"/>
              </a:rPr>
              <a:t>Objects</a:t>
            </a:r>
            <a:r>
              <a:rPr lang="pt-BR" sz="2200" dirty="0">
                <a:solidFill>
                  <a:srgbClr val="1B1B1B"/>
                </a:solidFill>
                <a:latin typeface="Roboto Mono"/>
                <a:sym typeface="Roboto Mono"/>
              </a:rPr>
              <a:t>.</a:t>
            </a:r>
          </a:p>
          <a:p>
            <a:pPr marL="152396">
              <a:buSzPts val="1800"/>
            </a:pPr>
            <a:r>
              <a:rPr lang="pt-BR" sz="2200" dirty="0">
                <a:solidFill>
                  <a:srgbClr val="1B1B1B"/>
                </a:solidFill>
                <a:latin typeface="Roboto Mono"/>
                <a:sym typeface="Roboto Mono"/>
              </a:rPr>
              <a:t>Os nós em um </a:t>
            </a:r>
            <a:r>
              <a:rPr lang="pt-BR" sz="2200" dirty="0" err="1">
                <a:solidFill>
                  <a:srgbClr val="1B1B1B"/>
                </a:solidFill>
                <a:latin typeface="Roboto Mono"/>
                <a:sym typeface="Roboto Mono"/>
              </a:rPr>
              <a:t>NodeList</a:t>
            </a:r>
            <a:r>
              <a:rPr lang="pt-BR" sz="2200" dirty="0">
                <a:solidFill>
                  <a:srgbClr val="1B1B1B"/>
                </a:solidFill>
                <a:latin typeface="Roboto Mono"/>
                <a:sym typeface="Roboto Mono"/>
              </a:rPr>
              <a:t> podem ser acessados ​​por índice (começa em 0).</a:t>
            </a:r>
          </a:p>
          <a:p>
            <a:pPr marL="152396">
              <a:buSzPts val="1800"/>
            </a:pPr>
            <a:r>
              <a:rPr lang="pt-BR" sz="2200" dirty="0">
                <a:solidFill>
                  <a:srgbClr val="1B1B1B"/>
                </a:solidFill>
                <a:latin typeface="Roboto Mono"/>
                <a:sym typeface="Roboto Mono"/>
              </a:rPr>
              <a:t>A propriedade </a:t>
            </a:r>
            <a:r>
              <a:rPr lang="pt-BR" sz="2200" dirty="0" err="1">
                <a:solidFill>
                  <a:srgbClr val="1B1B1B"/>
                </a:solidFill>
                <a:latin typeface="Roboto Mono"/>
                <a:sym typeface="Roboto Mono"/>
              </a:rPr>
              <a:t>length</a:t>
            </a:r>
            <a:r>
              <a:rPr lang="pt-BR" sz="2200" dirty="0">
                <a:solidFill>
                  <a:srgbClr val="1B1B1B"/>
                </a:solidFill>
                <a:latin typeface="Roboto Mono"/>
                <a:sym typeface="Roboto Mono"/>
              </a:rPr>
              <a:t> retorna o número de nós em um </a:t>
            </a:r>
            <a:r>
              <a:rPr lang="pt-BR" sz="2200" dirty="0" err="1">
                <a:solidFill>
                  <a:srgbClr val="1B1B1B"/>
                </a:solidFill>
                <a:latin typeface="Roboto Mono"/>
                <a:sym typeface="Roboto Mono"/>
              </a:rPr>
              <a:t>NodeList</a:t>
            </a:r>
            <a:r>
              <a:rPr lang="pt-BR" sz="2200" dirty="0">
                <a:solidFill>
                  <a:srgbClr val="1B1B1B"/>
                </a:solidFill>
                <a:latin typeface="Roboto Mono"/>
                <a:sym typeface="Roboto Mono"/>
              </a:rPr>
              <a:t>.</a:t>
            </a:r>
            <a:endParaRPr lang="pt-BR" sz="2000" dirty="0">
              <a:solidFill>
                <a:srgbClr val="1B1B1B"/>
              </a:solidFill>
              <a:latin typeface="Roboto Mono"/>
              <a:sym typeface="Roboto Mono"/>
            </a:endParaRPr>
          </a:p>
        </p:txBody>
      </p:sp>
    </p:spTree>
    <p:extLst>
      <p:ext uri="{BB962C8B-B14F-4D97-AF65-F5344CB8AC3E}">
        <p14:creationId xmlns:p14="http://schemas.microsoft.com/office/powerpoint/2010/main" val="3687315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err="1">
                <a:solidFill>
                  <a:srgbClr val="FFDA3E"/>
                </a:solidFill>
                <a:latin typeface="Roboto Mono Medium"/>
                <a:ea typeface="Roboto Mono Medium"/>
                <a:cs typeface="Roboto Mono Medium"/>
                <a:sym typeface="Roboto Mono Medium"/>
              </a:rPr>
              <a:t>HTMLCollection</a:t>
            </a:r>
            <a:r>
              <a:rPr lang="pt-BR" sz="3600" dirty="0">
                <a:solidFill>
                  <a:srgbClr val="FFDA3E"/>
                </a:solidFill>
                <a:latin typeface="Roboto Mono Medium"/>
                <a:ea typeface="Roboto Mono Medium"/>
                <a:cs typeface="Roboto Mono Medium"/>
                <a:sym typeface="Roboto Mono Medium"/>
              </a:rPr>
              <a:t> e </a:t>
            </a:r>
            <a:r>
              <a:rPr lang="pt-BR" sz="3600" dirty="0" err="1">
                <a:solidFill>
                  <a:srgbClr val="FFDA3E"/>
                </a:solidFill>
                <a:latin typeface="Roboto Mono Medium"/>
                <a:ea typeface="Roboto Mono Medium"/>
                <a:cs typeface="Roboto Mono Medium"/>
                <a:sym typeface="Roboto Mono Medium"/>
              </a:rPr>
              <a:t>NodeList</a:t>
            </a:r>
            <a:endParaRPr lang="pt-BR" sz="3600" dirty="0">
              <a:solidFill>
                <a:srgbClr val="FFDA3E"/>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3137482"/>
            <a:ext cx="11727200" cy="3720517"/>
          </a:xfrm>
          <a:prstGeom prst="rect">
            <a:avLst/>
          </a:prstGeom>
          <a:noFill/>
          <a:ln>
            <a:noFill/>
          </a:ln>
        </p:spPr>
        <p:txBody>
          <a:bodyPr spcFirstLastPara="1" wrap="square" lIns="121900" tIns="121900" rIns="121900" bIns="121900" anchor="t" anchorCtr="0">
            <a:noAutofit/>
          </a:bodyPr>
          <a:lstStyle/>
          <a:p>
            <a:pPr marL="152396">
              <a:buSzPts val="1800"/>
            </a:pPr>
            <a:r>
              <a:rPr lang="pt-BR" sz="2200" b="1" dirty="0">
                <a:solidFill>
                  <a:srgbClr val="1B1B1B"/>
                </a:solidFill>
                <a:latin typeface="Roboto Mono"/>
                <a:sym typeface="Roboto Mono"/>
              </a:rPr>
              <a:t>Quem retorna um </a:t>
            </a:r>
            <a:r>
              <a:rPr lang="pt-BR" sz="2200" b="1" dirty="0" err="1">
                <a:solidFill>
                  <a:srgbClr val="1B1B1B"/>
                </a:solidFill>
                <a:latin typeface="Roboto Mono"/>
                <a:sym typeface="Roboto Mono"/>
              </a:rPr>
              <a:t>NodeList</a:t>
            </a:r>
            <a:r>
              <a:rPr lang="pt-BR" sz="2200" b="1" dirty="0">
                <a:solidFill>
                  <a:srgbClr val="1B1B1B"/>
                </a:solidFill>
                <a:latin typeface="Roboto Mono"/>
                <a:sym typeface="Roboto Mono"/>
              </a:rPr>
              <a:t>?</a:t>
            </a:r>
          </a:p>
          <a:p>
            <a:pPr marL="152396">
              <a:buSzPts val="1800"/>
            </a:pPr>
            <a:r>
              <a:rPr lang="pt-BR" sz="2200" dirty="0">
                <a:solidFill>
                  <a:srgbClr val="1B1B1B"/>
                </a:solidFill>
                <a:latin typeface="Roboto Mono"/>
                <a:sym typeface="Roboto Mono"/>
              </a:rPr>
              <a:t>O método </a:t>
            </a:r>
            <a:r>
              <a:rPr lang="pt-BR" sz="2200" dirty="0" err="1">
                <a:solidFill>
                  <a:srgbClr val="1B1B1B"/>
                </a:solidFill>
                <a:latin typeface="Roboto Mono"/>
                <a:sym typeface="Roboto Mono"/>
              </a:rPr>
              <a:t>childNodes</a:t>
            </a:r>
            <a:r>
              <a:rPr lang="pt-BR" sz="2200" dirty="0">
                <a:solidFill>
                  <a:srgbClr val="1B1B1B"/>
                </a:solidFill>
                <a:latin typeface="Roboto Mono"/>
                <a:sym typeface="Roboto Mono"/>
              </a:rPr>
              <a:t>()</a:t>
            </a:r>
          </a:p>
          <a:p>
            <a:pPr marL="152396">
              <a:buSzPts val="1800"/>
            </a:pPr>
            <a:r>
              <a:rPr lang="pt-BR" sz="2200" dirty="0">
                <a:solidFill>
                  <a:srgbClr val="1B1B1B"/>
                </a:solidFill>
                <a:latin typeface="Roboto Mono"/>
                <a:sym typeface="Roboto Mono"/>
              </a:rPr>
              <a:t>O método </a:t>
            </a:r>
            <a:r>
              <a:rPr lang="pt-BR" sz="2200" dirty="0" err="1">
                <a:solidFill>
                  <a:srgbClr val="1B1B1B"/>
                </a:solidFill>
                <a:latin typeface="Roboto Mono"/>
                <a:sym typeface="Roboto Mono"/>
              </a:rPr>
              <a:t>querySelectorAll</a:t>
            </a:r>
            <a:r>
              <a:rPr lang="pt-BR" sz="2200" dirty="0">
                <a:solidFill>
                  <a:srgbClr val="1B1B1B"/>
                </a:solidFill>
                <a:latin typeface="Roboto Mono"/>
                <a:sym typeface="Roboto Mono"/>
              </a:rPr>
              <a:t>()</a:t>
            </a:r>
          </a:p>
          <a:p>
            <a:pPr marL="152396">
              <a:buSzPts val="1800"/>
            </a:pPr>
            <a:r>
              <a:rPr lang="pt-BR" sz="2200" dirty="0">
                <a:solidFill>
                  <a:srgbClr val="1B1B1B"/>
                </a:solidFill>
                <a:latin typeface="Roboto Mono"/>
                <a:sym typeface="Roboto Mono"/>
              </a:rPr>
              <a:t>O método </a:t>
            </a:r>
            <a:r>
              <a:rPr lang="pt-BR" sz="2200" dirty="0" err="1">
                <a:solidFill>
                  <a:srgbClr val="1B1B1B"/>
                </a:solidFill>
                <a:latin typeface="Roboto Mono"/>
                <a:sym typeface="Roboto Mono"/>
              </a:rPr>
              <a:t>getElementsByName</a:t>
            </a:r>
            <a:r>
              <a:rPr lang="pt-BR" sz="2200" dirty="0">
                <a:solidFill>
                  <a:srgbClr val="1B1B1B"/>
                </a:solidFill>
                <a:latin typeface="Roboto Mono"/>
                <a:sym typeface="Roboto Mono"/>
              </a:rPr>
              <a:t>()</a:t>
            </a:r>
            <a:endParaRPr lang="pt-BR" sz="2000" dirty="0">
              <a:solidFill>
                <a:srgbClr val="1B1B1B"/>
              </a:solidFill>
              <a:latin typeface="Roboto Mono"/>
              <a:sym typeface="Roboto Mono"/>
            </a:endParaRPr>
          </a:p>
        </p:txBody>
      </p:sp>
    </p:spTree>
    <p:extLst>
      <p:ext uri="{BB962C8B-B14F-4D97-AF65-F5344CB8AC3E}">
        <p14:creationId xmlns:p14="http://schemas.microsoft.com/office/powerpoint/2010/main" val="2470227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err="1">
                <a:solidFill>
                  <a:srgbClr val="FFDA3E"/>
                </a:solidFill>
                <a:latin typeface="Roboto Mono Medium"/>
                <a:ea typeface="Roboto Mono Medium"/>
                <a:cs typeface="Roboto Mono Medium"/>
                <a:sym typeface="Roboto Mono Medium"/>
              </a:rPr>
              <a:t>HTMLCollection</a:t>
            </a:r>
            <a:r>
              <a:rPr lang="pt-BR" sz="3600" dirty="0">
                <a:solidFill>
                  <a:srgbClr val="FFDA3E"/>
                </a:solidFill>
                <a:latin typeface="Roboto Mono Medium"/>
                <a:ea typeface="Roboto Mono Medium"/>
                <a:cs typeface="Roboto Mono Medium"/>
                <a:sym typeface="Roboto Mono Medium"/>
              </a:rPr>
              <a:t> e </a:t>
            </a:r>
            <a:r>
              <a:rPr lang="pt-BR" sz="3600" dirty="0" err="1">
                <a:solidFill>
                  <a:srgbClr val="FFDA3E"/>
                </a:solidFill>
                <a:latin typeface="Roboto Mono Medium"/>
                <a:ea typeface="Roboto Mono Medium"/>
                <a:cs typeface="Roboto Mono Medium"/>
                <a:sym typeface="Roboto Mono Medium"/>
              </a:rPr>
              <a:t>NodeList</a:t>
            </a:r>
            <a:endParaRPr lang="pt-BR" sz="3600" dirty="0">
              <a:solidFill>
                <a:srgbClr val="FFDA3E"/>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610865"/>
            <a:ext cx="11727200" cy="1021568"/>
          </a:xfrm>
          <a:prstGeom prst="rect">
            <a:avLst/>
          </a:prstGeom>
          <a:noFill/>
          <a:ln>
            <a:noFill/>
          </a:ln>
        </p:spPr>
        <p:txBody>
          <a:bodyPr spcFirstLastPara="1" wrap="square" lIns="121900" tIns="121900" rIns="121900" bIns="121900" anchor="t" anchorCtr="0">
            <a:noAutofit/>
          </a:bodyPr>
          <a:lstStyle/>
          <a:p>
            <a:pPr marL="152396">
              <a:buSzPts val="1800"/>
            </a:pPr>
            <a:r>
              <a:rPr lang="pt-BR" sz="2200" b="1" dirty="0">
                <a:solidFill>
                  <a:srgbClr val="1B1B1B"/>
                </a:solidFill>
                <a:latin typeface="Roboto Mono"/>
                <a:sym typeface="Roboto Mono"/>
              </a:rPr>
              <a:t>Propriedades e métodos</a:t>
            </a:r>
          </a:p>
          <a:p>
            <a:pPr marL="152396">
              <a:buSzPts val="1800"/>
            </a:pPr>
            <a:r>
              <a:rPr lang="pt-BR" sz="2200" dirty="0">
                <a:solidFill>
                  <a:srgbClr val="1B1B1B"/>
                </a:solidFill>
                <a:latin typeface="Roboto Mono"/>
                <a:sym typeface="Roboto Mono"/>
              </a:rPr>
              <a:t>As seguintes propriedades e métodos podem ser usados ​​em um </a:t>
            </a:r>
            <a:r>
              <a:rPr lang="pt-BR" sz="2200" dirty="0" err="1">
                <a:solidFill>
                  <a:srgbClr val="1B1B1B"/>
                </a:solidFill>
                <a:latin typeface="Roboto Mono"/>
                <a:sym typeface="Roboto Mono"/>
              </a:rPr>
              <a:t>NodeList</a:t>
            </a:r>
            <a:r>
              <a:rPr lang="pt-BR" sz="2200" dirty="0">
                <a:solidFill>
                  <a:srgbClr val="1B1B1B"/>
                </a:solidFill>
                <a:latin typeface="Roboto Mono"/>
                <a:sym typeface="Roboto Mono"/>
              </a:rPr>
              <a:t>:</a:t>
            </a:r>
            <a:endParaRPr lang="pt-BR" sz="2000" dirty="0">
              <a:solidFill>
                <a:srgbClr val="1B1B1B"/>
              </a:solidFill>
              <a:latin typeface="Roboto Mono"/>
              <a:sym typeface="Roboto Mono"/>
            </a:endParaRPr>
          </a:p>
        </p:txBody>
      </p:sp>
      <p:graphicFrame>
        <p:nvGraphicFramePr>
          <p:cNvPr id="9" name="Tabela 3">
            <a:extLst>
              <a:ext uri="{FF2B5EF4-FFF2-40B4-BE49-F238E27FC236}">
                <a16:creationId xmlns:a16="http://schemas.microsoft.com/office/drawing/2014/main" id="{639E48C7-DAEB-CE24-C36F-2D0EA85CF5E0}"/>
              </a:ext>
            </a:extLst>
          </p:cNvPr>
          <p:cNvGraphicFramePr>
            <a:graphicFrameLocks noGrp="1"/>
          </p:cNvGraphicFramePr>
          <p:nvPr/>
        </p:nvGraphicFramePr>
        <p:xfrm>
          <a:off x="232400" y="3833352"/>
          <a:ext cx="11727199" cy="2506980"/>
        </p:xfrm>
        <a:graphic>
          <a:graphicData uri="http://schemas.openxmlformats.org/drawingml/2006/table">
            <a:tbl>
              <a:tblPr firstRow="1" bandRow="1">
                <a:tableStyleId>{5C22544A-7EE6-4342-B048-85BDC9FD1C3A}</a:tableStyleId>
              </a:tblPr>
              <a:tblGrid>
                <a:gridCol w="3114702">
                  <a:extLst>
                    <a:ext uri="{9D8B030D-6E8A-4147-A177-3AD203B41FA5}">
                      <a16:colId xmlns:a16="http://schemas.microsoft.com/office/drawing/2014/main" val="1033087695"/>
                    </a:ext>
                  </a:extLst>
                </a:gridCol>
                <a:gridCol w="8612497">
                  <a:extLst>
                    <a:ext uri="{9D8B030D-6E8A-4147-A177-3AD203B41FA5}">
                      <a16:colId xmlns:a16="http://schemas.microsoft.com/office/drawing/2014/main" val="896926977"/>
                    </a:ext>
                  </a:extLst>
                </a:gridCol>
              </a:tblGrid>
              <a:tr h="370840">
                <a:tc>
                  <a:txBody>
                    <a:bodyPr/>
                    <a:lstStyle/>
                    <a:p>
                      <a:pPr lvl="0" algn="ctr" fontAlgn="ctr"/>
                      <a:r>
                        <a:rPr lang="pt-BR" sz="1800" b="1" i="0" u="none" strike="noStrike">
                          <a:solidFill>
                            <a:srgbClr val="000000"/>
                          </a:solidFill>
                          <a:effectLst/>
                          <a:latin typeface="Roboto Mono"/>
                        </a:rPr>
                        <a:t>Nome</a:t>
                      </a:r>
                    </a:p>
                  </a:txBody>
                  <a:tcPr marL="7620" marR="7620" marT="7620" marB="0" anchor="ctr"/>
                </a:tc>
                <a:tc>
                  <a:txBody>
                    <a:bodyPr/>
                    <a:lstStyle/>
                    <a:p>
                      <a:pPr algn="ctr" fontAlgn="ctr"/>
                      <a:r>
                        <a:rPr lang="pt-BR" sz="1800" b="1" i="0" u="none" strike="noStrike" dirty="0">
                          <a:solidFill>
                            <a:srgbClr val="000000"/>
                          </a:solidFill>
                          <a:effectLst/>
                          <a:latin typeface="Roboto Mono"/>
                        </a:rPr>
                        <a:t>Descrição</a:t>
                      </a:r>
                    </a:p>
                  </a:txBody>
                  <a:tcPr marL="7620" marR="7620" marT="7620" marB="0" anchor="ctr"/>
                </a:tc>
                <a:extLst>
                  <a:ext uri="{0D108BD9-81ED-4DB2-BD59-A6C34878D82A}">
                    <a16:rowId xmlns:a16="http://schemas.microsoft.com/office/drawing/2014/main" val="373534074"/>
                  </a:ext>
                </a:extLst>
              </a:tr>
              <a:tr h="370840">
                <a:tc>
                  <a:txBody>
                    <a:bodyPr/>
                    <a:lstStyle/>
                    <a:p>
                      <a:pPr lvl="0" algn="l" fontAlgn="ctr"/>
                      <a:r>
                        <a:rPr lang="pt-BR" sz="1800" b="0" i="0" u="none" strike="noStrike">
                          <a:solidFill>
                            <a:srgbClr val="000000"/>
                          </a:solidFill>
                          <a:effectLst/>
                          <a:latin typeface="Roboto Mono"/>
                        </a:rPr>
                        <a:t>entry()</a:t>
                      </a:r>
                    </a:p>
                  </a:txBody>
                  <a:tcPr marL="7620" marR="7620" marT="7620" marB="0" anchor="ctr"/>
                </a:tc>
                <a:tc>
                  <a:txBody>
                    <a:bodyPr/>
                    <a:lstStyle/>
                    <a:p>
                      <a:pPr algn="l" fontAlgn="ctr"/>
                      <a:r>
                        <a:rPr lang="pt-BR" sz="1800" b="0" i="0" u="none" strike="noStrike">
                          <a:solidFill>
                            <a:srgbClr val="000000"/>
                          </a:solidFill>
                          <a:effectLst/>
                          <a:latin typeface="Roboto Mono"/>
                        </a:rPr>
                        <a:t>Retorna um Iterator com os pares chave/valor da lista</a:t>
                      </a:r>
                    </a:p>
                  </a:txBody>
                  <a:tcPr marL="7620" marR="7620" marT="7620" marB="0" anchor="ctr"/>
                </a:tc>
                <a:extLst>
                  <a:ext uri="{0D108BD9-81ED-4DB2-BD59-A6C34878D82A}">
                    <a16:rowId xmlns:a16="http://schemas.microsoft.com/office/drawing/2014/main" val="2843296941"/>
                  </a:ext>
                </a:extLst>
              </a:tr>
              <a:tr h="139366">
                <a:tc>
                  <a:txBody>
                    <a:bodyPr/>
                    <a:lstStyle/>
                    <a:p>
                      <a:pPr lvl="0" algn="l" fontAlgn="ctr"/>
                      <a:r>
                        <a:rPr lang="pt-BR" sz="1800" b="0" i="0" u="none" strike="noStrike">
                          <a:solidFill>
                            <a:srgbClr val="000000"/>
                          </a:solidFill>
                          <a:effectLst/>
                          <a:latin typeface="Roboto Mono"/>
                        </a:rPr>
                        <a:t>forEach()</a:t>
                      </a:r>
                    </a:p>
                  </a:txBody>
                  <a:tcPr marL="7620" marR="7620" marT="7620" marB="0" anchor="ctr"/>
                </a:tc>
                <a:tc>
                  <a:txBody>
                    <a:bodyPr/>
                    <a:lstStyle/>
                    <a:p>
                      <a:pPr algn="l" fontAlgn="ctr"/>
                      <a:r>
                        <a:rPr lang="pt-BR" sz="1800" b="0" i="0" u="none" strike="noStrike">
                          <a:solidFill>
                            <a:srgbClr val="000000"/>
                          </a:solidFill>
                          <a:effectLst/>
                          <a:latin typeface="Roboto Mono"/>
                        </a:rPr>
                        <a:t>Executa uma função de retorno de chamada para cada nó na lista</a:t>
                      </a:r>
                    </a:p>
                  </a:txBody>
                  <a:tcPr marL="7620" marR="7620" marT="7620" marB="0" anchor="ctr"/>
                </a:tc>
                <a:extLst>
                  <a:ext uri="{0D108BD9-81ED-4DB2-BD59-A6C34878D82A}">
                    <a16:rowId xmlns:a16="http://schemas.microsoft.com/office/drawing/2014/main" val="267016608"/>
                  </a:ext>
                </a:extLst>
              </a:tr>
              <a:tr h="370840">
                <a:tc>
                  <a:txBody>
                    <a:bodyPr/>
                    <a:lstStyle/>
                    <a:p>
                      <a:pPr lvl="0" algn="l" fontAlgn="ctr"/>
                      <a:r>
                        <a:rPr lang="pt-BR" sz="1800" b="0" i="0" u="none" strike="noStrike">
                          <a:solidFill>
                            <a:srgbClr val="000000"/>
                          </a:solidFill>
                          <a:effectLst/>
                          <a:latin typeface="Roboto Mono"/>
                        </a:rPr>
                        <a:t>item()</a:t>
                      </a:r>
                    </a:p>
                  </a:txBody>
                  <a:tcPr marL="7620" marR="7620" marT="7620" marB="0" anchor="ctr"/>
                </a:tc>
                <a:tc>
                  <a:txBody>
                    <a:bodyPr/>
                    <a:lstStyle/>
                    <a:p>
                      <a:pPr algn="l" fontAlgn="ctr"/>
                      <a:r>
                        <a:rPr lang="pt-BR" sz="1800" b="0" i="0" u="none" strike="noStrike">
                          <a:solidFill>
                            <a:srgbClr val="000000"/>
                          </a:solidFill>
                          <a:effectLst/>
                          <a:latin typeface="Roboto Mono"/>
                        </a:rPr>
                        <a:t>Retorna o nó em um índice especificado</a:t>
                      </a:r>
                    </a:p>
                  </a:txBody>
                  <a:tcPr marL="7620" marR="7620" marT="7620" marB="0" anchor="ctr"/>
                </a:tc>
                <a:extLst>
                  <a:ext uri="{0D108BD9-81ED-4DB2-BD59-A6C34878D82A}">
                    <a16:rowId xmlns:a16="http://schemas.microsoft.com/office/drawing/2014/main" val="3912563831"/>
                  </a:ext>
                </a:extLst>
              </a:tr>
              <a:tr h="370840">
                <a:tc>
                  <a:txBody>
                    <a:bodyPr/>
                    <a:lstStyle/>
                    <a:p>
                      <a:pPr lvl="0" algn="l" fontAlgn="ctr"/>
                      <a:r>
                        <a:rPr lang="pt-BR" sz="1800" b="0" i="0" u="none" strike="noStrike">
                          <a:solidFill>
                            <a:srgbClr val="000000"/>
                          </a:solidFill>
                          <a:effectLst/>
                          <a:latin typeface="Roboto Mono"/>
                        </a:rPr>
                        <a:t>keys()</a:t>
                      </a:r>
                    </a:p>
                  </a:txBody>
                  <a:tcPr marL="7620" marR="7620" marT="7620" marB="0" anchor="ctr"/>
                </a:tc>
                <a:tc>
                  <a:txBody>
                    <a:bodyPr/>
                    <a:lstStyle/>
                    <a:p>
                      <a:pPr algn="l" fontAlgn="ctr"/>
                      <a:r>
                        <a:rPr lang="pt-BR" sz="1800" b="0" i="0" u="none" strike="noStrike">
                          <a:solidFill>
                            <a:srgbClr val="000000"/>
                          </a:solidFill>
                          <a:effectLst/>
                          <a:latin typeface="Roboto Mono"/>
                        </a:rPr>
                        <a:t>Retorna um Iterator com as chaves da lista</a:t>
                      </a:r>
                    </a:p>
                  </a:txBody>
                  <a:tcPr marL="7620" marR="7620" marT="7620" marB="0" anchor="ctr"/>
                </a:tc>
                <a:extLst>
                  <a:ext uri="{0D108BD9-81ED-4DB2-BD59-A6C34878D82A}">
                    <a16:rowId xmlns:a16="http://schemas.microsoft.com/office/drawing/2014/main" val="1979608084"/>
                  </a:ext>
                </a:extLst>
              </a:tr>
              <a:tr h="370840">
                <a:tc>
                  <a:txBody>
                    <a:bodyPr/>
                    <a:lstStyle/>
                    <a:p>
                      <a:pPr lvl="0" algn="l" fontAlgn="ctr"/>
                      <a:r>
                        <a:rPr lang="pt-BR" sz="1800" b="0" i="0" u="none" strike="noStrike">
                          <a:solidFill>
                            <a:srgbClr val="000000"/>
                          </a:solidFill>
                          <a:effectLst/>
                          <a:latin typeface="Roboto Mono"/>
                        </a:rPr>
                        <a:t>length</a:t>
                      </a:r>
                    </a:p>
                  </a:txBody>
                  <a:tcPr marL="7620" marR="7620" marT="7620" marB="0" anchor="ctr"/>
                </a:tc>
                <a:tc>
                  <a:txBody>
                    <a:bodyPr/>
                    <a:lstStyle/>
                    <a:p>
                      <a:pPr algn="l" fontAlgn="ctr"/>
                      <a:r>
                        <a:rPr lang="pt-BR" sz="1800" b="0" i="0" u="none" strike="noStrike">
                          <a:solidFill>
                            <a:srgbClr val="000000"/>
                          </a:solidFill>
                          <a:effectLst/>
                          <a:latin typeface="Roboto Mono"/>
                        </a:rPr>
                        <a:t>Retorna o número de nós em um NodeList</a:t>
                      </a:r>
                    </a:p>
                  </a:txBody>
                  <a:tcPr marL="7620" marR="7620" marT="7620" marB="0" anchor="ctr"/>
                </a:tc>
                <a:extLst>
                  <a:ext uri="{0D108BD9-81ED-4DB2-BD59-A6C34878D82A}">
                    <a16:rowId xmlns:a16="http://schemas.microsoft.com/office/drawing/2014/main" val="1445398586"/>
                  </a:ext>
                </a:extLst>
              </a:tr>
              <a:tr h="370840">
                <a:tc>
                  <a:txBody>
                    <a:bodyPr/>
                    <a:lstStyle/>
                    <a:p>
                      <a:pPr lvl="0" algn="l" fontAlgn="ctr"/>
                      <a:r>
                        <a:rPr lang="pt-BR" sz="1800" b="0" i="0" u="none" strike="noStrike" dirty="0" err="1">
                          <a:solidFill>
                            <a:srgbClr val="000000"/>
                          </a:solidFill>
                          <a:effectLst/>
                          <a:latin typeface="Roboto Mono"/>
                        </a:rPr>
                        <a:t>values</a:t>
                      </a:r>
                      <a:r>
                        <a:rPr lang="pt-BR" sz="1800" b="0" i="0" u="none" strike="noStrike" dirty="0">
                          <a:solidFill>
                            <a:srgbClr val="000000"/>
                          </a:solidFill>
                          <a:effectLst/>
                          <a:latin typeface="Roboto Mono"/>
                        </a:rPr>
                        <a:t>()</a:t>
                      </a:r>
                    </a:p>
                  </a:txBody>
                  <a:tcPr marL="7620" marR="7620" marT="7620" marB="0" anchor="ctr"/>
                </a:tc>
                <a:tc>
                  <a:txBody>
                    <a:bodyPr/>
                    <a:lstStyle/>
                    <a:p>
                      <a:pPr algn="l" fontAlgn="ctr"/>
                      <a:r>
                        <a:rPr lang="pt-BR" sz="1800" b="0" i="0" u="none" strike="noStrike" dirty="0">
                          <a:solidFill>
                            <a:srgbClr val="000000"/>
                          </a:solidFill>
                          <a:effectLst/>
                          <a:latin typeface="Roboto Mono"/>
                        </a:rPr>
                        <a:t>Retorna um </a:t>
                      </a:r>
                      <a:r>
                        <a:rPr lang="pt-BR" sz="1800" b="0" i="0" u="none" strike="noStrike" dirty="0" err="1">
                          <a:solidFill>
                            <a:srgbClr val="000000"/>
                          </a:solidFill>
                          <a:effectLst/>
                          <a:latin typeface="Roboto Mono"/>
                        </a:rPr>
                        <a:t>Iterator</a:t>
                      </a:r>
                      <a:r>
                        <a:rPr lang="pt-BR" sz="1800" b="0" i="0" u="none" strike="noStrike" dirty="0">
                          <a:solidFill>
                            <a:srgbClr val="000000"/>
                          </a:solidFill>
                          <a:effectLst/>
                          <a:latin typeface="Roboto Mono"/>
                        </a:rPr>
                        <a:t> com os valores da lista</a:t>
                      </a:r>
                    </a:p>
                  </a:txBody>
                  <a:tcPr marL="7620" marR="7620" marT="7620" marB="0" anchor="ctr"/>
                </a:tc>
                <a:extLst>
                  <a:ext uri="{0D108BD9-81ED-4DB2-BD59-A6C34878D82A}">
                    <a16:rowId xmlns:a16="http://schemas.microsoft.com/office/drawing/2014/main" val="3579178723"/>
                  </a:ext>
                </a:extLst>
              </a:tr>
            </a:tbl>
          </a:graphicData>
        </a:graphic>
      </p:graphicFrame>
    </p:spTree>
    <p:extLst>
      <p:ext uri="{BB962C8B-B14F-4D97-AF65-F5344CB8AC3E}">
        <p14:creationId xmlns:p14="http://schemas.microsoft.com/office/powerpoint/2010/main" val="3387964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err="1">
                <a:solidFill>
                  <a:srgbClr val="FFDA3E"/>
                </a:solidFill>
                <a:latin typeface="Roboto Mono Medium"/>
                <a:ea typeface="Roboto Mono Medium"/>
                <a:cs typeface="Roboto Mono Medium"/>
                <a:sym typeface="Roboto Mono Medium"/>
              </a:rPr>
              <a:t>HTMLCollection</a:t>
            </a:r>
            <a:r>
              <a:rPr lang="pt-BR" sz="3600" dirty="0">
                <a:solidFill>
                  <a:srgbClr val="FFDA3E"/>
                </a:solidFill>
                <a:latin typeface="Roboto Mono Medium"/>
                <a:ea typeface="Roboto Mono Medium"/>
                <a:cs typeface="Roboto Mono Medium"/>
                <a:sym typeface="Roboto Mono Medium"/>
              </a:rPr>
              <a:t> e </a:t>
            </a:r>
            <a:r>
              <a:rPr lang="pt-BR" sz="3600" dirty="0" err="1">
                <a:solidFill>
                  <a:srgbClr val="FFDA3E"/>
                </a:solidFill>
                <a:latin typeface="Roboto Mono Medium"/>
                <a:ea typeface="Roboto Mono Medium"/>
                <a:cs typeface="Roboto Mono Medium"/>
                <a:sym typeface="Roboto Mono Medium"/>
              </a:rPr>
              <a:t>NodeList</a:t>
            </a:r>
            <a:endParaRPr lang="pt-BR" sz="3600" dirty="0">
              <a:solidFill>
                <a:srgbClr val="FFDA3E"/>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610864"/>
            <a:ext cx="11727200" cy="3731213"/>
          </a:xfrm>
          <a:prstGeom prst="rect">
            <a:avLst/>
          </a:prstGeom>
          <a:noFill/>
          <a:ln>
            <a:noFill/>
          </a:ln>
        </p:spPr>
        <p:txBody>
          <a:bodyPr spcFirstLastPara="1" wrap="square" lIns="121900" tIns="121900" rIns="121900" bIns="121900" anchor="t" anchorCtr="0">
            <a:noAutofit/>
          </a:bodyPr>
          <a:lstStyle/>
          <a:p>
            <a:pPr marL="152396">
              <a:buSzPts val="1800"/>
            </a:pPr>
            <a:r>
              <a:rPr lang="pt-BR" sz="2200" b="1" dirty="0" err="1">
                <a:solidFill>
                  <a:srgbClr val="1B1B1B"/>
                </a:solidFill>
                <a:latin typeface="Roboto Mono"/>
                <a:sym typeface="Roboto Mono"/>
              </a:rPr>
              <a:t>HTMLCollection</a:t>
            </a:r>
            <a:r>
              <a:rPr lang="pt-BR" sz="2200" b="1" dirty="0">
                <a:solidFill>
                  <a:srgbClr val="1B1B1B"/>
                </a:solidFill>
                <a:latin typeface="Roboto Mono"/>
                <a:sym typeface="Roboto Mono"/>
              </a:rPr>
              <a:t> e </a:t>
            </a:r>
            <a:r>
              <a:rPr lang="pt-BR" sz="2200" b="1" dirty="0" err="1">
                <a:solidFill>
                  <a:srgbClr val="1B1B1B"/>
                </a:solidFill>
                <a:latin typeface="Roboto Mono"/>
                <a:sym typeface="Roboto Mono"/>
              </a:rPr>
              <a:t>NodeList</a:t>
            </a:r>
            <a:r>
              <a:rPr lang="pt-BR" sz="2200" b="1" dirty="0">
                <a:solidFill>
                  <a:srgbClr val="1B1B1B"/>
                </a:solidFill>
                <a:latin typeface="Roboto Mono"/>
                <a:sym typeface="Roboto Mono"/>
              </a:rPr>
              <a:t> Não são uma matriz! </a:t>
            </a:r>
          </a:p>
          <a:p>
            <a:pPr marL="152396">
              <a:buSzPts val="1800"/>
            </a:pPr>
            <a:r>
              <a:rPr lang="pt-BR" sz="2200" dirty="0">
                <a:solidFill>
                  <a:srgbClr val="1B1B1B"/>
                </a:solidFill>
                <a:latin typeface="Roboto Mono"/>
                <a:sym typeface="Roboto Mono"/>
              </a:rPr>
              <a:t>Um </a:t>
            </a:r>
            <a:r>
              <a:rPr lang="pt-BR" sz="2200" b="1" dirty="0" err="1">
                <a:solidFill>
                  <a:srgbClr val="1B1B1B"/>
                </a:solidFill>
                <a:latin typeface="Roboto Mono"/>
                <a:sym typeface="Roboto Mono"/>
              </a:rPr>
              <a:t>HTMLCollection</a:t>
            </a:r>
            <a:r>
              <a:rPr lang="pt-BR" sz="2200" b="1" dirty="0">
                <a:solidFill>
                  <a:srgbClr val="1B1B1B"/>
                </a:solidFill>
                <a:latin typeface="Roboto Mono"/>
                <a:sym typeface="Roboto Mono"/>
              </a:rPr>
              <a:t> e </a:t>
            </a:r>
            <a:r>
              <a:rPr lang="pt-BR" sz="2200" b="1" dirty="0" err="1">
                <a:solidFill>
                  <a:srgbClr val="1B1B1B"/>
                </a:solidFill>
                <a:latin typeface="Roboto Mono"/>
                <a:sym typeface="Roboto Mono"/>
              </a:rPr>
              <a:t>NodeList</a:t>
            </a:r>
            <a:r>
              <a:rPr lang="pt-BR" sz="2200" dirty="0">
                <a:solidFill>
                  <a:srgbClr val="1B1B1B"/>
                </a:solidFill>
                <a:latin typeface="Roboto Mono"/>
                <a:sym typeface="Roboto Mono"/>
              </a:rPr>
              <a:t> não são um </a:t>
            </a:r>
            <a:r>
              <a:rPr lang="pt-BR" sz="2200" dirty="0" err="1">
                <a:solidFill>
                  <a:srgbClr val="1B1B1B"/>
                </a:solidFill>
                <a:latin typeface="Roboto Mono"/>
                <a:sym typeface="Roboto Mono"/>
              </a:rPr>
              <a:t>Array</a:t>
            </a:r>
            <a:r>
              <a:rPr lang="pt-BR" sz="2200" dirty="0">
                <a:solidFill>
                  <a:srgbClr val="1B1B1B"/>
                </a:solidFill>
                <a:latin typeface="Roboto Mono"/>
                <a:sym typeface="Roboto Mono"/>
              </a:rPr>
              <a:t>!</a:t>
            </a:r>
          </a:p>
          <a:p>
            <a:pPr marL="152396">
              <a:buSzPts val="1800"/>
            </a:pPr>
            <a:r>
              <a:rPr lang="pt-BR" sz="2200" dirty="0">
                <a:solidFill>
                  <a:srgbClr val="1B1B1B"/>
                </a:solidFill>
                <a:latin typeface="Roboto Mono"/>
                <a:sym typeface="Roboto Mono"/>
              </a:rPr>
              <a:t>Um </a:t>
            </a:r>
            <a:r>
              <a:rPr lang="pt-BR" sz="2200" b="1" dirty="0" err="1">
                <a:solidFill>
                  <a:srgbClr val="1B1B1B"/>
                </a:solidFill>
                <a:latin typeface="Roboto Mono"/>
                <a:sym typeface="Roboto Mono"/>
              </a:rPr>
              <a:t>HTMLCollection</a:t>
            </a:r>
            <a:r>
              <a:rPr lang="pt-BR" sz="2200" b="1" dirty="0">
                <a:solidFill>
                  <a:srgbClr val="1B1B1B"/>
                </a:solidFill>
                <a:latin typeface="Roboto Mono"/>
                <a:sym typeface="Roboto Mono"/>
              </a:rPr>
              <a:t> e </a:t>
            </a:r>
            <a:r>
              <a:rPr lang="pt-BR" sz="2200" b="1" dirty="0" err="1">
                <a:solidFill>
                  <a:srgbClr val="1B1B1B"/>
                </a:solidFill>
                <a:latin typeface="Roboto Mono"/>
                <a:sym typeface="Roboto Mono"/>
              </a:rPr>
              <a:t>NodeList</a:t>
            </a:r>
            <a:r>
              <a:rPr lang="pt-BR" sz="2200" dirty="0">
                <a:solidFill>
                  <a:srgbClr val="1B1B1B"/>
                </a:solidFill>
                <a:latin typeface="Roboto Mono"/>
                <a:sym typeface="Roboto Mono"/>
              </a:rPr>
              <a:t> pode parecer um </a:t>
            </a:r>
            <a:r>
              <a:rPr lang="pt-BR" sz="2200" dirty="0" err="1">
                <a:solidFill>
                  <a:srgbClr val="1B1B1B"/>
                </a:solidFill>
                <a:latin typeface="Roboto Mono"/>
                <a:sym typeface="Roboto Mono"/>
              </a:rPr>
              <a:t>array</a:t>
            </a:r>
            <a:r>
              <a:rPr lang="pt-BR" sz="2200" dirty="0">
                <a:solidFill>
                  <a:srgbClr val="1B1B1B"/>
                </a:solidFill>
                <a:latin typeface="Roboto Mono"/>
                <a:sym typeface="Roboto Mono"/>
              </a:rPr>
              <a:t>, mas não é.</a:t>
            </a:r>
          </a:p>
          <a:p>
            <a:pPr marL="152396">
              <a:buSzPts val="1800"/>
            </a:pPr>
            <a:r>
              <a:rPr lang="pt-BR" sz="2200" dirty="0">
                <a:solidFill>
                  <a:srgbClr val="1B1B1B"/>
                </a:solidFill>
                <a:latin typeface="Roboto Mono"/>
                <a:sym typeface="Roboto Mono"/>
              </a:rPr>
              <a:t>Você pode percorrer um </a:t>
            </a:r>
            <a:r>
              <a:rPr lang="pt-BR" sz="2200" b="1" dirty="0" err="1">
                <a:solidFill>
                  <a:srgbClr val="1B1B1B"/>
                </a:solidFill>
                <a:latin typeface="Roboto Mono"/>
                <a:sym typeface="Roboto Mono"/>
              </a:rPr>
              <a:t>HTMLCollection</a:t>
            </a:r>
            <a:r>
              <a:rPr lang="pt-BR" sz="2200" b="1" dirty="0">
                <a:solidFill>
                  <a:srgbClr val="1B1B1B"/>
                </a:solidFill>
                <a:latin typeface="Roboto Mono"/>
                <a:sym typeface="Roboto Mono"/>
              </a:rPr>
              <a:t> e </a:t>
            </a:r>
            <a:r>
              <a:rPr lang="pt-BR" sz="2200" b="1" dirty="0" err="1">
                <a:solidFill>
                  <a:srgbClr val="1B1B1B"/>
                </a:solidFill>
                <a:latin typeface="Roboto Mono"/>
                <a:sym typeface="Roboto Mono"/>
              </a:rPr>
              <a:t>NodeList</a:t>
            </a:r>
            <a:r>
              <a:rPr lang="pt-BR" sz="2200" dirty="0">
                <a:solidFill>
                  <a:srgbClr val="1B1B1B"/>
                </a:solidFill>
                <a:latin typeface="Roboto Mono"/>
                <a:sym typeface="Roboto Mono"/>
              </a:rPr>
              <a:t> e fazer referência a seus </a:t>
            </a:r>
            <a:r>
              <a:rPr lang="pt-BR" sz="2200" dirty="0">
                <a:solidFill>
                  <a:srgbClr val="1B1B1B"/>
                </a:solidFill>
                <a:latin typeface="Roboto Mono"/>
              </a:rPr>
              <a:t>elementos</a:t>
            </a:r>
            <a:r>
              <a:rPr lang="pt-BR" sz="2400" b="0" i="0" dirty="0">
                <a:solidFill>
                  <a:srgbClr val="000000"/>
                </a:solidFill>
                <a:effectLst/>
                <a:latin typeface="Verdana" panose="020B0604030504040204" pitchFamily="34" charset="0"/>
              </a:rPr>
              <a:t>/</a:t>
            </a:r>
            <a:r>
              <a:rPr lang="pt-BR" sz="2200" dirty="0">
                <a:solidFill>
                  <a:srgbClr val="1B1B1B"/>
                </a:solidFill>
                <a:latin typeface="Roboto Mono"/>
                <a:sym typeface="Roboto Mono"/>
              </a:rPr>
              <a:t>nós com um índice.</a:t>
            </a:r>
          </a:p>
          <a:p>
            <a:pPr marL="152396">
              <a:buSzPts val="1800"/>
            </a:pPr>
            <a:r>
              <a:rPr lang="pt-BR" sz="2200" dirty="0">
                <a:solidFill>
                  <a:srgbClr val="1B1B1B"/>
                </a:solidFill>
                <a:latin typeface="Roboto Mono"/>
                <a:sym typeface="Roboto Mono"/>
              </a:rPr>
              <a:t>Mas você não pode usar métodos </a:t>
            </a:r>
            <a:r>
              <a:rPr lang="pt-BR" sz="2200" dirty="0" err="1">
                <a:solidFill>
                  <a:srgbClr val="1B1B1B"/>
                </a:solidFill>
                <a:latin typeface="Roboto Mono"/>
                <a:sym typeface="Roboto Mono"/>
              </a:rPr>
              <a:t>Array</a:t>
            </a:r>
            <a:r>
              <a:rPr lang="pt-BR" sz="2200" dirty="0">
                <a:solidFill>
                  <a:srgbClr val="1B1B1B"/>
                </a:solidFill>
                <a:latin typeface="Roboto Mono"/>
                <a:sym typeface="Roboto Mono"/>
              </a:rPr>
              <a:t> como </a:t>
            </a:r>
            <a:r>
              <a:rPr lang="pt-BR" sz="2200" dirty="0" err="1">
                <a:solidFill>
                  <a:srgbClr val="1B1B1B"/>
                </a:solidFill>
                <a:latin typeface="Roboto Mono"/>
                <a:sym typeface="Roboto Mono"/>
              </a:rPr>
              <a:t>push</a:t>
            </a:r>
            <a:r>
              <a:rPr lang="pt-BR" sz="2200" dirty="0">
                <a:solidFill>
                  <a:srgbClr val="1B1B1B"/>
                </a:solidFill>
                <a:latin typeface="Roboto Mono"/>
                <a:sym typeface="Roboto Mono"/>
              </a:rPr>
              <a:t>(), pop() ou </a:t>
            </a:r>
            <a:r>
              <a:rPr lang="pt-BR" sz="2200" dirty="0" err="1">
                <a:solidFill>
                  <a:srgbClr val="1B1B1B"/>
                </a:solidFill>
                <a:latin typeface="Roboto Mono"/>
                <a:sym typeface="Roboto Mono"/>
              </a:rPr>
              <a:t>join</a:t>
            </a:r>
            <a:r>
              <a:rPr lang="pt-BR" sz="2200" dirty="0">
                <a:solidFill>
                  <a:srgbClr val="1B1B1B"/>
                </a:solidFill>
                <a:latin typeface="Roboto Mono"/>
                <a:sym typeface="Roboto Mono"/>
              </a:rPr>
              <a:t>() em um </a:t>
            </a:r>
            <a:r>
              <a:rPr lang="pt-BR" sz="2200" b="1" dirty="0" err="1">
                <a:solidFill>
                  <a:srgbClr val="1B1B1B"/>
                </a:solidFill>
                <a:latin typeface="Roboto Mono"/>
                <a:sym typeface="Roboto Mono"/>
              </a:rPr>
              <a:t>HTMLCollection</a:t>
            </a:r>
            <a:r>
              <a:rPr lang="pt-BR" sz="2200" b="1" dirty="0">
                <a:solidFill>
                  <a:srgbClr val="1B1B1B"/>
                </a:solidFill>
                <a:latin typeface="Roboto Mono"/>
                <a:sym typeface="Roboto Mono"/>
              </a:rPr>
              <a:t> e </a:t>
            </a:r>
            <a:r>
              <a:rPr lang="pt-BR" sz="2200" b="1" dirty="0" err="1">
                <a:solidFill>
                  <a:srgbClr val="1B1B1B"/>
                </a:solidFill>
                <a:latin typeface="Roboto Mono"/>
                <a:sym typeface="Roboto Mono"/>
              </a:rPr>
              <a:t>NodeList</a:t>
            </a:r>
            <a:r>
              <a:rPr lang="pt-BR" sz="2200" b="1" dirty="0">
                <a:solidFill>
                  <a:srgbClr val="1B1B1B"/>
                </a:solidFill>
                <a:latin typeface="Roboto Mono"/>
                <a:sym typeface="Roboto Mono"/>
              </a:rPr>
              <a:t> </a:t>
            </a:r>
            <a:r>
              <a:rPr lang="pt-BR" sz="2200" dirty="0">
                <a:solidFill>
                  <a:srgbClr val="1B1B1B"/>
                </a:solidFill>
                <a:latin typeface="Roboto Mono"/>
                <a:sym typeface="Roboto Mono"/>
              </a:rPr>
              <a:t>.</a:t>
            </a:r>
            <a:endParaRPr lang="pt-BR" sz="2000" dirty="0">
              <a:solidFill>
                <a:srgbClr val="1B1B1B"/>
              </a:solidFill>
              <a:latin typeface="Roboto Mono"/>
              <a:sym typeface="Roboto Mono"/>
            </a:endParaRPr>
          </a:p>
        </p:txBody>
      </p:sp>
    </p:spTree>
    <p:extLst>
      <p:ext uri="{BB962C8B-B14F-4D97-AF65-F5344CB8AC3E}">
        <p14:creationId xmlns:p14="http://schemas.microsoft.com/office/powerpoint/2010/main" val="2134758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5400" dirty="0">
              <a:solidFill>
                <a:srgbClr val="D6BA32"/>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A diferença entre </a:t>
            </a:r>
            <a:r>
              <a:rPr lang="pt-BR" sz="3600" dirty="0" err="1">
                <a:solidFill>
                  <a:srgbClr val="FFDA3E"/>
                </a:solidFill>
                <a:latin typeface="Roboto Mono Medium"/>
                <a:ea typeface="Roboto Mono Medium"/>
                <a:cs typeface="Roboto Mono Medium"/>
                <a:sym typeface="Roboto Mono Medium"/>
              </a:rPr>
              <a:t>HTMLCollection</a:t>
            </a:r>
            <a:r>
              <a:rPr lang="pt-BR" sz="3600" dirty="0">
                <a:solidFill>
                  <a:srgbClr val="FFDA3E"/>
                </a:solidFill>
                <a:latin typeface="Roboto Mono Medium"/>
                <a:ea typeface="Roboto Mono Medium"/>
                <a:cs typeface="Roboto Mono Medium"/>
                <a:sym typeface="Roboto Mono Medium"/>
              </a:rPr>
              <a:t> e </a:t>
            </a:r>
            <a:r>
              <a:rPr lang="pt-BR" sz="3600" dirty="0" err="1">
                <a:solidFill>
                  <a:srgbClr val="FFDA3E"/>
                </a:solidFill>
                <a:latin typeface="Roboto Mono Medium"/>
                <a:ea typeface="Roboto Mono Medium"/>
                <a:cs typeface="Roboto Mono Medium"/>
                <a:sym typeface="Roboto Mono Medium"/>
              </a:rPr>
              <a:t>NodeList</a:t>
            </a:r>
            <a:endParaRPr lang="pt-BR" sz="3600" dirty="0">
              <a:solidFill>
                <a:srgbClr val="FFDA3E"/>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409946"/>
            <a:ext cx="11727200" cy="3932131"/>
          </a:xfrm>
          <a:prstGeom prst="rect">
            <a:avLst/>
          </a:prstGeom>
          <a:noFill/>
          <a:ln>
            <a:noFill/>
          </a:ln>
        </p:spPr>
        <p:txBody>
          <a:bodyPr spcFirstLastPara="1" wrap="square" lIns="121900" tIns="121900" rIns="121900" bIns="121900" anchor="t" anchorCtr="0">
            <a:noAutofit/>
          </a:bodyPr>
          <a:lstStyle/>
          <a:p>
            <a:pPr marL="152396">
              <a:buSzPts val="1800"/>
            </a:pPr>
            <a:r>
              <a:rPr lang="pt-BR" sz="1400" dirty="0">
                <a:solidFill>
                  <a:srgbClr val="1B1B1B"/>
                </a:solidFill>
                <a:latin typeface="Roboto Mono"/>
                <a:sym typeface="Roboto Mono"/>
              </a:rPr>
              <a:t>Uma </a:t>
            </a:r>
            <a:r>
              <a:rPr lang="pt-BR" sz="1400" dirty="0" err="1">
                <a:solidFill>
                  <a:srgbClr val="1B1B1B"/>
                </a:solidFill>
                <a:latin typeface="Roboto Mono"/>
                <a:sym typeface="Roboto Mono"/>
              </a:rPr>
              <a:t>NodeList</a:t>
            </a:r>
            <a:r>
              <a:rPr lang="pt-BR" sz="1400" dirty="0">
                <a:solidFill>
                  <a:srgbClr val="1B1B1B"/>
                </a:solidFill>
                <a:latin typeface="Roboto Mono"/>
                <a:sym typeface="Roboto Mono"/>
              </a:rPr>
              <a:t> e uma coleção HTML são praticamente a mesma coisa.</a:t>
            </a:r>
          </a:p>
          <a:p>
            <a:pPr marL="152396">
              <a:buSzPts val="1800"/>
            </a:pPr>
            <a:r>
              <a:rPr lang="pt-BR" sz="1400" dirty="0">
                <a:solidFill>
                  <a:srgbClr val="1B1B1B"/>
                </a:solidFill>
                <a:latin typeface="Roboto Mono"/>
                <a:sym typeface="Roboto Mono"/>
              </a:rPr>
              <a:t>Ambos são coleções semelhantes a </a:t>
            </a:r>
            <a:r>
              <a:rPr lang="pt-BR" sz="1400" dirty="0" err="1">
                <a:solidFill>
                  <a:srgbClr val="1B1B1B"/>
                </a:solidFill>
                <a:latin typeface="Roboto Mono"/>
                <a:sym typeface="Roboto Mono"/>
              </a:rPr>
              <a:t>arrays</a:t>
            </a:r>
            <a:r>
              <a:rPr lang="pt-BR" sz="1400" dirty="0">
                <a:solidFill>
                  <a:srgbClr val="1B1B1B"/>
                </a:solidFill>
                <a:latin typeface="Roboto Mono"/>
                <a:sym typeface="Roboto Mono"/>
              </a:rPr>
              <a:t> (listas) de nós (elementos) extraídos de um documento. Os nós podem ser acessados ​​por números de índice. O índice começa em 0.</a:t>
            </a:r>
          </a:p>
          <a:p>
            <a:pPr marL="152396">
              <a:buSzPts val="1800"/>
            </a:pPr>
            <a:r>
              <a:rPr lang="pt-BR" sz="1400" dirty="0">
                <a:solidFill>
                  <a:srgbClr val="1B1B1B"/>
                </a:solidFill>
                <a:latin typeface="Roboto Mono"/>
                <a:sym typeface="Roboto Mono"/>
              </a:rPr>
              <a:t>Ambos possuem uma propriedade </a:t>
            </a:r>
            <a:r>
              <a:rPr lang="pt-BR" sz="1400" dirty="0" err="1">
                <a:solidFill>
                  <a:srgbClr val="1B1B1B"/>
                </a:solidFill>
                <a:latin typeface="Roboto Mono"/>
                <a:sym typeface="Roboto Mono"/>
              </a:rPr>
              <a:t>length</a:t>
            </a:r>
            <a:r>
              <a:rPr lang="pt-BR" sz="1400" dirty="0">
                <a:solidFill>
                  <a:srgbClr val="1B1B1B"/>
                </a:solidFill>
                <a:latin typeface="Roboto Mono"/>
                <a:sym typeface="Roboto Mono"/>
              </a:rPr>
              <a:t> que retorna o número de elementos da lista (coleção).</a:t>
            </a:r>
          </a:p>
          <a:p>
            <a:pPr marL="152396">
              <a:buSzPts val="1800"/>
            </a:pPr>
            <a:r>
              <a:rPr lang="pt-BR" sz="1400" dirty="0">
                <a:solidFill>
                  <a:srgbClr val="1B1B1B"/>
                </a:solidFill>
                <a:latin typeface="Roboto Mono"/>
                <a:sym typeface="Roboto Mono"/>
              </a:rPr>
              <a:t>Um </a:t>
            </a:r>
            <a:r>
              <a:rPr lang="pt-BR" sz="1400" dirty="0" err="1">
                <a:solidFill>
                  <a:srgbClr val="1B1B1B"/>
                </a:solidFill>
                <a:latin typeface="Roboto Mono"/>
                <a:sym typeface="Roboto Mono"/>
              </a:rPr>
              <a:t>HTMLCollection</a:t>
            </a:r>
            <a:r>
              <a:rPr lang="pt-BR" sz="1400" dirty="0">
                <a:solidFill>
                  <a:srgbClr val="1B1B1B"/>
                </a:solidFill>
                <a:latin typeface="Roboto Mono"/>
                <a:sym typeface="Roboto Mono"/>
              </a:rPr>
              <a:t> é uma coleção de elementos de documento .</a:t>
            </a:r>
          </a:p>
          <a:p>
            <a:pPr marL="152396">
              <a:buSzPts val="1800"/>
            </a:pPr>
            <a:r>
              <a:rPr lang="pt-BR" sz="1400" dirty="0">
                <a:solidFill>
                  <a:srgbClr val="1B1B1B"/>
                </a:solidFill>
                <a:latin typeface="Roboto Mono"/>
                <a:sym typeface="Roboto Mono"/>
              </a:rPr>
              <a:t>Uma </a:t>
            </a:r>
            <a:r>
              <a:rPr lang="pt-BR" sz="1400" dirty="0" err="1">
                <a:solidFill>
                  <a:srgbClr val="1B1B1B"/>
                </a:solidFill>
                <a:latin typeface="Roboto Mono"/>
                <a:sym typeface="Roboto Mono"/>
              </a:rPr>
              <a:t>NodeList</a:t>
            </a:r>
            <a:r>
              <a:rPr lang="pt-BR" sz="1400" dirty="0">
                <a:solidFill>
                  <a:srgbClr val="1B1B1B"/>
                </a:solidFill>
                <a:latin typeface="Roboto Mono"/>
                <a:sym typeface="Roboto Mono"/>
              </a:rPr>
              <a:t> é uma coleção de nós de documento (nós de elemento, nós de atributo e nós de texto).</a:t>
            </a:r>
          </a:p>
          <a:p>
            <a:pPr marL="152396">
              <a:buSzPts val="1800"/>
            </a:pPr>
            <a:r>
              <a:rPr lang="pt-BR" sz="1400" dirty="0">
                <a:solidFill>
                  <a:srgbClr val="1B1B1B"/>
                </a:solidFill>
                <a:latin typeface="Roboto Mono"/>
                <a:sym typeface="Roboto Mono"/>
              </a:rPr>
              <a:t>Itens </a:t>
            </a:r>
            <a:r>
              <a:rPr lang="pt-BR" sz="1400" dirty="0" err="1">
                <a:solidFill>
                  <a:srgbClr val="1B1B1B"/>
                </a:solidFill>
                <a:latin typeface="Roboto Mono"/>
                <a:sym typeface="Roboto Mono"/>
              </a:rPr>
              <a:t>HTMLCollection</a:t>
            </a:r>
            <a:r>
              <a:rPr lang="pt-BR" sz="1400" dirty="0">
                <a:solidFill>
                  <a:srgbClr val="1B1B1B"/>
                </a:solidFill>
                <a:latin typeface="Roboto Mono"/>
                <a:sym typeface="Roboto Mono"/>
              </a:rPr>
              <a:t> podem ser acessados ​​por seu nome, id ou número de índice.</a:t>
            </a:r>
          </a:p>
          <a:p>
            <a:pPr marL="152396">
              <a:buSzPts val="1800"/>
            </a:pPr>
            <a:r>
              <a:rPr lang="pt-BR" sz="1400" dirty="0">
                <a:solidFill>
                  <a:srgbClr val="1B1B1B"/>
                </a:solidFill>
                <a:latin typeface="Roboto Mono"/>
                <a:sym typeface="Roboto Mono"/>
              </a:rPr>
              <a:t>Os itens </a:t>
            </a:r>
            <a:r>
              <a:rPr lang="pt-BR" sz="1400" dirty="0" err="1">
                <a:solidFill>
                  <a:srgbClr val="1B1B1B"/>
                </a:solidFill>
                <a:latin typeface="Roboto Mono"/>
                <a:sym typeface="Roboto Mono"/>
              </a:rPr>
              <a:t>NodeList</a:t>
            </a:r>
            <a:r>
              <a:rPr lang="pt-BR" sz="1400" dirty="0">
                <a:solidFill>
                  <a:srgbClr val="1B1B1B"/>
                </a:solidFill>
                <a:latin typeface="Roboto Mono"/>
                <a:sym typeface="Roboto Mono"/>
              </a:rPr>
              <a:t> só podem ser acessados ​​por seu número de índice.</a:t>
            </a:r>
          </a:p>
          <a:p>
            <a:pPr marL="152396">
              <a:buSzPts val="1800"/>
            </a:pPr>
            <a:r>
              <a:rPr lang="pt-BR" sz="1400" dirty="0">
                <a:solidFill>
                  <a:srgbClr val="1B1B1B"/>
                </a:solidFill>
                <a:latin typeface="Roboto Mono"/>
                <a:sym typeface="Roboto Mono"/>
              </a:rPr>
              <a:t>Uma </a:t>
            </a:r>
            <a:r>
              <a:rPr lang="pt-BR" sz="1400" dirty="0" err="1">
                <a:solidFill>
                  <a:srgbClr val="1B1B1B"/>
                </a:solidFill>
                <a:latin typeface="Roboto Mono"/>
                <a:sym typeface="Roboto Mono"/>
              </a:rPr>
              <a:t>HTMLCollection</a:t>
            </a:r>
            <a:r>
              <a:rPr lang="pt-BR" sz="1400" dirty="0">
                <a:solidFill>
                  <a:srgbClr val="1B1B1B"/>
                </a:solidFill>
                <a:latin typeface="Roboto Mono"/>
                <a:sym typeface="Roboto Mono"/>
              </a:rPr>
              <a:t> é sempre uma coleção ativa . Exemplo: Se você adicionar um elemento &lt;li&gt; a uma lista no DOM, a lista no </a:t>
            </a:r>
            <a:r>
              <a:rPr lang="pt-BR" sz="1400" dirty="0" err="1">
                <a:solidFill>
                  <a:srgbClr val="1B1B1B"/>
                </a:solidFill>
                <a:latin typeface="Roboto Mono"/>
                <a:sym typeface="Roboto Mono"/>
              </a:rPr>
              <a:t>HTMLCollection</a:t>
            </a:r>
            <a:r>
              <a:rPr lang="pt-BR" sz="1400" dirty="0">
                <a:solidFill>
                  <a:srgbClr val="1B1B1B"/>
                </a:solidFill>
                <a:latin typeface="Roboto Mono"/>
                <a:sym typeface="Roboto Mono"/>
              </a:rPr>
              <a:t> também será alterada.</a:t>
            </a:r>
          </a:p>
          <a:p>
            <a:pPr marL="152396">
              <a:buSzPts val="1800"/>
            </a:pPr>
            <a:r>
              <a:rPr lang="pt-BR" sz="1400" dirty="0">
                <a:solidFill>
                  <a:srgbClr val="1B1B1B"/>
                </a:solidFill>
                <a:latin typeface="Roboto Mono"/>
                <a:sym typeface="Roboto Mono"/>
              </a:rPr>
              <a:t>Um </a:t>
            </a:r>
            <a:r>
              <a:rPr lang="pt-BR" sz="1400" dirty="0" err="1">
                <a:solidFill>
                  <a:srgbClr val="1B1B1B"/>
                </a:solidFill>
                <a:latin typeface="Roboto Mono"/>
                <a:sym typeface="Roboto Mono"/>
              </a:rPr>
              <a:t>NodeList</a:t>
            </a:r>
            <a:r>
              <a:rPr lang="pt-BR" sz="1400" dirty="0">
                <a:solidFill>
                  <a:srgbClr val="1B1B1B"/>
                </a:solidFill>
                <a:latin typeface="Roboto Mono"/>
                <a:sym typeface="Roboto Mono"/>
              </a:rPr>
              <a:t> geralmente é uma coleção estática . Exemplo: Se você adicionar um elemento &lt;li&gt; a uma lista no DOM, a lista em </a:t>
            </a:r>
            <a:r>
              <a:rPr lang="pt-BR" sz="1400" dirty="0" err="1">
                <a:solidFill>
                  <a:srgbClr val="1B1B1B"/>
                </a:solidFill>
                <a:latin typeface="Roboto Mono"/>
                <a:sym typeface="Roboto Mono"/>
              </a:rPr>
              <a:t>NodeList</a:t>
            </a:r>
            <a:r>
              <a:rPr lang="pt-BR" sz="1400" dirty="0">
                <a:solidFill>
                  <a:srgbClr val="1B1B1B"/>
                </a:solidFill>
                <a:latin typeface="Roboto Mono"/>
                <a:sym typeface="Roboto Mono"/>
              </a:rPr>
              <a:t> não será alterada.</a:t>
            </a:r>
          </a:p>
          <a:p>
            <a:pPr marL="152396">
              <a:buSzPts val="1800"/>
            </a:pPr>
            <a:r>
              <a:rPr lang="pt-BR" sz="1400" dirty="0">
                <a:solidFill>
                  <a:srgbClr val="1B1B1B"/>
                </a:solidFill>
                <a:latin typeface="Roboto Mono"/>
                <a:sym typeface="Roboto Mono"/>
              </a:rPr>
              <a:t>Os métodos </a:t>
            </a:r>
            <a:r>
              <a:rPr lang="pt-BR" sz="1400" dirty="0" err="1">
                <a:solidFill>
                  <a:srgbClr val="1B1B1B"/>
                </a:solidFill>
                <a:latin typeface="Roboto Mono"/>
                <a:sym typeface="Roboto Mono"/>
              </a:rPr>
              <a:t>getElementsByClassName</a:t>
            </a:r>
            <a:r>
              <a:rPr lang="pt-BR" sz="1400" dirty="0">
                <a:solidFill>
                  <a:srgbClr val="1B1B1B"/>
                </a:solidFill>
                <a:latin typeface="Roboto Mono"/>
                <a:sym typeface="Roboto Mono"/>
              </a:rPr>
              <a:t>()e </a:t>
            </a:r>
            <a:r>
              <a:rPr lang="pt-BR" sz="1400" dirty="0" err="1">
                <a:solidFill>
                  <a:srgbClr val="1B1B1B"/>
                </a:solidFill>
                <a:latin typeface="Roboto Mono"/>
                <a:sym typeface="Roboto Mono"/>
              </a:rPr>
              <a:t>getElementsByTagName</a:t>
            </a:r>
            <a:r>
              <a:rPr lang="pt-BR" sz="1400" dirty="0">
                <a:solidFill>
                  <a:srgbClr val="1B1B1B"/>
                </a:solidFill>
                <a:latin typeface="Roboto Mono"/>
                <a:sym typeface="Roboto Mono"/>
              </a:rPr>
              <a:t>() retornam um </a:t>
            </a:r>
            <a:r>
              <a:rPr lang="pt-BR" sz="1400" dirty="0" err="1">
                <a:solidFill>
                  <a:srgbClr val="1B1B1B"/>
                </a:solidFill>
                <a:latin typeface="Roboto Mono"/>
                <a:sym typeface="Roboto Mono"/>
              </a:rPr>
              <a:t>HTMLCollection</a:t>
            </a:r>
            <a:r>
              <a:rPr lang="pt-BR" sz="1400" dirty="0">
                <a:solidFill>
                  <a:srgbClr val="1B1B1B"/>
                </a:solidFill>
                <a:latin typeface="Roboto Mono"/>
                <a:sym typeface="Roboto Mono"/>
              </a:rPr>
              <a:t> ativo.</a:t>
            </a:r>
          </a:p>
          <a:p>
            <a:pPr marL="152396">
              <a:buSzPts val="1800"/>
            </a:pPr>
            <a:r>
              <a:rPr lang="pt-BR" sz="1400" dirty="0">
                <a:solidFill>
                  <a:srgbClr val="1B1B1B"/>
                </a:solidFill>
                <a:latin typeface="Roboto Mono"/>
                <a:sym typeface="Roboto Mono"/>
              </a:rPr>
              <a:t>O </a:t>
            </a:r>
            <a:r>
              <a:rPr lang="pt-BR" sz="1400" dirty="0" err="1">
                <a:solidFill>
                  <a:srgbClr val="1B1B1B"/>
                </a:solidFill>
                <a:latin typeface="Roboto Mono"/>
                <a:sym typeface="Roboto Mono"/>
              </a:rPr>
              <a:t>querySelectorAll</a:t>
            </a:r>
            <a:r>
              <a:rPr lang="pt-BR" sz="1400" dirty="0">
                <a:solidFill>
                  <a:srgbClr val="1B1B1B"/>
                </a:solidFill>
                <a:latin typeface="Roboto Mono"/>
                <a:sym typeface="Roboto Mono"/>
              </a:rPr>
              <a:t>()método retorna um </a:t>
            </a:r>
            <a:r>
              <a:rPr lang="pt-BR" sz="1400" dirty="0" err="1">
                <a:solidFill>
                  <a:srgbClr val="1B1B1B"/>
                </a:solidFill>
                <a:latin typeface="Roboto Mono"/>
                <a:sym typeface="Roboto Mono"/>
              </a:rPr>
              <a:t>NodeList</a:t>
            </a:r>
            <a:r>
              <a:rPr lang="pt-BR" sz="1400" dirty="0">
                <a:solidFill>
                  <a:srgbClr val="1B1B1B"/>
                </a:solidFill>
                <a:latin typeface="Roboto Mono"/>
                <a:sym typeface="Roboto Mono"/>
              </a:rPr>
              <a:t> estático.</a:t>
            </a:r>
            <a:endParaRPr lang="pt-BR" sz="1400" b="1" dirty="0">
              <a:solidFill>
                <a:srgbClr val="1B1B1B"/>
              </a:solidFill>
              <a:latin typeface="Roboto Mono"/>
              <a:sym typeface="Roboto Mono"/>
            </a:endParaRPr>
          </a:p>
          <a:p>
            <a:pPr marL="152396">
              <a:buSzPts val="1800"/>
            </a:pPr>
            <a:r>
              <a:rPr lang="pt-BR" sz="1400" dirty="0">
                <a:solidFill>
                  <a:srgbClr val="1B1B1B"/>
                </a:solidFill>
                <a:latin typeface="Roboto Mono"/>
                <a:sym typeface="Roboto Mono"/>
              </a:rPr>
              <a:t>A </a:t>
            </a:r>
            <a:r>
              <a:rPr lang="pt-BR" sz="1400" dirty="0" err="1">
                <a:solidFill>
                  <a:srgbClr val="1B1B1B"/>
                </a:solidFill>
                <a:latin typeface="Roboto Mono"/>
                <a:sym typeface="Roboto Mono"/>
              </a:rPr>
              <a:t>childNodespropriedade</a:t>
            </a:r>
            <a:r>
              <a:rPr lang="pt-BR" sz="1400" dirty="0">
                <a:solidFill>
                  <a:srgbClr val="1B1B1B"/>
                </a:solidFill>
                <a:latin typeface="Roboto Mono"/>
                <a:sym typeface="Roboto Mono"/>
              </a:rPr>
              <a:t> retorna uma </a:t>
            </a:r>
            <a:r>
              <a:rPr lang="pt-BR" sz="1400" dirty="0" err="1">
                <a:solidFill>
                  <a:srgbClr val="1B1B1B"/>
                </a:solidFill>
                <a:latin typeface="Roboto Mono"/>
                <a:sym typeface="Roboto Mono"/>
              </a:rPr>
              <a:t>NodeList</a:t>
            </a:r>
            <a:r>
              <a:rPr lang="pt-BR" sz="1400" dirty="0">
                <a:solidFill>
                  <a:srgbClr val="1B1B1B"/>
                </a:solidFill>
                <a:latin typeface="Roboto Mono"/>
                <a:sym typeface="Roboto Mono"/>
              </a:rPr>
              <a:t> ativa.</a:t>
            </a:r>
          </a:p>
        </p:txBody>
      </p:sp>
    </p:spTree>
    <p:extLst>
      <p:ext uri="{BB962C8B-B14F-4D97-AF65-F5344CB8AC3E}">
        <p14:creationId xmlns:p14="http://schemas.microsoft.com/office/powerpoint/2010/main" val="2305027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Buscar, manipular e modificar elementos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835480"/>
            <a:ext cx="11727200" cy="4022520"/>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solidFill>
                  <a:srgbClr val="1B1B1B"/>
                </a:solidFill>
                <a:latin typeface="Roboto Mono"/>
                <a:sym typeface="Roboto Mono"/>
              </a:rPr>
              <a:t>	 O DOM é uma árvore, contudo ela é genérica, ou seja, pode ser atribuída a algumas categorias de documentos. Entre elas temos o documento HTML. Por isso, toda vez que precisarmos buscar, manipular, modificar, elementos na estrutura HTML começamos pelo </a:t>
            </a:r>
            <a:r>
              <a:rPr lang="pt-BR" sz="2200" dirty="0" err="1">
                <a:solidFill>
                  <a:srgbClr val="1B1B1B"/>
                </a:solidFill>
                <a:latin typeface="Roboto Mono"/>
                <a:sym typeface="Roboto Mono"/>
              </a:rPr>
              <a:t>document</a:t>
            </a:r>
            <a:r>
              <a:rPr lang="pt-BR" sz="2200" dirty="0">
                <a:solidFill>
                  <a:srgbClr val="1B1B1B"/>
                </a:solidFill>
                <a:latin typeface="Roboto Mono"/>
                <a:sym typeface="Roboto Mono"/>
              </a:rPr>
              <a:t>, depois dele acessamos outra parte da estrutura com um ‘ . ’ (ponto), no nosso exemplo, usamos um método. Que nada mais é do que “ uma função associada a um objeto, ou, simplesmente, um método é uma propriedade de um objeto que é uma função. </a:t>
            </a:r>
            <a:endParaRPr lang="pt-BR" sz="2000" dirty="0">
              <a:solidFill>
                <a:srgbClr val="1B1B1B"/>
              </a:solidFill>
              <a:latin typeface="Roboto Mono"/>
              <a:sym typeface="Roboto Mono"/>
            </a:endParaRPr>
          </a:p>
        </p:txBody>
      </p:sp>
    </p:spTree>
    <p:extLst>
      <p:ext uri="{BB962C8B-B14F-4D97-AF65-F5344CB8AC3E}">
        <p14:creationId xmlns:p14="http://schemas.microsoft.com/office/powerpoint/2010/main" val="2766764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Buscando e acessando elementos - Métodos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3212642"/>
            <a:ext cx="11727200" cy="3429000"/>
          </a:xfrm>
          <a:prstGeom prst="rect">
            <a:avLst/>
          </a:prstGeom>
          <a:noFill/>
          <a:ln>
            <a:noFill/>
          </a:ln>
        </p:spPr>
        <p:txBody>
          <a:bodyPr spcFirstLastPara="1" wrap="square" lIns="121900" tIns="121900" rIns="121900" bIns="121900" anchor="t" anchorCtr="0">
            <a:noAutofit/>
          </a:bodyPr>
          <a:lstStyle/>
          <a:p>
            <a:pPr marL="952496" lvl="1" indent="-342900">
              <a:buSzPts val="1800"/>
              <a:buFont typeface="Arial" panose="020B0604020202020204" pitchFamily="34" charset="0"/>
              <a:buChar char="•"/>
            </a:pPr>
            <a:r>
              <a:rPr lang="pt-BR" sz="2200" dirty="0" err="1">
                <a:solidFill>
                  <a:srgbClr val="1B1B1B"/>
                </a:solidFill>
                <a:latin typeface="Roboto Mono"/>
                <a:sym typeface="Roboto Mono"/>
              </a:rPr>
              <a:t>window.document.getElementById</a:t>
            </a:r>
            <a:r>
              <a:rPr lang="pt-BR" sz="2200" dirty="0">
                <a:solidFill>
                  <a:srgbClr val="1B1B1B"/>
                </a:solidFill>
                <a:latin typeface="Roboto Mono"/>
                <a:sym typeface="Roboto Mono"/>
              </a:rPr>
              <a:t>(id)</a:t>
            </a:r>
          </a:p>
          <a:p>
            <a:pPr marL="952496" lvl="1" indent="-342900">
              <a:buSzPts val="1800"/>
              <a:buFont typeface="Arial" panose="020B0604020202020204" pitchFamily="34" charset="0"/>
              <a:buChar char="•"/>
            </a:pPr>
            <a:r>
              <a:rPr lang="pt-BR" sz="2200" dirty="0" err="1">
                <a:solidFill>
                  <a:srgbClr val="1B1B1B"/>
                </a:solidFill>
                <a:latin typeface="Roboto Mono"/>
                <a:sym typeface="Roboto Mono"/>
              </a:rPr>
              <a:t>window.document.getElementsByClassName</a:t>
            </a:r>
            <a:r>
              <a:rPr lang="pt-BR" sz="2200" dirty="0">
                <a:solidFill>
                  <a:srgbClr val="1B1B1B"/>
                </a:solidFill>
                <a:latin typeface="Roboto Mono"/>
                <a:sym typeface="Roboto Mono"/>
              </a:rPr>
              <a:t>(</a:t>
            </a:r>
            <a:r>
              <a:rPr lang="pt-BR" sz="2200" dirty="0" err="1">
                <a:solidFill>
                  <a:srgbClr val="1B1B1B"/>
                </a:solidFill>
                <a:latin typeface="Roboto Mono"/>
                <a:sym typeface="Roboto Mono"/>
              </a:rPr>
              <a:t>className</a:t>
            </a:r>
            <a:r>
              <a:rPr lang="pt-BR" sz="2200" dirty="0">
                <a:solidFill>
                  <a:srgbClr val="1B1B1B"/>
                </a:solidFill>
                <a:latin typeface="Roboto Mono"/>
                <a:sym typeface="Roboto Mono"/>
              </a:rPr>
              <a:t>)</a:t>
            </a:r>
          </a:p>
          <a:p>
            <a:pPr marL="952496" lvl="1" indent="-342900">
              <a:buSzPts val="1800"/>
              <a:buFont typeface="Arial" panose="020B0604020202020204" pitchFamily="34" charset="0"/>
              <a:buChar char="•"/>
            </a:pPr>
            <a:r>
              <a:rPr lang="pt-BR" sz="2200" dirty="0" err="1">
                <a:solidFill>
                  <a:srgbClr val="1B1B1B"/>
                </a:solidFill>
                <a:latin typeface="Roboto Mono"/>
                <a:sym typeface="Roboto Mono"/>
              </a:rPr>
              <a:t>window.document.getElementsByTagName</a:t>
            </a:r>
            <a:r>
              <a:rPr lang="pt-BR" sz="2200" dirty="0">
                <a:solidFill>
                  <a:srgbClr val="1B1B1B"/>
                </a:solidFill>
                <a:latin typeface="Roboto Mono"/>
                <a:sym typeface="Roboto Mono"/>
              </a:rPr>
              <a:t>(</a:t>
            </a:r>
            <a:r>
              <a:rPr lang="pt-BR" sz="2200" dirty="0" err="1">
                <a:solidFill>
                  <a:srgbClr val="1B1B1B"/>
                </a:solidFill>
                <a:latin typeface="Roboto Mono"/>
                <a:sym typeface="Roboto Mono"/>
              </a:rPr>
              <a:t>tagName</a:t>
            </a:r>
            <a:r>
              <a:rPr lang="pt-BR" sz="2200" dirty="0">
                <a:solidFill>
                  <a:srgbClr val="1B1B1B"/>
                </a:solidFill>
                <a:latin typeface="Roboto Mono"/>
                <a:sym typeface="Roboto Mono"/>
              </a:rPr>
              <a:t>)</a:t>
            </a:r>
          </a:p>
          <a:p>
            <a:pPr marL="952496" lvl="1" indent="-342900">
              <a:buSzPts val="1800"/>
              <a:buFont typeface="Arial" panose="020B0604020202020204" pitchFamily="34" charset="0"/>
              <a:buChar char="•"/>
            </a:pPr>
            <a:r>
              <a:rPr lang="pt-BR" sz="2200" dirty="0" err="1">
                <a:solidFill>
                  <a:srgbClr val="1B1B1B"/>
                </a:solidFill>
                <a:latin typeface="Roboto Mono"/>
                <a:sym typeface="Roboto Mono"/>
              </a:rPr>
              <a:t>window</a:t>
            </a:r>
            <a:r>
              <a:rPr lang="pt-BR" sz="2200" dirty="0">
                <a:solidFill>
                  <a:srgbClr val="1B1B1B"/>
                </a:solidFill>
                <a:latin typeface="Roboto Mono"/>
                <a:sym typeface="Roboto Mono"/>
              </a:rPr>
              <a:t> </a:t>
            </a:r>
            <a:r>
              <a:rPr lang="pt-BR" sz="2200" dirty="0" err="1">
                <a:solidFill>
                  <a:srgbClr val="1B1B1B"/>
                </a:solidFill>
                <a:latin typeface="Roboto Mono"/>
                <a:sym typeface="Roboto Mono"/>
              </a:rPr>
              <a:t>document.querySelector</a:t>
            </a:r>
            <a:r>
              <a:rPr lang="pt-BR" sz="2200" dirty="0">
                <a:solidFill>
                  <a:srgbClr val="1B1B1B"/>
                </a:solidFill>
                <a:latin typeface="Roboto Mono"/>
                <a:sym typeface="Roboto Mono"/>
              </a:rPr>
              <a:t>(</a:t>
            </a:r>
            <a:r>
              <a:rPr lang="pt-BR" sz="2200" dirty="0" err="1">
                <a:solidFill>
                  <a:srgbClr val="1B1B1B"/>
                </a:solidFill>
                <a:latin typeface="Roboto Mono"/>
                <a:sym typeface="Roboto Mono"/>
              </a:rPr>
              <a:t>cssSelector</a:t>
            </a:r>
            <a:r>
              <a:rPr lang="pt-BR" sz="2200" dirty="0">
                <a:solidFill>
                  <a:srgbClr val="1B1B1B"/>
                </a:solidFill>
                <a:latin typeface="Roboto Mono"/>
                <a:sym typeface="Roboto Mono"/>
              </a:rPr>
              <a:t>)</a:t>
            </a:r>
          </a:p>
          <a:p>
            <a:pPr marL="952496" lvl="1" indent="-342900">
              <a:buSzPts val="1800"/>
              <a:buFont typeface="Arial" panose="020B0604020202020204" pitchFamily="34" charset="0"/>
              <a:buChar char="•"/>
            </a:pPr>
            <a:r>
              <a:rPr lang="pt-BR" sz="2200" dirty="0" err="1">
                <a:solidFill>
                  <a:srgbClr val="1B1B1B"/>
                </a:solidFill>
                <a:latin typeface="Roboto Mono"/>
                <a:sym typeface="Roboto Mono"/>
              </a:rPr>
              <a:t>window.document.querySelectorAll</a:t>
            </a:r>
            <a:r>
              <a:rPr lang="pt-BR" sz="2200" dirty="0">
                <a:solidFill>
                  <a:srgbClr val="1B1B1B"/>
                </a:solidFill>
                <a:latin typeface="Roboto Mono"/>
                <a:sym typeface="Roboto Mono"/>
              </a:rPr>
              <a:t>(</a:t>
            </a:r>
            <a:r>
              <a:rPr lang="pt-BR" sz="2200" dirty="0" err="1">
                <a:solidFill>
                  <a:srgbClr val="1B1B1B"/>
                </a:solidFill>
                <a:latin typeface="Roboto Mono"/>
                <a:sym typeface="Roboto Mono"/>
              </a:rPr>
              <a:t>cssSelector</a:t>
            </a:r>
            <a:r>
              <a:rPr lang="pt-BR" sz="2200" dirty="0">
                <a:solidFill>
                  <a:srgbClr val="1B1B1B"/>
                </a:solidFill>
                <a:latin typeface="Roboto Mono"/>
                <a:sym typeface="Roboto Mono"/>
              </a:rPr>
              <a:t>)</a:t>
            </a:r>
          </a:p>
          <a:p>
            <a:pPr marL="952496" lvl="1" indent="-342900">
              <a:buSzPts val="1800"/>
              <a:buFont typeface="Arial" panose="020B0604020202020204" pitchFamily="34" charset="0"/>
              <a:buChar char="•"/>
            </a:pPr>
            <a:r>
              <a:rPr lang="pt-BR" sz="2000" dirty="0" err="1">
                <a:solidFill>
                  <a:srgbClr val="1B1B1B"/>
                </a:solidFill>
                <a:latin typeface="Roboto Mono"/>
                <a:sym typeface="Roboto Mono"/>
              </a:rPr>
              <a:t>window.document.element.getAttribute</a:t>
            </a:r>
            <a:r>
              <a:rPr lang="pt-BR" sz="2000" dirty="0">
                <a:solidFill>
                  <a:srgbClr val="1B1B1B"/>
                </a:solidFill>
                <a:latin typeface="Roboto Mono"/>
                <a:sym typeface="Roboto Mono"/>
              </a:rPr>
              <a:t>(</a:t>
            </a:r>
            <a:r>
              <a:rPr lang="pt-BR" sz="2000" dirty="0" err="1">
                <a:solidFill>
                  <a:srgbClr val="1B1B1B"/>
                </a:solidFill>
                <a:latin typeface="Roboto Mono"/>
                <a:sym typeface="Roboto Mono"/>
              </a:rPr>
              <a:t>nomeDoAtributo</a:t>
            </a:r>
            <a:r>
              <a:rPr lang="pt-BR" sz="2000" dirty="0">
                <a:solidFill>
                  <a:srgbClr val="1B1B1B"/>
                </a:solidFill>
                <a:latin typeface="Roboto Mono"/>
                <a:sym typeface="Roboto Mono"/>
              </a:rPr>
              <a:t>);</a:t>
            </a:r>
          </a:p>
        </p:txBody>
      </p:sp>
    </p:spTree>
    <p:extLst>
      <p:ext uri="{BB962C8B-B14F-4D97-AF65-F5344CB8AC3E}">
        <p14:creationId xmlns:p14="http://schemas.microsoft.com/office/powerpoint/2010/main" val="2396271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Alterando Elementos – Métodos e propriedades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400" y="2562570"/>
            <a:ext cx="11727200" cy="4079072"/>
          </a:xfrm>
          <a:prstGeom prst="rect">
            <a:avLst/>
          </a:prstGeom>
          <a:noFill/>
          <a:ln>
            <a:noFill/>
          </a:ln>
        </p:spPr>
        <p:txBody>
          <a:bodyPr spcFirstLastPara="1" wrap="square" lIns="121900" tIns="121900" rIns="121900" bIns="121900" anchor="t" anchorCtr="0">
            <a:noAutofit/>
          </a:bodyPr>
          <a:lstStyle/>
          <a:p>
            <a:pPr marL="952496" lvl="1" indent="-342900">
              <a:buSzPts val="1800"/>
              <a:buFont typeface="Arial" panose="020B0604020202020204" pitchFamily="34" charset="0"/>
              <a:buChar char="•"/>
            </a:pPr>
            <a:r>
              <a:rPr lang="pt-BR" sz="1600" dirty="0">
                <a:solidFill>
                  <a:srgbClr val="1B1B1B"/>
                </a:solidFill>
                <a:latin typeface="Roboto Mono"/>
                <a:sym typeface="Roboto Mono"/>
              </a:rPr>
              <a:t>Propriedade </a:t>
            </a:r>
            <a:r>
              <a:rPr lang="pt-BR" sz="1600" dirty="0" err="1">
                <a:solidFill>
                  <a:srgbClr val="1B1B1B"/>
                </a:solidFill>
                <a:latin typeface="Roboto Mono"/>
                <a:sym typeface="Roboto Mono"/>
              </a:rPr>
              <a:t>element.innerText</a:t>
            </a:r>
            <a:r>
              <a:rPr lang="pt-BR" sz="1600" dirty="0">
                <a:solidFill>
                  <a:srgbClr val="1B1B1B"/>
                </a:solidFill>
                <a:latin typeface="Roboto Mono"/>
                <a:sym typeface="Roboto Mono"/>
              </a:rPr>
              <a:t>=”novo conteúdo” :</a:t>
            </a:r>
          </a:p>
          <a:p>
            <a:pPr marL="609596" lvl="1">
              <a:buSzPts val="1800"/>
            </a:pPr>
            <a:r>
              <a:rPr lang="pt-BR" sz="1600" dirty="0">
                <a:solidFill>
                  <a:srgbClr val="1B1B1B"/>
                </a:solidFill>
                <a:latin typeface="Roboto Mono"/>
                <a:sym typeface="Roboto Mono"/>
              </a:rPr>
              <a:t>		Altera o Conteúdo de texto de um nó e seus descendentes</a:t>
            </a:r>
          </a:p>
          <a:p>
            <a:pPr marL="895346" lvl="1" indent="-285750">
              <a:buSzPts val="1800"/>
              <a:buFont typeface="Arial" panose="020B0604020202020204" pitchFamily="34" charset="0"/>
              <a:buChar char="•"/>
            </a:pPr>
            <a:r>
              <a:rPr lang="pt-BR" sz="1600" dirty="0">
                <a:solidFill>
                  <a:srgbClr val="1B1B1B"/>
                </a:solidFill>
                <a:latin typeface="Roboto Mono"/>
                <a:sym typeface="Roboto Mono"/>
              </a:rPr>
              <a:t>Propriedade </a:t>
            </a:r>
            <a:r>
              <a:rPr lang="pt-BR" sz="1600" dirty="0" err="1">
                <a:solidFill>
                  <a:srgbClr val="1B1B1B"/>
                </a:solidFill>
                <a:latin typeface="Roboto Mono"/>
                <a:sym typeface="Roboto Mono"/>
              </a:rPr>
              <a:t>element.textContent</a:t>
            </a:r>
            <a:r>
              <a:rPr lang="pt-BR" sz="1600" dirty="0">
                <a:solidFill>
                  <a:srgbClr val="1B1B1B"/>
                </a:solidFill>
                <a:latin typeface="Roboto Mono"/>
                <a:sym typeface="Roboto Mono"/>
              </a:rPr>
              <a:t>=”novo conteúdo” :</a:t>
            </a:r>
          </a:p>
          <a:p>
            <a:pPr marL="609596" lvl="1">
              <a:buSzPts val="1800"/>
            </a:pPr>
            <a:r>
              <a:rPr lang="pt-BR" sz="1600" dirty="0">
                <a:solidFill>
                  <a:srgbClr val="1B1B1B"/>
                </a:solidFill>
                <a:latin typeface="Roboto Mono"/>
                <a:sym typeface="Roboto Mono"/>
              </a:rPr>
              <a:t>		Altera o conteúdo textual de um nó e seus descendentes</a:t>
            </a:r>
          </a:p>
          <a:p>
            <a:pPr marL="895346" lvl="1" indent="-285750">
              <a:buSzPts val="1800"/>
              <a:buFont typeface="Arial" panose="020B0604020202020204" pitchFamily="34" charset="0"/>
              <a:buChar char="•"/>
            </a:pPr>
            <a:r>
              <a:rPr lang="pt-BR" sz="1600" dirty="0">
                <a:solidFill>
                  <a:srgbClr val="1B1B1B"/>
                </a:solidFill>
                <a:latin typeface="Roboto Mono"/>
                <a:sym typeface="Roboto Mono"/>
              </a:rPr>
              <a:t>Propriedade </a:t>
            </a:r>
            <a:r>
              <a:rPr lang="pt-BR" sz="1600" dirty="0" err="1">
                <a:solidFill>
                  <a:srgbClr val="1B1B1B"/>
                </a:solidFill>
                <a:latin typeface="Roboto Mono"/>
                <a:sym typeface="Roboto Mono"/>
              </a:rPr>
              <a:t>element.value</a:t>
            </a:r>
            <a:r>
              <a:rPr lang="pt-BR" sz="1600" dirty="0">
                <a:solidFill>
                  <a:srgbClr val="1B1B1B"/>
                </a:solidFill>
                <a:latin typeface="Roboto Mono"/>
                <a:sym typeface="Roboto Mono"/>
              </a:rPr>
              <a:t>=”novo conteúdo” :</a:t>
            </a:r>
          </a:p>
          <a:p>
            <a:pPr marL="609596" lvl="1">
              <a:buSzPts val="1800"/>
            </a:pPr>
            <a:r>
              <a:rPr lang="pt-BR" sz="1600" dirty="0">
                <a:solidFill>
                  <a:srgbClr val="1B1B1B"/>
                </a:solidFill>
                <a:latin typeface="Roboto Mono"/>
                <a:sym typeface="Roboto Mono"/>
              </a:rPr>
              <a:t>		Altera o valor de um elemento HTML (geralmente inputs)</a:t>
            </a:r>
          </a:p>
          <a:p>
            <a:pPr marL="952496" lvl="1" indent="-342900">
              <a:buSzPts val="1800"/>
              <a:buFont typeface="Arial" panose="020B0604020202020204" pitchFamily="34" charset="0"/>
              <a:buChar char="•"/>
            </a:pPr>
            <a:r>
              <a:rPr lang="pt-BR" sz="1600" dirty="0">
                <a:solidFill>
                  <a:srgbClr val="1B1B1B"/>
                </a:solidFill>
                <a:latin typeface="Roboto Mono"/>
                <a:sym typeface="Roboto Mono"/>
              </a:rPr>
              <a:t>Propriedade </a:t>
            </a:r>
            <a:r>
              <a:rPr lang="pt-BR" sz="1600" dirty="0" err="1">
                <a:solidFill>
                  <a:srgbClr val="1B1B1B"/>
                </a:solidFill>
                <a:latin typeface="Roboto Mono"/>
                <a:sym typeface="Roboto Mono"/>
              </a:rPr>
              <a:t>element.innerHTML</a:t>
            </a:r>
            <a:r>
              <a:rPr lang="pt-BR" sz="1600" dirty="0">
                <a:solidFill>
                  <a:srgbClr val="1B1B1B"/>
                </a:solidFill>
                <a:latin typeface="Roboto Mono"/>
                <a:sym typeface="Roboto Mono"/>
              </a:rPr>
              <a:t>=”novo conteúdo” :</a:t>
            </a:r>
          </a:p>
          <a:p>
            <a:pPr marL="609596" lvl="1">
              <a:buSzPts val="1800"/>
            </a:pPr>
            <a:r>
              <a:rPr lang="pt-BR" sz="1600" dirty="0">
                <a:solidFill>
                  <a:srgbClr val="1B1B1B"/>
                </a:solidFill>
                <a:latin typeface="Roboto Mono"/>
                <a:sym typeface="Roboto Mono"/>
              </a:rPr>
              <a:t>		 Altera o conteúdo interno de um elemento HTML </a:t>
            </a:r>
          </a:p>
          <a:p>
            <a:pPr marL="952496" lvl="1" indent="-342900">
              <a:buSzPts val="1800"/>
              <a:buFont typeface="Arial" panose="020B0604020202020204" pitchFamily="34" charset="0"/>
              <a:buChar char="•"/>
            </a:pPr>
            <a:r>
              <a:rPr lang="pt-BR" sz="1600" dirty="0">
                <a:solidFill>
                  <a:srgbClr val="1B1B1B"/>
                </a:solidFill>
                <a:latin typeface="Roboto Mono"/>
                <a:sym typeface="Roboto Mono"/>
              </a:rPr>
              <a:t>Propriedade </a:t>
            </a:r>
            <a:r>
              <a:rPr lang="pt-BR" sz="1600" dirty="0" err="1">
                <a:solidFill>
                  <a:srgbClr val="1B1B1B"/>
                </a:solidFill>
                <a:latin typeface="Roboto Mono"/>
                <a:sym typeface="Roboto Mono"/>
              </a:rPr>
              <a:t>element.attribute</a:t>
            </a:r>
            <a:r>
              <a:rPr lang="pt-BR" sz="1600" dirty="0">
                <a:solidFill>
                  <a:srgbClr val="1B1B1B"/>
                </a:solidFill>
                <a:latin typeface="Roboto Mono"/>
                <a:sym typeface="Roboto Mono"/>
              </a:rPr>
              <a:t>=”novo valor” : </a:t>
            </a:r>
          </a:p>
          <a:p>
            <a:pPr marL="609596" lvl="1">
              <a:buSzPts val="1800"/>
            </a:pPr>
            <a:r>
              <a:rPr lang="pt-BR" sz="1600" dirty="0">
                <a:solidFill>
                  <a:srgbClr val="1B1B1B"/>
                </a:solidFill>
                <a:latin typeface="Roboto Mono"/>
                <a:sym typeface="Roboto Mono"/>
              </a:rPr>
              <a:t>		Altera o valor do atributo de um elemento HTML </a:t>
            </a:r>
          </a:p>
          <a:p>
            <a:pPr marL="952496" lvl="1" indent="-342900">
              <a:buSzPts val="1800"/>
              <a:buFont typeface="Arial" panose="020B0604020202020204" pitchFamily="34" charset="0"/>
              <a:buChar char="•"/>
            </a:pPr>
            <a:r>
              <a:rPr lang="pt-BR" sz="1600" dirty="0">
                <a:solidFill>
                  <a:srgbClr val="1B1B1B"/>
                </a:solidFill>
                <a:latin typeface="Roboto Mono"/>
                <a:sym typeface="Roboto Mono"/>
              </a:rPr>
              <a:t>Propriedade </a:t>
            </a:r>
            <a:r>
              <a:rPr lang="pt-BR" sz="1600" dirty="0" err="1">
                <a:solidFill>
                  <a:srgbClr val="1B1B1B"/>
                </a:solidFill>
                <a:latin typeface="Roboto Mono"/>
                <a:sym typeface="Roboto Mono"/>
              </a:rPr>
              <a:t>element.style.property</a:t>
            </a:r>
            <a:r>
              <a:rPr lang="pt-BR" sz="1600" dirty="0">
                <a:solidFill>
                  <a:srgbClr val="1B1B1B"/>
                </a:solidFill>
                <a:latin typeface="Roboto Mono"/>
                <a:sym typeface="Roboto Mono"/>
              </a:rPr>
              <a:t>=”novo estilo” : </a:t>
            </a:r>
          </a:p>
          <a:p>
            <a:pPr marL="609596" lvl="1">
              <a:buSzPts val="1800"/>
            </a:pPr>
            <a:r>
              <a:rPr lang="pt-BR" sz="1600" dirty="0">
                <a:solidFill>
                  <a:srgbClr val="1B1B1B"/>
                </a:solidFill>
                <a:latin typeface="Roboto Mono"/>
                <a:sym typeface="Roboto Mono"/>
              </a:rPr>
              <a:t>		Altera o estilo de um elemento HTML </a:t>
            </a:r>
          </a:p>
          <a:p>
            <a:pPr marL="952496" lvl="1" indent="-342900">
              <a:buSzPts val="1800"/>
              <a:buFont typeface="Arial" panose="020B0604020202020204" pitchFamily="34" charset="0"/>
              <a:buChar char="•"/>
            </a:pPr>
            <a:r>
              <a:rPr lang="pt-BR" sz="1600" dirty="0">
                <a:solidFill>
                  <a:srgbClr val="1B1B1B"/>
                </a:solidFill>
                <a:latin typeface="Roboto Mono"/>
                <a:sym typeface="Roboto Mono"/>
              </a:rPr>
              <a:t>Método </a:t>
            </a:r>
            <a:r>
              <a:rPr lang="pt-BR" sz="1600" dirty="0" err="1">
                <a:solidFill>
                  <a:srgbClr val="1B1B1B"/>
                </a:solidFill>
                <a:latin typeface="Roboto Mono"/>
                <a:sym typeface="Roboto Mono"/>
              </a:rPr>
              <a:t>element.setAttribute</a:t>
            </a:r>
            <a:r>
              <a:rPr lang="pt-BR" sz="1600" dirty="0">
                <a:solidFill>
                  <a:srgbClr val="1B1B1B"/>
                </a:solidFill>
                <a:latin typeface="Roboto Mono"/>
                <a:sym typeface="Roboto Mono"/>
              </a:rPr>
              <a:t>(</a:t>
            </a:r>
            <a:r>
              <a:rPr lang="pt-BR" sz="1600" dirty="0" err="1">
                <a:solidFill>
                  <a:srgbClr val="1B1B1B"/>
                </a:solidFill>
                <a:latin typeface="Roboto Mono"/>
                <a:sym typeface="Roboto Mono"/>
              </a:rPr>
              <a:t>attribute</a:t>
            </a:r>
            <a:r>
              <a:rPr lang="pt-BR" sz="1600" dirty="0">
                <a:solidFill>
                  <a:srgbClr val="1B1B1B"/>
                </a:solidFill>
                <a:latin typeface="Roboto Mono"/>
                <a:sym typeface="Roboto Mono"/>
              </a:rPr>
              <a:t>, </a:t>
            </a:r>
            <a:r>
              <a:rPr lang="pt-BR" sz="1600" dirty="0" err="1">
                <a:solidFill>
                  <a:srgbClr val="1B1B1B"/>
                </a:solidFill>
                <a:latin typeface="Roboto Mono"/>
                <a:sym typeface="Roboto Mono"/>
              </a:rPr>
              <a:t>value</a:t>
            </a:r>
            <a:r>
              <a:rPr lang="pt-BR" sz="1600" dirty="0">
                <a:solidFill>
                  <a:srgbClr val="1B1B1B"/>
                </a:solidFill>
                <a:latin typeface="Roboto Mono"/>
                <a:sym typeface="Roboto Mono"/>
              </a:rPr>
              <a:t>) : </a:t>
            </a:r>
          </a:p>
          <a:p>
            <a:pPr marL="609596" lvl="1">
              <a:buSzPts val="1800"/>
            </a:pPr>
            <a:r>
              <a:rPr lang="pt-BR" sz="1600" dirty="0">
                <a:solidFill>
                  <a:srgbClr val="1B1B1B"/>
                </a:solidFill>
                <a:latin typeface="Roboto Mono"/>
                <a:sym typeface="Roboto Mono"/>
              </a:rPr>
              <a:t>		Altera o valor do atributo de um elemento HTML </a:t>
            </a:r>
          </a:p>
        </p:txBody>
      </p:sp>
    </p:spTree>
    <p:extLst>
      <p:ext uri="{BB962C8B-B14F-4D97-AF65-F5344CB8AC3E}">
        <p14:creationId xmlns:p14="http://schemas.microsoft.com/office/powerpoint/2010/main" val="33411632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Adicionar e remover elementos - Métodos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232399" y="2788254"/>
            <a:ext cx="11727200" cy="3319602"/>
          </a:xfrm>
          <a:prstGeom prst="rect">
            <a:avLst/>
          </a:prstGeom>
          <a:noFill/>
          <a:ln>
            <a:noFill/>
          </a:ln>
        </p:spPr>
        <p:txBody>
          <a:bodyPr spcFirstLastPara="1" wrap="square" lIns="121900" tIns="121900" rIns="121900" bIns="121900" anchor="t" anchorCtr="0">
            <a:noAutofit/>
          </a:bodyPr>
          <a:lstStyle/>
          <a:p>
            <a:pPr marL="952496" lvl="1" indent="-342900">
              <a:buSzPts val="1800"/>
              <a:buFont typeface="Arial" panose="020B0604020202020204" pitchFamily="34" charset="0"/>
              <a:buChar char="•"/>
            </a:pPr>
            <a:r>
              <a:rPr lang="pt-BR" sz="2200" dirty="0" err="1">
                <a:solidFill>
                  <a:srgbClr val="1B1B1B"/>
                </a:solidFill>
                <a:latin typeface="Roboto Mono"/>
                <a:sym typeface="Roboto Mono"/>
              </a:rPr>
              <a:t>document.createElement</a:t>
            </a:r>
            <a:r>
              <a:rPr lang="pt-BR" sz="2200" dirty="0">
                <a:solidFill>
                  <a:srgbClr val="1B1B1B"/>
                </a:solidFill>
                <a:latin typeface="Roboto Mono"/>
                <a:sym typeface="Roboto Mono"/>
              </a:rPr>
              <a:t>(</a:t>
            </a:r>
            <a:r>
              <a:rPr lang="pt-BR" sz="2200" dirty="0" err="1">
                <a:solidFill>
                  <a:srgbClr val="1B1B1B"/>
                </a:solidFill>
                <a:latin typeface="Roboto Mono"/>
                <a:sym typeface="Roboto Mono"/>
              </a:rPr>
              <a:t>element</a:t>
            </a:r>
            <a:r>
              <a:rPr lang="pt-BR" sz="2200" dirty="0">
                <a:solidFill>
                  <a:srgbClr val="1B1B1B"/>
                </a:solidFill>
                <a:latin typeface="Roboto Mono"/>
                <a:sym typeface="Roboto Mono"/>
              </a:rPr>
              <a:t>) : Cria um elemento HTML </a:t>
            </a:r>
          </a:p>
          <a:p>
            <a:pPr marL="952496" lvl="1" indent="-342900">
              <a:buSzPts val="1800"/>
              <a:buFont typeface="Arial" panose="020B0604020202020204" pitchFamily="34" charset="0"/>
              <a:buChar char="•"/>
            </a:pPr>
            <a:r>
              <a:rPr lang="pt-BR" sz="2200" dirty="0" err="1">
                <a:solidFill>
                  <a:srgbClr val="1B1B1B"/>
                </a:solidFill>
                <a:latin typeface="Roboto Mono"/>
                <a:sym typeface="Roboto Mono"/>
              </a:rPr>
              <a:t>document.removeChild</a:t>
            </a:r>
            <a:r>
              <a:rPr lang="pt-BR" sz="2200" dirty="0">
                <a:solidFill>
                  <a:srgbClr val="1B1B1B"/>
                </a:solidFill>
                <a:latin typeface="Roboto Mono"/>
                <a:sym typeface="Roboto Mono"/>
              </a:rPr>
              <a:t>(</a:t>
            </a:r>
            <a:r>
              <a:rPr lang="pt-BR" sz="2200" dirty="0" err="1">
                <a:solidFill>
                  <a:srgbClr val="1B1B1B"/>
                </a:solidFill>
                <a:latin typeface="Roboto Mono"/>
                <a:sym typeface="Roboto Mono"/>
              </a:rPr>
              <a:t>element</a:t>
            </a:r>
            <a:r>
              <a:rPr lang="pt-BR" sz="2200" dirty="0">
                <a:solidFill>
                  <a:srgbClr val="1B1B1B"/>
                </a:solidFill>
                <a:latin typeface="Roboto Mono"/>
                <a:sym typeface="Roboto Mono"/>
              </a:rPr>
              <a:t>) : Remove um elemento HTML </a:t>
            </a:r>
          </a:p>
          <a:p>
            <a:pPr marL="952496" lvl="1" indent="-342900">
              <a:buSzPts val="1800"/>
              <a:buFont typeface="Arial" panose="020B0604020202020204" pitchFamily="34" charset="0"/>
              <a:buChar char="•"/>
            </a:pPr>
            <a:r>
              <a:rPr lang="pt-BR" sz="2200" dirty="0" err="1">
                <a:solidFill>
                  <a:srgbClr val="1B1B1B"/>
                </a:solidFill>
                <a:latin typeface="Roboto Mono"/>
                <a:sym typeface="Roboto Mono"/>
              </a:rPr>
              <a:t>document.appendChild</a:t>
            </a:r>
            <a:r>
              <a:rPr lang="pt-BR" sz="2200" dirty="0">
                <a:solidFill>
                  <a:srgbClr val="1B1B1B"/>
                </a:solidFill>
                <a:latin typeface="Roboto Mono"/>
                <a:sym typeface="Roboto Mono"/>
              </a:rPr>
              <a:t>(</a:t>
            </a:r>
            <a:r>
              <a:rPr lang="pt-BR" sz="2200" dirty="0" err="1">
                <a:solidFill>
                  <a:srgbClr val="1B1B1B"/>
                </a:solidFill>
                <a:latin typeface="Roboto Mono"/>
                <a:sym typeface="Roboto Mono"/>
              </a:rPr>
              <a:t>element</a:t>
            </a:r>
            <a:r>
              <a:rPr lang="pt-BR" sz="2200" dirty="0">
                <a:solidFill>
                  <a:srgbClr val="1B1B1B"/>
                </a:solidFill>
                <a:latin typeface="Roboto Mono"/>
                <a:sym typeface="Roboto Mono"/>
              </a:rPr>
              <a:t>) : Adiciona um elemento HTML </a:t>
            </a:r>
          </a:p>
          <a:p>
            <a:pPr marL="952496" lvl="1" indent="-342900">
              <a:buSzPts val="1800"/>
              <a:buFont typeface="Arial" panose="020B0604020202020204" pitchFamily="34" charset="0"/>
              <a:buChar char="•"/>
            </a:pPr>
            <a:r>
              <a:rPr lang="pt-BR" sz="2200" dirty="0" err="1">
                <a:solidFill>
                  <a:srgbClr val="1B1B1B"/>
                </a:solidFill>
                <a:latin typeface="Roboto Mono"/>
                <a:sym typeface="Roboto Mono"/>
              </a:rPr>
              <a:t>document.insertBefore</a:t>
            </a:r>
            <a:r>
              <a:rPr lang="pt-BR" sz="2200" dirty="0">
                <a:solidFill>
                  <a:srgbClr val="1B1B1B"/>
                </a:solidFill>
                <a:latin typeface="Roboto Mono"/>
                <a:sym typeface="Roboto Mono"/>
              </a:rPr>
              <a:t>(novo, existente): Insere um elemento HTML antes de um filho existente.</a:t>
            </a:r>
          </a:p>
          <a:p>
            <a:pPr marL="952496" lvl="1" indent="-342900">
              <a:buSzPts val="1800"/>
              <a:buFont typeface="Arial" panose="020B0604020202020204" pitchFamily="34" charset="0"/>
              <a:buChar char="•"/>
            </a:pPr>
            <a:r>
              <a:rPr lang="pt-BR" sz="2200" dirty="0" err="1">
                <a:solidFill>
                  <a:srgbClr val="1B1B1B"/>
                </a:solidFill>
                <a:latin typeface="Roboto Mono"/>
                <a:sym typeface="Roboto Mono"/>
              </a:rPr>
              <a:t>document.replaceChild</a:t>
            </a:r>
            <a:r>
              <a:rPr lang="pt-BR" sz="2200" dirty="0">
                <a:solidFill>
                  <a:srgbClr val="1B1B1B"/>
                </a:solidFill>
                <a:latin typeface="Roboto Mono"/>
                <a:sym typeface="Roboto Mono"/>
              </a:rPr>
              <a:t>(novo, anterior) : Substitui um elemento HTML </a:t>
            </a:r>
          </a:p>
          <a:p>
            <a:pPr marL="952496" lvl="1" indent="-342900">
              <a:buSzPts val="1800"/>
              <a:buFont typeface="Arial" panose="020B0604020202020204" pitchFamily="34" charset="0"/>
              <a:buChar char="•"/>
            </a:pPr>
            <a:r>
              <a:rPr lang="pt-BR" sz="2200" dirty="0" err="1">
                <a:solidFill>
                  <a:srgbClr val="1B1B1B"/>
                </a:solidFill>
                <a:latin typeface="Roboto Mono"/>
                <a:sym typeface="Roboto Mono"/>
              </a:rPr>
              <a:t>document.write</a:t>
            </a:r>
            <a:r>
              <a:rPr lang="pt-BR" sz="2200" dirty="0">
                <a:solidFill>
                  <a:srgbClr val="1B1B1B"/>
                </a:solidFill>
                <a:latin typeface="Roboto Mono"/>
                <a:sym typeface="Roboto Mono"/>
              </a:rPr>
              <a:t>(</a:t>
            </a:r>
            <a:r>
              <a:rPr lang="pt-BR" sz="2200" dirty="0" err="1">
                <a:solidFill>
                  <a:srgbClr val="1B1B1B"/>
                </a:solidFill>
                <a:latin typeface="Roboto Mono"/>
                <a:sym typeface="Roboto Mono"/>
              </a:rPr>
              <a:t>text</a:t>
            </a:r>
            <a:r>
              <a:rPr lang="pt-BR" sz="2200" dirty="0">
                <a:solidFill>
                  <a:srgbClr val="1B1B1B"/>
                </a:solidFill>
                <a:latin typeface="Roboto Mono"/>
                <a:sym typeface="Roboto Mono"/>
              </a:rPr>
              <a:t>) : Escreve no fluxo de saída HTML </a:t>
            </a:r>
            <a:endParaRPr lang="pt-BR" sz="2000" dirty="0">
              <a:solidFill>
                <a:srgbClr val="1B1B1B"/>
              </a:solidFill>
              <a:latin typeface="Roboto Mono"/>
              <a:sym typeface="Roboto Mono"/>
            </a:endParaRPr>
          </a:p>
        </p:txBody>
      </p:sp>
    </p:spTree>
    <p:extLst>
      <p:ext uri="{BB962C8B-B14F-4D97-AF65-F5344CB8AC3E}">
        <p14:creationId xmlns:p14="http://schemas.microsoft.com/office/powerpoint/2010/main" val="1711469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HTML </a:t>
            </a:r>
            <a:r>
              <a:rPr lang="pt-BR" sz="3600" dirty="0" err="1">
                <a:solidFill>
                  <a:srgbClr val="FFDA3E"/>
                </a:solidFill>
                <a:latin typeface="Roboto Mono Medium"/>
                <a:ea typeface="Roboto Mono Medium"/>
                <a:cs typeface="Roboto Mono Medium"/>
                <a:sym typeface="Roboto Mono Medium"/>
              </a:rPr>
              <a:t>DOMTokenList</a:t>
            </a:r>
            <a:endParaRPr lang="pt-BR" sz="3600" dirty="0">
              <a:solidFill>
                <a:srgbClr val="FFDA3E"/>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797C2C98-63A7-8CC0-347B-999F3D514499}"/>
              </a:ext>
            </a:extLst>
          </p:cNvPr>
          <p:cNvSpPr txBox="1"/>
          <p:nvPr/>
        </p:nvSpPr>
        <p:spPr>
          <a:xfrm>
            <a:off x="167112" y="2692866"/>
            <a:ext cx="11727200" cy="3881664"/>
          </a:xfrm>
          <a:prstGeom prst="rect">
            <a:avLst/>
          </a:prstGeom>
          <a:noFill/>
          <a:ln>
            <a:noFill/>
          </a:ln>
        </p:spPr>
        <p:txBody>
          <a:bodyPr spcFirstLastPara="1" wrap="square" lIns="121900" tIns="121900" rIns="121900" bIns="121900" anchor="t" anchorCtr="0">
            <a:noAutofit/>
          </a:bodyPr>
          <a:lstStyle/>
          <a:p>
            <a:pPr marL="609596" lvl="1">
              <a:lnSpc>
                <a:spcPct val="150000"/>
              </a:lnSpc>
              <a:buSzPts val="1800"/>
            </a:pPr>
            <a:r>
              <a:rPr lang="pt-BR" sz="2200" dirty="0" err="1">
                <a:solidFill>
                  <a:srgbClr val="1B1B1B"/>
                </a:solidFill>
                <a:latin typeface="Roboto Mono"/>
                <a:sym typeface="Roboto Mono"/>
              </a:rPr>
              <a:t>DOMTokenList</a:t>
            </a:r>
            <a:endParaRPr lang="pt-BR" sz="2200" dirty="0">
              <a:solidFill>
                <a:srgbClr val="1B1B1B"/>
              </a:solidFill>
              <a:latin typeface="Roboto Mono"/>
              <a:sym typeface="Roboto Mono"/>
            </a:endParaRPr>
          </a:p>
          <a:p>
            <a:pPr marL="952496" lvl="1" indent="-342900">
              <a:buSzPts val="1800"/>
              <a:buFont typeface="Arial" panose="020B0604020202020204" pitchFamily="34" charset="0"/>
              <a:buChar char="•"/>
            </a:pPr>
            <a:r>
              <a:rPr lang="pt-BR" sz="2200" dirty="0">
                <a:solidFill>
                  <a:srgbClr val="1B1B1B"/>
                </a:solidFill>
                <a:latin typeface="Roboto Mono"/>
                <a:sym typeface="Roboto Mono"/>
              </a:rPr>
              <a:t>A </a:t>
            </a:r>
            <a:r>
              <a:rPr lang="pt-BR" sz="2200" dirty="0" err="1">
                <a:solidFill>
                  <a:srgbClr val="1B1B1B"/>
                </a:solidFill>
                <a:latin typeface="Roboto Mono"/>
                <a:sym typeface="Roboto Mono"/>
              </a:rPr>
              <a:t>DOMTokenListé</a:t>
            </a:r>
            <a:r>
              <a:rPr lang="pt-BR" sz="2200" dirty="0">
                <a:solidFill>
                  <a:srgbClr val="1B1B1B"/>
                </a:solidFill>
                <a:latin typeface="Roboto Mono"/>
                <a:sym typeface="Roboto Mono"/>
              </a:rPr>
              <a:t> um conjunto de tokens separados por espaço.</a:t>
            </a:r>
          </a:p>
          <a:p>
            <a:pPr marL="952496" lvl="1" indent="-342900">
              <a:buSzPts val="1800"/>
              <a:buFont typeface="Arial" panose="020B0604020202020204" pitchFamily="34" charset="0"/>
              <a:buChar char="•"/>
            </a:pPr>
            <a:r>
              <a:rPr lang="pt-BR" sz="2200" dirty="0">
                <a:solidFill>
                  <a:srgbClr val="1B1B1B"/>
                </a:solidFill>
                <a:latin typeface="Roboto Mono"/>
                <a:sym typeface="Roboto Mono"/>
              </a:rPr>
              <a:t>A </a:t>
            </a:r>
            <a:r>
              <a:rPr lang="pt-BR" sz="2200" dirty="0" err="1">
                <a:solidFill>
                  <a:srgbClr val="1B1B1B"/>
                </a:solidFill>
                <a:latin typeface="Roboto Mono"/>
                <a:sym typeface="Roboto Mono"/>
              </a:rPr>
              <a:t>DOMTokenListpode</a:t>
            </a:r>
            <a:r>
              <a:rPr lang="pt-BR" sz="2200" dirty="0">
                <a:solidFill>
                  <a:srgbClr val="1B1B1B"/>
                </a:solidFill>
                <a:latin typeface="Roboto Mono"/>
                <a:sym typeface="Roboto Mono"/>
              </a:rPr>
              <a:t> ser acessado por índice (começa em 0).</a:t>
            </a:r>
          </a:p>
          <a:p>
            <a:pPr marL="952496" lvl="1" indent="-342900">
              <a:buSzPts val="1800"/>
              <a:buFont typeface="Arial" panose="020B0604020202020204" pitchFamily="34" charset="0"/>
              <a:buChar char="•"/>
            </a:pPr>
            <a:r>
              <a:rPr lang="pt-BR" sz="2200" dirty="0">
                <a:solidFill>
                  <a:srgbClr val="1B1B1B"/>
                </a:solidFill>
                <a:latin typeface="Roboto Mono"/>
                <a:sym typeface="Roboto Mono"/>
              </a:rPr>
              <a:t>A propriedade </a:t>
            </a:r>
            <a:r>
              <a:rPr lang="pt-BR" sz="2200" dirty="0" err="1">
                <a:solidFill>
                  <a:srgbClr val="1B1B1B"/>
                </a:solidFill>
                <a:latin typeface="Roboto Mono"/>
                <a:sym typeface="Roboto Mono"/>
              </a:rPr>
              <a:t>length</a:t>
            </a:r>
            <a:r>
              <a:rPr lang="pt-BR" sz="2200" dirty="0">
                <a:solidFill>
                  <a:srgbClr val="1B1B1B"/>
                </a:solidFill>
                <a:latin typeface="Roboto Mono"/>
                <a:sym typeface="Roboto Mono"/>
              </a:rPr>
              <a:t> retorna o número de tokens em uma </a:t>
            </a:r>
            <a:r>
              <a:rPr lang="pt-BR" sz="2200" dirty="0" err="1">
                <a:solidFill>
                  <a:srgbClr val="1B1B1B"/>
                </a:solidFill>
                <a:latin typeface="Roboto Mono"/>
                <a:sym typeface="Roboto Mono"/>
              </a:rPr>
              <a:t>DOMTokenList</a:t>
            </a:r>
            <a:r>
              <a:rPr lang="pt-BR" sz="2200" dirty="0">
                <a:solidFill>
                  <a:srgbClr val="1B1B1B"/>
                </a:solidFill>
                <a:latin typeface="Roboto Mono"/>
                <a:sym typeface="Roboto Mono"/>
              </a:rPr>
              <a:t>.</a:t>
            </a:r>
          </a:p>
          <a:p>
            <a:pPr marL="952496" lvl="1" indent="-342900">
              <a:buSzPts val="1800"/>
              <a:buFont typeface="Arial" panose="020B0604020202020204" pitchFamily="34" charset="0"/>
              <a:buChar char="•"/>
            </a:pPr>
            <a:endParaRPr lang="pt-BR" sz="2200" dirty="0">
              <a:solidFill>
                <a:srgbClr val="1B1B1B"/>
              </a:solidFill>
              <a:latin typeface="Roboto Mono"/>
              <a:sym typeface="Roboto Mono"/>
            </a:endParaRPr>
          </a:p>
          <a:p>
            <a:pPr marL="609596" lvl="1">
              <a:buSzPts val="1800"/>
            </a:pPr>
            <a:r>
              <a:rPr lang="pt-BR" sz="2000" dirty="0">
                <a:solidFill>
                  <a:srgbClr val="1B1B1B"/>
                </a:solidFill>
                <a:latin typeface="Roboto Mono"/>
                <a:sym typeface="Roboto Mono"/>
              </a:rPr>
              <a:t>Observação</a:t>
            </a:r>
          </a:p>
          <a:p>
            <a:pPr marL="609596" lvl="1">
              <a:buSzPts val="1800"/>
            </a:pPr>
            <a:r>
              <a:rPr lang="pt-BR" sz="2000" dirty="0">
                <a:solidFill>
                  <a:srgbClr val="1B1B1B"/>
                </a:solidFill>
                <a:latin typeface="Roboto Mono"/>
                <a:sym typeface="Roboto Mono"/>
              </a:rPr>
              <a:t>A propriedade </a:t>
            </a:r>
            <a:r>
              <a:rPr lang="pt-BR" sz="2000" dirty="0" err="1">
                <a:solidFill>
                  <a:srgbClr val="1B1B1B"/>
                </a:solidFill>
                <a:latin typeface="Roboto Mono"/>
                <a:sym typeface="Roboto Mono"/>
              </a:rPr>
              <a:t>classList</a:t>
            </a:r>
            <a:r>
              <a:rPr lang="pt-BR" sz="2000" dirty="0">
                <a:solidFill>
                  <a:srgbClr val="1B1B1B"/>
                </a:solidFill>
                <a:latin typeface="Roboto Mono"/>
                <a:sym typeface="Roboto Mono"/>
              </a:rPr>
              <a:t> de um elemento HTML representa um </a:t>
            </a:r>
            <a:r>
              <a:rPr lang="pt-BR" sz="2000" dirty="0" err="1">
                <a:solidFill>
                  <a:srgbClr val="1B1B1B"/>
                </a:solidFill>
                <a:latin typeface="Roboto Mono"/>
                <a:sym typeface="Roboto Mono"/>
              </a:rPr>
              <a:t>DOMTokenList</a:t>
            </a:r>
            <a:r>
              <a:rPr lang="pt-BR" sz="2000" dirty="0">
                <a:solidFill>
                  <a:srgbClr val="1B1B1B"/>
                </a:solidFill>
                <a:latin typeface="Roboto Mono"/>
                <a:sym typeface="Roboto Mono"/>
              </a:rPr>
              <a:t>.</a:t>
            </a:r>
          </a:p>
        </p:txBody>
      </p:sp>
    </p:spTree>
    <p:extLst>
      <p:ext uri="{BB962C8B-B14F-4D97-AF65-F5344CB8AC3E}">
        <p14:creationId xmlns:p14="http://schemas.microsoft.com/office/powerpoint/2010/main" val="29018825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0" y="905740"/>
            <a:ext cx="12191999" cy="1504206"/>
          </a:xfrm>
          <a:prstGeom prst="rect">
            <a:avLst/>
          </a:prstGeom>
          <a:noFill/>
          <a:ln>
            <a:noFill/>
          </a:ln>
        </p:spPr>
        <p:txBody>
          <a:bodyPr spcFirstLastPara="1" wrap="square" lIns="121900" tIns="121900" rIns="121900" bIns="121900" anchor="t" anchorCtr="0">
            <a:noAutofit/>
          </a:bodyPr>
          <a:lstStyle/>
          <a:p>
            <a:pPr algn="ctr"/>
            <a:r>
              <a:rPr lang="pt-BR" sz="5400" dirty="0">
                <a:solidFill>
                  <a:srgbClr val="D6BA32"/>
                </a:solidFill>
                <a:latin typeface="Roboto Mono Medium"/>
                <a:ea typeface="Roboto Mono Medium"/>
                <a:cs typeface="Roboto Mono Medium"/>
                <a:sym typeface="Roboto Mono Medium"/>
              </a:rPr>
              <a:t>Manipulando HTML com </a:t>
            </a:r>
            <a:r>
              <a:rPr lang="pt-BR" sz="5400" dirty="0" err="1">
                <a:solidFill>
                  <a:srgbClr val="D6BA32"/>
                </a:solidFill>
                <a:latin typeface="Roboto Mono Medium"/>
                <a:ea typeface="Roboto Mono Medium"/>
                <a:cs typeface="Roboto Mono Medium"/>
                <a:sym typeface="Roboto Mono Medium"/>
              </a:rPr>
              <a:t>JavaScript</a:t>
            </a:r>
            <a:endParaRPr lang="pt-BR" sz="3600" dirty="0">
              <a:solidFill>
                <a:srgbClr val="FFDA3E"/>
              </a:solidFill>
              <a:latin typeface="Roboto Mono Medium"/>
              <a:ea typeface="Roboto Mono Medium"/>
              <a:cs typeface="Roboto Mono Medium"/>
              <a:sym typeface="Roboto Mono Medium"/>
            </a:endParaRPr>
          </a:p>
          <a:p>
            <a:pPr algn="ctr"/>
            <a:r>
              <a:rPr lang="pt-BR" sz="3600" dirty="0">
                <a:solidFill>
                  <a:srgbClr val="FFDA3E"/>
                </a:solidFill>
                <a:latin typeface="Roboto Mono Medium"/>
                <a:ea typeface="Roboto Mono Medium"/>
                <a:cs typeface="Roboto Mono Medium"/>
                <a:sym typeface="Roboto Mono Medium"/>
              </a:rPr>
              <a:t>Propriedades e métodos de </a:t>
            </a:r>
            <a:r>
              <a:rPr lang="pt-BR" sz="3600" dirty="0" err="1">
                <a:solidFill>
                  <a:srgbClr val="FFDA3E"/>
                </a:solidFill>
                <a:latin typeface="Roboto Mono Medium"/>
                <a:ea typeface="Roboto Mono Medium"/>
                <a:cs typeface="Roboto Mono Medium"/>
                <a:sym typeface="Roboto Mono Medium"/>
              </a:rPr>
              <a:t>DOMTokenList</a:t>
            </a:r>
            <a:endParaRPr lang="pt-BR" sz="3600" dirty="0">
              <a:solidFill>
                <a:srgbClr val="FFDA3E"/>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07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graphicFrame>
        <p:nvGraphicFramePr>
          <p:cNvPr id="9" name="Tabela 3">
            <a:extLst>
              <a:ext uri="{FF2B5EF4-FFF2-40B4-BE49-F238E27FC236}">
                <a16:creationId xmlns:a16="http://schemas.microsoft.com/office/drawing/2014/main" id="{38E2ADD4-70F4-2B5F-EEF0-3F10DDCA1087}"/>
              </a:ext>
            </a:extLst>
          </p:cNvPr>
          <p:cNvGraphicFramePr>
            <a:graphicFrameLocks noGrp="1"/>
          </p:cNvGraphicFramePr>
          <p:nvPr>
            <p:extLst>
              <p:ext uri="{D42A27DB-BD31-4B8C-83A1-F6EECF244321}">
                <p14:modId xmlns:p14="http://schemas.microsoft.com/office/powerpoint/2010/main" val="4280052842"/>
              </p:ext>
            </p:extLst>
          </p:nvPr>
        </p:nvGraphicFramePr>
        <p:xfrm>
          <a:off x="232399" y="2811027"/>
          <a:ext cx="11727199" cy="3145161"/>
        </p:xfrm>
        <a:graphic>
          <a:graphicData uri="http://schemas.openxmlformats.org/drawingml/2006/table">
            <a:tbl>
              <a:tblPr firstRow="1" bandRow="1">
                <a:tableStyleId>{5C22544A-7EE6-4342-B048-85BDC9FD1C3A}</a:tableStyleId>
              </a:tblPr>
              <a:tblGrid>
                <a:gridCol w="3114702">
                  <a:extLst>
                    <a:ext uri="{9D8B030D-6E8A-4147-A177-3AD203B41FA5}">
                      <a16:colId xmlns:a16="http://schemas.microsoft.com/office/drawing/2014/main" val="1033087695"/>
                    </a:ext>
                  </a:extLst>
                </a:gridCol>
                <a:gridCol w="8612497">
                  <a:extLst>
                    <a:ext uri="{9D8B030D-6E8A-4147-A177-3AD203B41FA5}">
                      <a16:colId xmlns:a16="http://schemas.microsoft.com/office/drawing/2014/main" val="896926977"/>
                    </a:ext>
                  </a:extLst>
                </a:gridCol>
              </a:tblGrid>
              <a:tr h="272421">
                <a:tc>
                  <a:txBody>
                    <a:bodyPr/>
                    <a:lstStyle/>
                    <a:p>
                      <a:pPr algn="ctr" fontAlgn="ctr"/>
                      <a:r>
                        <a:rPr lang="pt-BR" sz="1600" b="1" i="0" u="none" strike="noStrike" dirty="0">
                          <a:solidFill>
                            <a:srgbClr val="000000"/>
                          </a:solidFill>
                          <a:effectLst/>
                          <a:latin typeface="Calibri" panose="020F0502020204030204" pitchFamily="34" charset="0"/>
                        </a:rPr>
                        <a:t>Nome</a:t>
                      </a:r>
                    </a:p>
                  </a:txBody>
                  <a:tcPr marL="7620" marR="7620" marT="7620" marB="0" anchor="ctr"/>
                </a:tc>
                <a:tc>
                  <a:txBody>
                    <a:bodyPr/>
                    <a:lstStyle/>
                    <a:p>
                      <a:pPr algn="ctr" fontAlgn="ctr"/>
                      <a:r>
                        <a:rPr lang="pt-BR" sz="1600" b="1" i="0" u="none" strike="noStrike" dirty="0">
                          <a:solidFill>
                            <a:srgbClr val="000000"/>
                          </a:solidFill>
                          <a:effectLst/>
                          <a:latin typeface="Calibri" panose="020F0502020204030204" pitchFamily="34" charset="0"/>
                        </a:rPr>
                        <a:t>Descrição</a:t>
                      </a:r>
                    </a:p>
                  </a:txBody>
                  <a:tcPr marL="7620" marR="7620" marT="7620" marB="0" anchor="ctr"/>
                </a:tc>
                <a:extLst>
                  <a:ext uri="{0D108BD9-81ED-4DB2-BD59-A6C34878D82A}">
                    <a16:rowId xmlns:a16="http://schemas.microsoft.com/office/drawing/2014/main" val="373534074"/>
                  </a:ext>
                </a:extLst>
              </a:tr>
              <a:tr h="36000">
                <a:tc>
                  <a:txBody>
                    <a:bodyPr/>
                    <a:lstStyle/>
                    <a:p>
                      <a:pPr algn="l" fontAlgn="ctr"/>
                      <a:r>
                        <a:rPr lang="pt-BR" sz="1400" b="0" i="0" u="none" strike="noStrike" dirty="0" err="1">
                          <a:solidFill>
                            <a:srgbClr val="000000"/>
                          </a:solidFill>
                          <a:effectLst/>
                          <a:latin typeface="Calibri" panose="020F0502020204030204" pitchFamily="34" charset="0"/>
                        </a:rPr>
                        <a:t>add</a:t>
                      </a:r>
                      <a:r>
                        <a:rPr lang="pt-BR" sz="1400" b="0" i="0" u="none" strike="noStrike" dirty="0">
                          <a:solidFill>
                            <a:srgbClr val="000000"/>
                          </a:solidFill>
                          <a:effectLst/>
                          <a:latin typeface="Calibri" panose="020F0502020204030204" pitchFamily="34" charset="0"/>
                        </a:rPr>
                        <a:t>()</a:t>
                      </a:r>
                    </a:p>
                  </a:txBody>
                  <a:tcPr marL="7620" marR="7620" marT="7620" marB="0" anchor="ctr"/>
                </a:tc>
                <a:tc>
                  <a:txBody>
                    <a:bodyPr/>
                    <a:lstStyle/>
                    <a:p>
                      <a:pPr algn="l" fontAlgn="ctr"/>
                      <a:r>
                        <a:rPr lang="pt-BR" sz="1400" b="0" i="0" u="none" strike="noStrike" dirty="0">
                          <a:solidFill>
                            <a:srgbClr val="000000"/>
                          </a:solidFill>
                          <a:effectLst/>
                          <a:latin typeface="Calibri" panose="020F0502020204030204" pitchFamily="34" charset="0"/>
                        </a:rPr>
                        <a:t>Adiciona um ou mais tokens à lista</a:t>
                      </a:r>
                    </a:p>
                  </a:txBody>
                  <a:tcPr marL="7620" marR="7620" marT="7620" marB="0" anchor="ctr"/>
                </a:tc>
                <a:extLst>
                  <a:ext uri="{0D108BD9-81ED-4DB2-BD59-A6C34878D82A}">
                    <a16:rowId xmlns:a16="http://schemas.microsoft.com/office/drawing/2014/main" val="1053574018"/>
                  </a:ext>
                </a:extLst>
              </a:tr>
              <a:tr h="36000">
                <a:tc>
                  <a:txBody>
                    <a:bodyPr/>
                    <a:lstStyle/>
                    <a:p>
                      <a:pPr algn="l" fontAlgn="ctr"/>
                      <a:r>
                        <a:rPr lang="pt-BR" sz="1400" b="0" i="0" u="none" strike="noStrike" dirty="0" err="1">
                          <a:solidFill>
                            <a:srgbClr val="000000"/>
                          </a:solidFill>
                          <a:effectLst/>
                          <a:latin typeface="Calibri" panose="020F0502020204030204" pitchFamily="34" charset="0"/>
                        </a:rPr>
                        <a:t>contains</a:t>
                      </a:r>
                      <a:r>
                        <a:rPr lang="pt-BR" sz="1400" b="0" i="0" u="none" strike="noStrike" dirty="0">
                          <a:solidFill>
                            <a:srgbClr val="000000"/>
                          </a:solidFill>
                          <a:effectLst/>
                          <a:latin typeface="Calibri" panose="020F0502020204030204" pitchFamily="34" charset="0"/>
                        </a:rPr>
                        <a:t>()</a:t>
                      </a:r>
                    </a:p>
                  </a:txBody>
                  <a:tcPr marL="7620" marR="7620" marT="7620" marB="0" anchor="ctr"/>
                </a:tc>
                <a:tc>
                  <a:txBody>
                    <a:bodyPr/>
                    <a:lstStyle/>
                    <a:p>
                      <a:pPr algn="l" fontAlgn="ctr"/>
                      <a:r>
                        <a:rPr lang="pt-BR" sz="1400" b="0" i="0" u="none" strike="noStrike" dirty="0">
                          <a:solidFill>
                            <a:srgbClr val="000000"/>
                          </a:solidFill>
                          <a:effectLst/>
                          <a:latin typeface="Calibri" panose="020F0502020204030204" pitchFamily="34" charset="0"/>
                        </a:rPr>
                        <a:t>Retorna verdadeiro se a lista contiver uma classe</a:t>
                      </a:r>
                    </a:p>
                  </a:txBody>
                  <a:tcPr marL="7620" marR="7620" marT="7620" marB="0" anchor="ctr"/>
                </a:tc>
                <a:extLst>
                  <a:ext uri="{0D108BD9-81ED-4DB2-BD59-A6C34878D82A}">
                    <a16:rowId xmlns:a16="http://schemas.microsoft.com/office/drawing/2014/main" val="191680441"/>
                  </a:ext>
                </a:extLst>
              </a:tr>
              <a:tr h="36000">
                <a:tc>
                  <a:txBody>
                    <a:bodyPr/>
                    <a:lstStyle/>
                    <a:p>
                      <a:pPr algn="l" fontAlgn="ctr"/>
                      <a:r>
                        <a:rPr lang="pt-BR" sz="1400" b="0" i="0" u="none" strike="noStrike">
                          <a:solidFill>
                            <a:srgbClr val="000000"/>
                          </a:solidFill>
                          <a:effectLst/>
                          <a:latin typeface="Calibri" panose="020F0502020204030204" pitchFamily="34" charset="0"/>
                        </a:rPr>
                        <a:t>entry()</a:t>
                      </a:r>
                    </a:p>
                  </a:txBody>
                  <a:tcPr marL="7620" marR="7620" marT="7620" marB="0" anchor="ctr"/>
                </a:tc>
                <a:tc>
                  <a:txBody>
                    <a:bodyPr/>
                    <a:lstStyle/>
                    <a:p>
                      <a:pPr algn="l" fontAlgn="ctr"/>
                      <a:r>
                        <a:rPr lang="pt-BR" sz="1400" b="0" i="0" u="none" strike="noStrike" dirty="0">
                          <a:solidFill>
                            <a:srgbClr val="000000"/>
                          </a:solidFill>
                          <a:effectLst/>
                          <a:latin typeface="Calibri" panose="020F0502020204030204" pitchFamily="34" charset="0"/>
                        </a:rPr>
                        <a:t>Retorna um </a:t>
                      </a:r>
                      <a:r>
                        <a:rPr lang="pt-BR" sz="1400" b="0" i="0" u="none" strike="noStrike" dirty="0" err="1">
                          <a:solidFill>
                            <a:srgbClr val="000000"/>
                          </a:solidFill>
                          <a:effectLst/>
                          <a:latin typeface="Calibri" panose="020F0502020204030204" pitchFamily="34" charset="0"/>
                        </a:rPr>
                        <a:t>Iterator</a:t>
                      </a:r>
                      <a:r>
                        <a:rPr lang="pt-BR" sz="1400" b="0" i="0" u="none" strike="noStrike" dirty="0">
                          <a:solidFill>
                            <a:srgbClr val="000000"/>
                          </a:solidFill>
                          <a:effectLst/>
                          <a:latin typeface="Calibri" panose="020F0502020204030204" pitchFamily="34" charset="0"/>
                        </a:rPr>
                        <a:t> com pares chave/valor da lista</a:t>
                      </a:r>
                    </a:p>
                  </a:txBody>
                  <a:tcPr marL="7620" marR="7620" marT="7620" marB="0" anchor="ctr"/>
                </a:tc>
                <a:extLst>
                  <a:ext uri="{0D108BD9-81ED-4DB2-BD59-A6C34878D82A}">
                    <a16:rowId xmlns:a16="http://schemas.microsoft.com/office/drawing/2014/main" val="2180891474"/>
                  </a:ext>
                </a:extLst>
              </a:tr>
              <a:tr h="36000">
                <a:tc>
                  <a:txBody>
                    <a:bodyPr/>
                    <a:lstStyle/>
                    <a:p>
                      <a:pPr algn="l" fontAlgn="ctr"/>
                      <a:r>
                        <a:rPr lang="pt-BR" sz="1400" b="0" i="0" u="none" strike="noStrike">
                          <a:solidFill>
                            <a:srgbClr val="000000"/>
                          </a:solidFill>
                          <a:effectLst/>
                          <a:latin typeface="Calibri" panose="020F0502020204030204" pitchFamily="34" charset="0"/>
                        </a:rPr>
                        <a:t>forEach()</a:t>
                      </a:r>
                    </a:p>
                  </a:txBody>
                  <a:tcPr marL="7620" marR="7620" marT="7620" marB="0" anchor="ctr"/>
                </a:tc>
                <a:tc>
                  <a:txBody>
                    <a:bodyPr/>
                    <a:lstStyle/>
                    <a:p>
                      <a:pPr algn="l" fontAlgn="ctr"/>
                      <a:r>
                        <a:rPr lang="pt-BR" sz="1400" b="0" i="0" u="none" strike="noStrike">
                          <a:solidFill>
                            <a:srgbClr val="000000"/>
                          </a:solidFill>
                          <a:effectLst/>
                          <a:latin typeface="Calibri" panose="020F0502020204030204" pitchFamily="34" charset="0"/>
                        </a:rPr>
                        <a:t>Executa uma função de retorno de chamada para cada token na lista</a:t>
                      </a:r>
                    </a:p>
                  </a:txBody>
                  <a:tcPr marL="7620" marR="7620" marT="7620" marB="0" anchor="ctr"/>
                </a:tc>
                <a:extLst>
                  <a:ext uri="{0D108BD9-81ED-4DB2-BD59-A6C34878D82A}">
                    <a16:rowId xmlns:a16="http://schemas.microsoft.com/office/drawing/2014/main" val="349513226"/>
                  </a:ext>
                </a:extLst>
              </a:tr>
              <a:tr h="36000">
                <a:tc>
                  <a:txBody>
                    <a:bodyPr/>
                    <a:lstStyle/>
                    <a:p>
                      <a:pPr algn="l" fontAlgn="ctr"/>
                      <a:r>
                        <a:rPr lang="pt-BR" sz="1400" b="0" i="0" u="none" strike="noStrike">
                          <a:solidFill>
                            <a:srgbClr val="000000"/>
                          </a:solidFill>
                          <a:effectLst/>
                          <a:latin typeface="Calibri" panose="020F0502020204030204" pitchFamily="34" charset="0"/>
                        </a:rPr>
                        <a:t>item()</a:t>
                      </a:r>
                    </a:p>
                  </a:txBody>
                  <a:tcPr marL="7620" marR="7620" marT="7620" marB="0" anchor="ctr"/>
                </a:tc>
                <a:tc>
                  <a:txBody>
                    <a:bodyPr/>
                    <a:lstStyle/>
                    <a:p>
                      <a:pPr algn="l" fontAlgn="ctr"/>
                      <a:r>
                        <a:rPr lang="pt-BR" sz="1400" b="0" i="0" u="none" strike="noStrike" dirty="0">
                          <a:solidFill>
                            <a:srgbClr val="000000"/>
                          </a:solidFill>
                          <a:effectLst/>
                          <a:latin typeface="Calibri" panose="020F0502020204030204" pitchFamily="34" charset="0"/>
                        </a:rPr>
                        <a:t>Retorna o token em um índice especificado</a:t>
                      </a:r>
                    </a:p>
                  </a:txBody>
                  <a:tcPr marL="7620" marR="7620" marT="7620" marB="0" anchor="ctr"/>
                </a:tc>
                <a:extLst>
                  <a:ext uri="{0D108BD9-81ED-4DB2-BD59-A6C34878D82A}">
                    <a16:rowId xmlns:a16="http://schemas.microsoft.com/office/drawing/2014/main" val="639663345"/>
                  </a:ext>
                </a:extLst>
              </a:tr>
              <a:tr h="36000">
                <a:tc>
                  <a:txBody>
                    <a:bodyPr/>
                    <a:lstStyle/>
                    <a:p>
                      <a:pPr algn="l" fontAlgn="ctr"/>
                      <a:r>
                        <a:rPr lang="pt-BR" sz="1400" b="0" i="0" u="none" strike="noStrike">
                          <a:solidFill>
                            <a:srgbClr val="000000"/>
                          </a:solidFill>
                          <a:effectLst/>
                          <a:latin typeface="Calibri" panose="020F0502020204030204" pitchFamily="34" charset="0"/>
                        </a:rPr>
                        <a:t>keys()</a:t>
                      </a:r>
                    </a:p>
                  </a:txBody>
                  <a:tcPr marL="7620" marR="7620" marT="7620" marB="0" anchor="ctr"/>
                </a:tc>
                <a:tc>
                  <a:txBody>
                    <a:bodyPr/>
                    <a:lstStyle/>
                    <a:p>
                      <a:pPr algn="l" fontAlgn="ctr"/>
                      <a:r>
                        <a:rPr lang="pt-BR" sz="1400" b="0" i="0" u="none" strike="noStrike" dirty="0">
                          <a:solidFill>
                            <a:srgbClr val="000000"/>
                          </a:solidFill>
                          <a:effectLst/>
                          <a:latin typeface="Calibri" panose="020F0502020204030204" pitchFamily="34" charset="0"/>
                        </a:rPr>
                        <a:t>Retorna um </a:t>
                      </a:r>
                      <a:r>
                        <a:rPr lang="pt-BR" sz="1400" b="0" i="0" u="none" strike="noStrike" dirty="0" err="1">
                          <a:solidFill>
                            <a:srgbClr val="000000"/>
                          </a:solidFill>
                          <a:effectLst/>
                          <a:latin typeface="Calibri" panose="020F0502020204030204" pitchFamily="34" charset="0"/>
                        </a:rPr>
                        <a:t>Iterator</a:t>
                      </a:r>
                      <a:r>
                        <a:rPr lang="pt-BR" sz="1400" b="0" i="0" u="none" strike="noStrike" dirty="0">
                          <a:solidFill>
                            <a:srgbClr val="000000"/>
                          </a:solidFill>
                          <a:effectLst/>
                          <a:latin typeface="Calibri" panose="020F0502020204030204" pitchFamily="34" charset="0"/>
                        </a:rPr>
                        <a:t> com as chaves na lista</a:t>
                      </a:r>
                    </a:p>
                  </a:txBody>
                  <a:tcPr marL="7620" marR="7620" marT="7620" marB="0" anchor="ctr"/>
                </a:tc>
                <a:extLst>
                  <a:ext uri="{0D108BD9-81ED-4DB2-BD59-A6C34878D82A}">
                    <a16:rowId xmlns:a16="http://schemas.microsoft.com/office/drawing/2014/main" val="1990855009"/>
                  </a:ext>
                </a:extLst>
              </a:tr>
              <a:tr h="36000">
                <a:tc>
                  <a:txBody>
                    <a:bodyPr/>
                    <a:lstStyle/>
                    <a:p>
                      <a:pPr algn="l" fontAlgn="b"/>
                      <a:r>
                        <a:rPr lang="pt-BR" sz="1400" b="0" i="0" u="none" strike="noStrike">
                          <a:solidFill>
                            <a:srgbClr val="000000"/>
                          </a:solidFill>
                          <a:effectLst/>
                          <a:latin typeface="Calibri" panose="020F0502020204030204" pitchFamily="34" charset="0"/>
                        </a:rPr>
                        <a:t>length</a:t>
                      </a:r>
                    </a:p>
                  </a:txBody>
                  <a:tcPr marL="7620" marR="7620" marT="7620" marB="0" anchor="b"/>
                </a:tc>
                <a:tc>
                  <a:txBody>
                    <a:bodyPr/>
                    <a:lstStyle/>
                    <a:p>
                      <a:pPr algn="l" fontAlgn="b"/>
                      <a:r>
                        <a:rPr lang="pt-BR" sz="1400" b="0" i="0" u="none" strike="noStrike">
                          <a:solidFill>
                            <a:srgbClr val="000000"/>
                          </a:solidFill>
                          <a:effectLst/>
                          <a:latin typeface="Calibri" panose="020F0502020204030204" pitchFamily="34" charset="0"/>
                        </a:rPr>
                        <a:t>Retorna o número de tokens na lista</a:t>
                      </a:r>
                    </a:p>
                  </a:txBody>
                  <a:tcPr marL="7620" marR="7620" marT="7620" marB="0" anchor="b"/>
                </a:tc>
                <a:extLst>
                  <a:ext uri="{0D108BD9-81ED-4DB2-BD59-A6C34878D82A}">
                    <a16:rowId xmlns:a16="http://schemas.microsoft.com/office/drawing/2014/main" val="3049543380"/>
                  </a:ext>
                </a:extLst>
              </a:tr>
              <a:tr h="36000">
                <a:tc>
                  <a:txBody>
                    <a:bodyPr/>
                    <a:lstStyle/>
                    <a:p>
                      <a:pPr algn="l" fontAlgn="b"/>
                      <a:r>
                        <a:rPr lang="pt-BR" sz="1400" b="0" i="0" u="none" strike="noStrike">
                          <a:solidFill>
                            <a:srgbClr val="000000"/>
                          </a:solidFill>
                          <a:effectLst/>
                          <a:latin typeface="Calibri" panose="020F0502020204030204" pitchFamily="34" charset="0"/>
                        </a:rPr>
                        <a:t>remove()</a:t>
                      </a:r>
                    </a:p>
                  </a:txBody>
                  <a:tcPr marL="7620" marR="7620" marT="7620" marB="0" anchor="b"/>
                </a:tc>
                <a:tc>
                  <a:txBody>
                    <a:bodyPr/>
                    <a:lstStyle/>
                    <a:p>
                      <a:pPr algn="l" fontAlgn="b"/>
                      <a:r>
                        <a:rPr lang="pt-BR" sz="1400" b="0" i="0" u="none" strike="noStrike" dirty="0">
                          <a:solidFill>
                            <a:srgbClr val="000000"/>
                          </a:solidFill>
                          <a:effectLst/>
                          <a:latin typeface="Calibri" panose="020F0502020204030204" pitchFamily="34" charset="0"/>
                        </a:rPr>
                        <a:t>Remove um ou mais tokens da lista</a:t>
                      </a:r>
                    </a:p>
                  </a:txBody>
                  <a:tcPr marL="7620" marR="7620" marT="7620" marB="0" anchor="b"/>
                </a:tc>
                <a:extLst>
                  <a:ext uri="{0D108BD9-81ED-4DB2-BD59-A6C34878D82A}">
                    <a16:rowId xmlns:a16="http://schemas.microsoft.com/office/drawing/2014/main" val="2843296941"/>
                  </a:ext>
                </a:extLst>
              </a:tr>
              <a:tr h="36000">
                <a:tc>
                  <a:txBody>
                    <a:bodyPr/>
                    <a:lstStyle/>
                    <a:p>
                      <a:pPr algn="l" fontAlgn="b"/>
                      <a:r>
                        <a:rPr lang="pt-BR" sz="1400" b="0" i="0" u="none" strike="noStrike">
                          <a:solidFill>
                            <a:srgbClr val="000000"/>
                          </a:solidFill>
                          <a:effectLst/>
                          <a:latin typeface="Calibri" panose="020F0502020204030204" pitchFamily="34" charset="0"/>
                        </a:rPr>
                        <a:t>replace()</a:t>
                      </a:r>
                    </a:p>
                  </a:txBody>
                  <a:tcPr marL="7620" marR="7620" marT="7620" marB="0" anchor="b"/>
                </a:tc>
                <a:tc>
                  <a:txBody>
                    <a:bodyPr/>
                    <a:lstStyle/>
                    <a:p>
                      <a:pPr algn="l" fontAlgn="b"/>
                      <a:r>
                        <a:rPr lang="pt-BR" sz="1400" b="0" i="0" u="none" strike="noStrike" dirty="0">
                          <a:solidFill>
                            <a:srgbClr val="000000"/>
                          </a:solidFill>
                          <a:effectLst/>
                          <a:latin typeface="Calibri" panose="020F0502020204030204" pitchFamily="34" charset="0"/>
                        </a:rPr>
                        <a:t>Substitui um token na lista</a:t>
                      </a:r>
                    </a:p>
                  </a:txBody>
                  <a:tcPr marL="7620" marR="7620" marT="7620" marB="0" anchor="b"/>
                </a:tc>
                <a:extLst>
                  <a:ext uri="{0D108BD9-81ED-4DB2-BD59-A6C34878D82A}">
                    <a16:rowId xmlns:a16="http://schemas.microsoft.com/office/drawing/2014/main" val="267016608"/>
                  </a:ext>
                </a:extLst>
              </a:tr>
              <a:tr h="36000">
                <a:tc>
                  <a:txBody>
                    <a:bodyPr/>
                    <a:lstStyle/>
                    <a:p>
                      <a:pPr algn="l" fontAlgn="b"/>
                      <a:r>
                        <a:rPr lang="pt-BR" sz="1400" b="0" i="0" u="none" strike="noStrike">
                          <a:solidFill>
                            <a:srgbClr val="000000"/>
                          </a:solidFill>
                          <a:effectLst/>
                          <a:latin typeface="Calibri" panose="020F0502020204030204" pitchFamily="34" charset="0"/>
                        </a:rPr>
                        <a:t>support()</a:t>
                      </a:r>
                    </a:p>
                  </a:txBody>
                  <a:tcPr marL="7620" marR="7620" marT="7620" marB="0" anchor="b"/>
                </a:tc>
                <a:tc>
                  <a:txBody>
                    <a:bodyPr/>
                    <a:lstStyle/>
                    <a:p>
                      <a:pPr algn="l" fontAlgn="b"/>
                      <a:r>
                        <a:rPr lang="pt-BR" sz="1400" b="0" i="0" u="none" strike="noStrike" dirty="0">
                          <a:solidFill>
                            <a:srgbClr val="000000"/>
                          </a:solidFill>
                          <a:effectLst/>
                          <a:latin typeface="Calibri" panose="020F0502020204030204" pitchFamily="34" charset="0"/>
                        </a:rPr>
                        <a:t>Retorna </a:t>
                      </a:r>
                      <a:r>
                        <a:rPr lang="pt-BR" sz="1400" b="0" i="0" u="none" strike="noStrike" dirty="0" err="1">
                          <a:solidFill>
                            <a:srgbClr val="000000"/>
                          </a:solidFill>
                          <a:effectLst/>
                          <a:latin typeface="Calibri" panose="020F0502020204030204" pitchFamily="34" charset="0"/>
                        </a:rPr>
                        <a:t>true</a:t>
                      </a:r>
                      <a:r>
                        <a:rPr lang="pt-BR" sz="1400" b="0" i="0" u="none" strike="noStrike" dirty="0">
                          <a:solidFill>
                            <a:srgbClr val="000000"/>
                          </a:solidFill>
                          <a:effectLst/>
                          <a:latin typeface="Calibri" panose="020F0502020204030204" pitchFamily="34" charset="0"/>
                        </a:rPr>
                        <a:t> se um token for um dos tokens suportados de um atributo</a:t>
                      </a:r>
                    </a:p>
                  </a:txBody>
                  <a:tcPr marL="7620" marR="7620" marT="7620" marB="0" anchor="b"/>
                </a:tc>
                <a:extLst>
                  <a:ext uri="{0D108BD9-81ED-4DB2-BD59-A6C34878D82A}">
                    <a16:rowId xmlns:a16="http://schemas.microsoft.com/office/drawing/2014/main" val="3912563831"/>
                  </a:ext>
                </a:extLst>
              </a:tr>
              <a:tr h="36000">
                <a:tc>
                  <a:txBody>
                    <a:bodyPr/>
                    <a:lstStyle/>
                    <a:p>
                      <a:pPr algn="l" fontAlgn="b"/>
                      <a:r>
                        <a:rPr lang="pt-BR" sz="1400" b="0" i="0" u="none" strike="noStrike">
                          <a:solidFill>
                            <a:srgbClr val="000000"/>
                          </a:solidFill>
                          <a:effectLst/>
                          <a:latin typeface="Calibri" panose="020F0502020204030204" pitchFamily="34" charset="0"/>
                        </a:rPr>
                        <a:t>toggle()</a:t>
                      </a:r>
                    </a:p>
                  </a:txBody>
                  <a:tcPr marL="7620" marR="7620" marT="7620" marB="0" anchor="b"/>
                </a:tc>
                <a:tc>
                  <a:txBody>
                    <a:bodyPr/>
                    <a:lstStyle/>
                    <a:p>
                      <a:pPr algn="l" fontAlgn="b"/>
                      <a:r>
                        <a:rPr lang="pt-BR" sz="1400" b="0" i="0" u="none" strike="noStrike" dirty="0">
                          <a:solidFill>
                            <a:srgbClr val="000000"/>
                          </a:solidFill>
                          <a:effectLst/>
                          <a:latin typeface="Calibri" panose="020F0502020204030204" pitchFamily="34" charset="0"/>
                        </a:rPr>
                        <a:t>Alterna entre tokens na lista</a:t>
                      </a:r>
                    </a:p>
                  </a:txBody>
                  <a:tcPr marL="7620" marR="7620" marT="7620" marB="0" anchor="b"/>
                </a:tc>
                <a:extLst>
                  <a:ext uri="{0D108BD9-81ED-4DB2-BD59-A6C34878D82A}">
                    <a16:rowId xmlns:a16="http://schemas.microsoft.com/office/drawing/2014/main" val="1979608084"/>
                  </a:ext>
                </a:extLst>
              </a:tr>
              <a:tr h="36000">
                <a:tc>
                  <a:txBody>
                    <a:bodyPr/>
                    <a:lstStyle/>
                    <a:p>
                      <a:pPr algn="l" fontAlgn="b"/>
                      <a:r>
                        <a:rPr lang="pt-BR" sz="1400" b="0" i="0" u="none" strike="noStrike">
                          <a:solidFill>
                            <a:srgbClr val="000000"/>
                          </a:solidFill>
                          <a:effectLst/>
                          <a:latin typeface="Calibri" panose="020F0502020204030204" pitchFamily="34" charset="0"/>
                        </a:rPr>
                        <a:t>value</a:t>
                      </a:r>
                    </a:p>
                  </a:txBody>
                  <a:tcPr marL="7620" marR="7620" marT="7620" marB="0" anchor="b"/>
                </a:tc>
                <a:tc>
                  <a:txBody>
                    <a:bodyPr/>
                    <a:lstStyle/>
                    <a:p>
                      <a:pPr algn="l" fontAlgn="b"/>
                      <a:r>
                        <a:rPr lang="pt-BR" sz="1400" b="0" i="0" u="none" strike="noStrike" dirty="0">
                          <a:solidFill>
                            <a:srgbClr val="000000"/>
                          </a:solidFill>
                          <a:effectLst/>
                          <a:latin typeface="Calibri" panose="020F0502020204030204" pitchFamily="34" charset="0"/>
                        </a:rPr>
                        <a:t>Retorna a lista de tokens como uma </a:t>
                      </a:r>
                      <a:r>
                        <a:rPr lang="pt-BR" sz="1400" b="0" i="0" u="none" strike="noStrike" dirty="0" err="1">
                          <a:solidFill>
                            <a:srgbClr val="000000"/>
                          </a:solidFill>
                          <a:effectLst/>
                          <a:latin typeface="Calibri" panose="020F0502020204030204" pitchFamily="34" charset="0"/>
                        </a:rPr>
                        <a:t>string</a:t>
                      </a:r>
                      <a:endParaRPr lang="pt-BR"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45398586"/>
                  </a:ext>
                </a:extLst>
              </a:tr>
              <a:tr h="36000">
                <a:tc>
                  <a:txBody>
                    <a:bodyPr/>
                    <a:lstStyle/>
                    <a:p>
                      <a:pPr algn="l" fontAlgn="b"/>
                      <a:r>
                        <a:rPr lang="pt-BR" sz="1400" b="0" i="0" u="none" strike="noStrike">
                          <a:solidFill>
                            <a:srgbClr val="000000"/>
                          </a:solidFill>
                          <a:effectLst/>
                          <a:latin typeface="Calibri" panose="020F0502020204030204" pitchFamily="34" charset="0"/>
                        </a:rPr>
                        <a:t>values()</a:t>
                      </a:r>
                    </a:p>
                  </a:txBody>
                  <a:tcPr marL="7620" marR="7620" marT="7620" marB="0" anchor="b"/>
                </a:tc>
                <a:tc>
                  <a:txBody>
                    <a:bodyPr/>
                    <a:lstStyle/>
                    <a:p>
                      <a:pPr algn="l" fontAlgn="b"/>
                      <a:r>
                        <a:rPr lang="pt-BR" sz="1400" b="0" i="0" u="none" strike="noStrike" dirty="0">
                          <a:solidFill>
                            <a:srgbClr val="000000"/>
                          </a:solidFill>
                          <a:effectLst/>
                          <a:latin typeface="Calibri" panose="020F0502020204030204" pitchFamily="34" charset="0"/>
                        </a:rPr>
                        <a:t>Retorna um </a:t>
                      </a:r>
                      <a:r>
                        <a:rPr lang="pt-BR" sz="1400" b="0" i="0" u="none" strike="noStrike" dirty="0" err="1">
                          <a:solidFill>
                            <a:srgbClr val="000000"/>
                          </a:solidFill>
                          <a:effectLst/>
                          <a:latin typeface="Calibri" panose="020F0502020204030204" pitchFamily="34" charset="0"/>
                        </a:rPr>
                        <a:t>Iterator</a:t>
                      </a:r>
                      <a:r>
                        <a:rPr lang="pt-BR" sz="1400" b="0" i="0" u="none" strike="noStrike" dirty="0">
                          <a:solidFill>
                            <a:srgbClr val="000000"/>
                          </a:solidFill>
                          <a:effectLst/>
                          <a:latin typeface="Calibri" panose="020F0502020204030204" pitchFamily="34" charset="0"/>
                        </a:rPr>
                        <a:t> com os valores da lista</a:t>
                      </a:r>
                    </a:p>
                  </a:txBody>
                  <a:tcPr marL="7620" marR="7620" marT="7620" marB="0" anchor="b"/>
                </a:tc>
                <a:extLst>
                  <a:ext uri="{0D108BD9-81ED-4DB2-BD59-A6C34878D82A}">
                    <a16:rowId xmlns:a16="http://schemas.microsoft.com/office/drawing/2014/main" val="3579178723"/>
                  </a:ext>
                </a:extLst>
              </a:tr>
            </a:tbl>
          </a:graphicData>
        </a:graphic>
      </p:graphicFrame>
    </p:spTree>
    <p:extLst>
      <p:ext uri="{BB962C8B-B14F-4D97-AF65-F5344CB8AC3E}">
        <p14:creationId xmlns:p14="http://schemas.microsoft.com/office/powerpoint/2010/main" val="695209037"/>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10544</TotalTime>
  <Words>2231</Words>
  <Application>Microsoft Office PowerPoint</Application>
  <PresentationFormat>Widescreen</PresentationFormat>
  <Paragraphs>202</Paragraphs>
  <Slides>22</Slides>
  <Notes>22</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22</vt:i4>
      </vt:variant>
    </vt:vector>
  </HeadingPairs>
  <TitlesOfParts>
    <vt:vector size="29" baseType="lpstr">
      <vt:lpstr>Arial</vt:lpstr>
      <vt:lpstr>Calibri</vt:lpstr>
      <vt:lpstr>Calibri Light</vt:lpstr>
      <vt:lpstr>Roboto Mono</vt:lpstr>
      <vt:lpstr>Roboto Mono Medium</vt:lpstr>
      <vt:lpstr>Verdana</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João Henrique Cunha Rangel</dc:creator>
  <cp:lastModifiedBy>Marcelo Vieira</cp:lastModifiedBy>
  <cp:revision>75</cp:revision>
  <cp:lastPrinted>2022-07-04T12:22:48Z</cp:lastPrinted>
  <dcterms:created xsi:type="dcterms:W3CDTF">2018-09-27T21:57:56Z</dcterms:created>
  <dcterms:modified xsi:type="dcterms:W3CDTF">2022-07-04T12:22:52Z</dcterms:modified>
</cp:coreProperties>
</file>