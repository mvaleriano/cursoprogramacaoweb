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769" r:id="rId2"/>
    <p:sldId id="778" r:id="rId3"/>
    <p:sldId id="797" r:id="rId4"/>
    <p:sldId id="798" r:id="rId5"/>
    <p:sldId id="800" r:id="rId6"/>
    <p:sldId id="801" r:id="rId7"/>
    <p:sldId id="802" r:id="rId8"/>
    <p:sldId id="799" r:id="rId9"/>
    <p:sldId id="803" r:id="rId10"/>
    <p:sldId id="804" r:id="rId11"/>
    <p:sldId id="805" r:id="rId12"/>
    <p:sldId id="806" r:id="rId13"/>
    <p:sldId id="810" r:id="rId14"/>
    <p:sldId id="811" r:id="rId15"/>
    <p:sldId id="812" r:id="rId16"/>
    <p:sldId id="807" r:id="rId17"/>
    <p:sldId id="808" r:id="rId18"/>
    <p:sldId id="809" r:id="rId19"/>
    <p:sldId id="813" r:id="rId20"/>
    <p:sldId id="814" r:id="rId21"/>
    <p:sldId id="815" r:id="rId22"/>
    <p:sldId id="816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BA32"/>
    <a:srgbClr val="FFDA3E"/>
    <a:srgbClr val="F47920"/>
    <a:srgbClr val="1572B6"/>
    <a:srgbClr val="35A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C8844-F009-45FC-92E0-5330E07D2391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88C18-FEF5-4A10-8A62-F4039403FD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0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1b130686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1b130686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52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459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10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0580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7336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0509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8496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4510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0341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8469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36086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12157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33136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47570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18375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6402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7844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6722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44502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2210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63663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0734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34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69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87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69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01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192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5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33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2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1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88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36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871017" y="4381269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</a:t>
            </a:r>
          </a:p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Aula 03 - </a:t>
            </a:r>
            <a:r>
              <a:rPr lang="pt-BR" sz="48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Declaração de Variáveis </a:t>
            </a:r>
            <a:endParaRPr sz="48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604F82-D39D-A579-B80D-9584FB801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496" y="841227"/>
            <a:ext cx="3534212" cy="353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3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0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são expressões?</a:t>
            </a:r>
          </a:p>
        </p:txBody>
      </p:sp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32400" y="2239861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	Uma expressão consiste em qualquer unidade válida de código que é resolvida como um valor.</a:t>
            </a:r>
          </a:p>
          <a:p>
            <a:pPr marL="152396">
              <a:buSzPts val="1800"/>
            </a:pP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Conceitualmente, existem dois tipos de expressões: aquelas que atribuem um valor a uma variável e aquelas que simplesmente possuem um valor.</a:t>
            </a:r>
          </a:p>
          <a:p>
            <a:pPr marL="152396">
              <a:buSzPts val="1800"/>
            </a:pP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A expressão x = 7 é um exemplo. Esta expressão utiliza o operador = para atribuir o valor sete à variável x. A expressão em si é avaliada como sete.</a:t>
            </a:r>
          </a:p>
          <a:p>
            <a:pPr marL="152396">
              <a:buSzPts val="1800"/>
            </a:pP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O código 3 + 4 também é um exemplo. Esta expressão utiliza o operador + para somar três e quatro sem atribuir o resultado, sete, a uma variável.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516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68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expressões</a:t>
            </a:r>
            <a:endParaRPr lang="pt-BR" sz="32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9861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possui as seguintes categorias de expressão: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Aritmética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: é avaliada como um número, por exemplo 3.14159. (Geralmente utiliza operadores aritméticos).</a:t>
            </a:r>
          </a:p>
          <a:p>
            <a:pPr marL="152396">
              <a:buSzPts val="1800"/>
            </a:pPr>
            <a:r>
              <a:rPr lang="pt-BR" sz="2200" b="1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: 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é avaliada como uma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de caracteres, por exemplo, "Fred" ou "234". (Geralmente utiliza operadores de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).</a:t>
            </a: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Lógica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: é avaliada como verdadeira ou falsa. (Costuma envolver operadores lógicos).</a:t>
            </a: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Expressões primárias: 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Palavras reservadas e expressões gerais do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Expressão lado esquerdo: 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atribuição à esquerda de valores.</a:t>
            </a:r>
          </a:p>
        </p:txBody>
      </p:sp>
    </p:spTree>
    <p:extLst>
      <p:ext uri="{BB962C8B-B14F-4D97-AF65-F5344CB8AC3E}">
        <p14:creationId xmlns:p14="http://schemas.microsoft.com/office/powerpoint/2010/main" val="2045171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0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são variáveis?</a:t>
            </a:r>
          </a:p>
        </p:txBody>
      </p:sp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32400" y="2239861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	Variáveis são espaços de memória do computador destinados a dados que são manipulados e alterados durante a execução de um algoritmo. </a:t>
            </a:r>
          </a:p>
          <a:p>
            <a:pPr marL="152396">
              <a:buSzPts val="1800"/>
            </a:pP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	Logo, para que o resultado seja o esperado, é preciso considerar o tipo de dado que será armazenado e também definir o nome das variáveis. </a:t>
            </a:r>
          </a:p>
          <a:p>
            <a:pPr marL="152396">
              <a:buSzPts val="1800"/>
            </a:pP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	Os valores armazenados nas variáveis são definidos em tempo de execução. Elas são associadas aos nomes; estes, definidos em tempo de desenvolvimento. </a:t>
            </a:r>
          </a:p>
          <a:p>
            <a:pPr marL="152396">
              <a:buSzPts val="1800"/>
            </a:pP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	As variáveis são parte essencial do código desenvolvido em Javascript. Elas armazenam valores que são manipulados por nossos programas, permitindo que os algoritmos sejam implementados para dar a resposta esperada para o usuário. 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301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486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são variáveis?</a:t>
            </a:r>
          </a:p>
          <a:p>
            <a:pPr algn="ctr"/>
            <a:r>
              <a:rPr lang="pt-BR" sz="32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declarações</a:t>
            </a:r>
          </a:p>
        </p:txBody>
      </p:sp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32400" y="2239861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Existem três tipos de declarações em </a:t>
            </a:r>
            <a:r>
              <a:rPr lang="pt-BR" dirty="0" err="1">
                <a:latin typeface="Roboto Mono"/>
                <a:ea typeface="Roboto Mono"/>
                <a:cs typeface="Roboto Mono"/>
                <a:sym typeface="Roboto Mono"/>
              </a:rPr>
              <a:t>JavaScript</a:t>
            </a: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52396">
              <a:buSzPts val="1800"/>
            </a:pPr>
            <a:r>
              <a:rPr lang="pt-BR" b="1" dirty="0">
                <a:latin typeface="Roboto Mono"/>
                <a:ea typeface="Roboto Mono"/>
                <a:cs typeface="Roboto Mono"/>
                <a:sym typeface="Roboto Mono"/>
              </a:rPr>
              <a:t>var</a:t>
            </a: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	Declara uma variável, opcionalmente, inicializando-a com um valor.</a:t>
            </a:r>
          </a:p>
          <a:p>
            <a:pPr marL="152396">
              <a:buSzPts val="1800"/>
            </a:pPr>
            <a:r>
              <a:rPr lang="pt-BR" b="1" dirty="0" err="1"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endParaRPr lang="pt-BR" b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	Declara uma variável local de escopo do bloco, opcionalmente, inicializando-a com um valor.</a:t>
            </a:r>
          </a:p>
          <a:p>
            <a:pPr marL="152396">
              <a:buSzPts val="1800"/>
            </a:pPr>
            <a:r>
              <a:rPr lang="pt-BR" b="1" dirty="0" err="1"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endParaRPr lang="pt-BR" b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	Declare uma constante de escopo de bloco, apenas de leitura.</a:t>
            </a:r>
          </a:p>
          <a:p>
            <a:pPr marL="152396">
              <a:buSzPts val="1800"/>
            </a:pP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	Um identificador </a:t>
            </a:r>
            <a:r>
              <a:rPr lang="pt-BR" dirty="0" err="1">
                <a:latin typeface="Roboto Mono"/>
                <a:ea typeface="Roboto Mono"/>
                <a:cs typeface="Roboto Mono"/>
                <a:sym typeface="Roboto Mono"/>
              </a:rPr>
              <a:t>JavaScript</a:t>
            </a: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 deve começar com uma letra, sublinhado ( _), ou cifrão ( $); os seguintes caracteres também podem ser números (0-9). </a:t>
            </a:r>
            <a:r>
              <a:rPr lang="pt-BR" dirty="0" err="1">
                <a:latin typeface="Roboto Mono"/>
                <a:ea typeface="Roboto Mono"/>
                <a:cs typeface="Roboto Mono"/>
                <a:sym typeface="Roboto Mono"/>
              </a:rPr>
              <a:t>JavaScript</a:t>
            </a: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 diferencia maiúsculas de minúsculas, letras incluem caracteres de "A" devido a "Z" (maiúsculos) e caracteres de "a" a "z" (minúsculos).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669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486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são variáveis?</a:t>
            </a:r>
          </a:p>
          <a:p>
            <a:pPr algn="ctr"/>
            <a:r>
              <a:rPr lang="pt-BR" sz="32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Declarando variáveis</a:t>
            </a:r>
          </a:p>
        </p:txBody>
      </p:sp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32400" y="2239861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Você pode declarar uma variável de três formas:</a:t>
            </a:r>
          </a:p>
          <a:p>
            <a:pPr marL="152396">
              <a:buSzPts val="1800"/>
            </a:pP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	Com a palavra chave  var. Por exemplo, var x = 42. Esta sintaxe pode ser usada para declarar tanto globais como globais </a:t>
            </a:r>
            <a:r>
              <a:rPr lang="pt-BR" dirty="0" err="1">
                <a:latin typeface="Roboto Mono"/>
                <a:ea typeface="Roboto Mono"/>
                <a:cs typeface="Roboto Mono"/>
                <a:sym typeface="Roboto Mono"/>
              </a:rPr>
              <a:t>globais</a:t>
            </a: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	Por simples adição de valor. Por exemplo, x = 42. Isso declara uma variável global. Essa declaração gera um aviso de declaração no </a:t>
            </a:r>
            <a:r>
              <a:rPr lang="pt-BR" dirty="0" err="1">
                <a:latin typeface="Roboto Mono"/>
                <a:ea typeface="Roboto Mono"/>
                <a:cs typeface="Roboto Mono"/>
                <a:sym typeface="Roboto Mono"/>
              </a:rPr>
              <a:t>JavaScript</a:t>
            </a: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. Você não deve usar essa variação.</a:t>
            </a: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	Com a palavra chave  let. Por exemplo, </a:t>
            </a:r>
            <a:r>
              <a:rPr lang="pt-BR" dirty="0" err="1"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 y = 13. Essa sintaxe pode ser usada para declarar uma variável local de escopo de bloco.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08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486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são variáveis?</a:t>
            </a:r>
          </a:p>
          <a:p>
            <a:pPr algn="ctr"/>
            <a:r>
              <a:rPr lang="pt-BR" sz="32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Escopo de variáveis</a:t>
            </a:r>
          </a:p>
        </p:txBody>
      </p:sp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32400" y="2239861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	Quando você declara uma variável para qualquer função, ela é chamada de variável global , porque está disponível para qualquer outro código no documento atual. Quando você declara uma variável dentro de uma função, é chamada de variável local , pois ela está disponível somente dentro dessa função.</a:t>
            </a:r>
          </a:p>
          <a:p>
            <a:pPr marL="2438396" lvl="5">
              <a:buSzPts val="1800"/>
            </a:pPr>
            <a:endParaRPr lang="en-US" i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2438396" lvl="5">
              <a:buSzPts val="1800"/>
            </a:pPr>
            <a:r>
              <a:rPr lang="en-US" i="1" dirty="0">
                <a:latin typeface="Roboto Mono"/>
                <a:ea typeface="Roboto Mono"/>
                <a:cs typeface="Roboto Mono"/>
                <a:sym typeface="Roboto Mono"/>
              </a:rPr>
              <a:t>if (true) {</a:t>
            </a:r>
          </a:p>
          <a:p>
            <a:pPr marL="2438396" lvl="5">
              <a:buSzPts val="1800"/>
            </a:pPr>
            <a:r>
              <a:rPr lang="en-US" i="1" dirty="0">
                <a:latin typeface="Roboto Mono"/>
                <a:ea typeface="Roboto Mono"/>
                <a:cs typeface="Roboto Mono"/>
                <a:sym typeface="Roboto Mono"/>
              </a:rPr>
              <a:t>  var x = 5;</a:t>
            </a:r>
          </a:p>
          <a:p>
            <a:pPr marL="2438396" lvl="5">
              <a:buSzPts val="1800"/>
            </a:pPr>
            <a:r>
              <a:rPr lang="en-US" i="1" dirty="0"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  <a:p>
            <a:pPr marL="2438396" lvl="5">
              <a:buSzPts val="1800"/>
            </a:pPr>
            <a:r>
              <a:rPr lang="en-US" i="1" dirty="0">
                <a:latin typeface="Roboto Mono"/>
                <a:ea typeface="Roboto Mono"/>
                <a:cs typeface="Roboto Mono"/>
                <a:sym typeface="Roboto Mono"/>
              </a:rPr>
              <a:t>console.log(x);  // 5</a:t>
            </a:r>
          </a:p>
          <a:p>
            <a:pPr marL="2438396" lvl="5">
              <a:buSzPts val="1800"/>
            </a:pPr>
            <a:endParaRPr lang="en-US" i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2438396" lvl="5">
              <a:buSzPts val="1800"/>
            </a:pPr>
            <a:r>
              <a:rPr lang="es-ES" i="1" dirty="0" err="1"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-ES" i="1" dirty="0">
                <a:latin typeface="Roboto Mono"/>
                <a:ea typeface="Roboto Mono"/>
                <a:cs typeface="Roboto Mono"/>
                <a:sym typeface="Roboto Mono"/>
              </a:rPr>
              <a:t> (true) {</a:t>
            </a:r>
          </a:p>
          <a:p>
            <a:pPr marL="2438396" lvl="5">
              <a:buSzPts val="1800"/>
            </a:pPr>
            <a:r>
              <a:rPr lang="es-ES" i="1" dirty="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s-ES" i="1" dirty="0" err="1"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es-ES" i="1" dirty="0">
                <a:latin typeface="Roboto Mono"/>
                <a:ea typeface="Roboto Mono"/>
                <a:cs typeface="Roboto Mono"/>
                <a:sym typeface="Roboto Mono"/>
              </a:rPr>
              <a:t> y = 5;</a:t>
            </a:r>
          </a:p>
          <a:p>
            <a:pPr marL="2438396" lvl="5">
              <a:buSzPts val="1800"/>
            </a:pPr>
            <a:r>
              <a:rPr lang="es-ES" i="1" dirty="0"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  <a:p>
            <a:pPr marL="2438396" lvl="5">
              <a:buSzPts val="1800"/>
            </a:pPr>
            <a:r>
              <a:rPr lang="es-ES" i="1" dirty="0">
                <a:latin typeface="Roboto Mono"/>
                <a:ea typeface="Roboto Mono"/>
                <a:cs typeface="Roboto Mono"/>
                <a:sym typeface="Roboto Mono"/>
              </a:rPr>
              <a:t>console.log(y);  //  </a:t>
            </a:r>
            <a:r>
              <a:rPr lang="es-ES" i="1" dirty="0" err="1">
                <a:latin typeface="Roboto Mono"/>
                <a:ea typeface="Roboto Mono"/>
                <a:cs typeface="Roboto Mono"/>
                <a:sym typeface="Roboto Mono"/>
              </a:rPr>
              <a:t>undefined</a:t>
            </a:r>
            <a:r>
              <a:rPr lang="es-ES" i="1" dirty="0">
                <a:latin typeface="Roboto Mono"/>
                <a:ea typeface="Roboto Mono"/>
                <a:cs typeface="Roboto Mono"/>
                <a:sym typeface="Roboto Mono"/>
              </a:rPr>
              <a:t>,  y </a:t>
            </a:r>
            <a:r>
              <a:rPr lang="es-ES" i="1" dirty="0" err="1">
                <a:latin typeface="Roboto Mono"/>
                <a:ea typeface="Roboto Mono"/>
                <a:cs typeface="Roboto Mono"/>
                <a:sym typeface="Roboto Mono"/>
              </a:rPr>
              <a:t>não</a:t>
            </a:r>
            <a:r>
              <a:rPr lang="es-ES" i="1" dirty="0">
                <a:latin typeface="Roboto Mono"/>
                <a:ea typeface="Roboto Mono"/>
                <a:cs typeface="Roboto Mono"/>
                <a:sym typeface="Roboto Mono"/>
              </a:rPr>
              <a:t> está definido</a:t>
            </a:r>
            <a:endParaRPr lang="pt-BR" i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52396">
              <a:buSzPts val="1800"/>
            </a:pP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52396">
              <a:buSzPts val="1800"/>
            </a:pP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52396">
              <a:buSzPts val="1800"/>
            </a:pPr>
            <a:endParaRPr lang="pt-BR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489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68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Variáveis</a:t>
            </a:r>
            <a:endParaRPr lang="pt-BR" sz="32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9861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Javascript dispõe de diversos tipos de variáveis, cada um adequado para armazenar um tipo de dado. Nesse ponto, é importante ressaltar a importância de escolher com atenção os dados guardados em uma variável. 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O Javascript é uma linguagem fracamente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tipada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, ( isto é, não força o programador a declarar qual o tipo de dado que a variável receberá em tempo de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1872000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68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Variáveis</a:t>
            </a:r>
            <a:endParaRPr lang="pt-BR" sz="32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9861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dirty="0">
                <a:solidFill>
                  <a:srgbClr val="1B1B1B"/>
                </a:solidFill>
                <a:latin typeface="Roboto Mono"/>
                <a:sym typeface="Roboto Mono"/>
              </a:rPr>
              <a:t>Números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Diferente de muitas linguagens de programação, o Javascript não diferencia números inteiros, em ponto flutuante,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double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precision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, etc. Todos os números são tratados como ponto flutuante de 64 bits. 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Para declarar um inteiro, por exemplo, usamos: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inteiro = 5;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Declarando um número com casas decimais é feito: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pi = 3.14;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Caso seja feita uma operação entre dois números inteiros que resulte em um número com casas decimais, o resultado será automaticamente interpretado corretamente: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var dividendo = 5;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var divisor = 2;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var resultado = 0;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resultado = dividendo / divisor;</a:t>
            </a: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// O valor  da variável resultado será 2.5.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363656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68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Variáveis</a:t>
            </a:r>
            <a:endParaRPr lang="pt-BR" sz="32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239861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endParaRPr lang="pt-BR" sz="24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são  conjuntos de texto. São declaradas usando aspas simples ou aspas duplas: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exemplo = ‘Essa é uma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em Javascript’;</a:t>
            </a:r>
          </a:p>
          <a:p>
            <a:pPr marL="1066796" lvl="2">
              <a:buSzPts val="1800"/>
            </a:pP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exemplo2 = “Outra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em Javascript”;</a:t>
            </a:r>
          </a:p>
          <a:p>
            <a:pPr marL="152396">
              <a:buSzPts val="1800"/>
            </a:pPr>
            <a:endParaRPr lang="pt-BR" sz="2400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845042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68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Variáveis</a:t>
            </a:r>
            <a:endParaRPr lang="pt-BR" sz="32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030136"/>
            <a:ext cx="11727200" cy="471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dirty="0" err="1">
                <a:solidFill>
                  <a:srgbClr val="1B1B1B"/>
                </a:solidFill>
                <a:latin typeface="Roboto Mono"/>
                <a:sym typeface="Roboto Mono"/>
              </a:rPr>
              <a:t>Booleans</a:t>
            </a:r>
            <a:r>
              <a:rPr lang="pt-BR" sz="2400" b="1" dirty="0">
                <a:solidFill>
                  <a:srgbClr val="1B1B1B"/>
                </a:solidFill>
                <a:latin typeface="Roboto Mono"/>
                <a:sym typeface="Roboto Mono"/>
              </a:rPr>
              <a:t> (booleanos)</a:t>
            </a: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Frequentemente, durante o desenvolvimento de código Javascript, haverá valores que, por definição, podem assumir apenas dois valores: verdadeiro ou falso. 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Booleanos em Javascript descrevem exatamente esse comportamento. Uma variável do tipo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boolean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pode assumir apenas o valor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(verdadeiro) ou false (falso).  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Variáveis deste tipo são usadas para executar operações lógicas, por exemplo, dentro de blocos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if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. Veja alguns exemplos: 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 resultado1 = 5&gt;4;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// O valor da variável  resultado1 será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(verdadeiro), por que 5 é maior que 4.</a:t>
            </a:r>
          </a:p>
          <a:p>
            <a:pPr marL="1066796" lvl="2">
              <a:buSzPts val="1800"/>
            </a:pP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 resultado2 = 4&gt;5;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// O valor da variável resultado2 será false (falso), por que 4 não é maior que cinco.</a:t>
            </a:r>
          </a:p>
          <a:p>
            <a:pPr marL="152396">
              <a:buSzPts val="1800"/>
            </a:pPr>
            <a:endParaRPr lang="pt-BR" sz="2400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757954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68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Variáveis</a:t>
            </a:r>
            <a:endParaRPr lang="pt-BR" sz="32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030136"/>
            <a:ext cx="11727200" cy="471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dirty="0" err="1">
                <a:solidFill>
                  <a:srgbClr val="1B1B1B"/>
                </a:solidFill>
                <a:latin typeface="Roboto Mono"/>
                <a:sym typeface="Roboto Mono"/>
              </a:rPr>
              <a:t>Arrays</a:t>
            </a:r>
            <a:endParaRPr lang="pt-BR" sz="2400" b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Arrays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são objetos de alto nível que descrevem listas de valores. Os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arrays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são capazes de armazenar diversos valores indexados por números inteiros.</a:t>
            </a: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Por exemplo, o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abaixo armazena uma lista de carros: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var carros = [“Gol”, “Uno”, “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Agile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”];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A indexação de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arrays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em Javascript começa com 0. É importante observar que, apesar de o tamanho do nosso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 carros ser 3, o primeiro valor terá índice 0 e o último, índice 2. 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Para acessar elementos de um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, é usada a sintaxe abaixo: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96" lvl="3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gol = carros[0];   // O valor de gol será “Gol”, o primeiro valor do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. 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297839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68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Variáveis</a:t>
            </a:r>
            <a:endParaRPr lang="pt-BR" sz="32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030136"/>
            <a:ext cx="11727200" cy="471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Para mudar o valor de uma determinada posição de um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, usamos: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carros[2] = “Spin”;// O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agora será:  [“Gol”, “Uno”, “Spin”];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Arrays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também podem ser declarados usando a palavra-chave ‘new’: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carros = new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(“Gol”, “Uno”, “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Agile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”); 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Um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pode receber entre seus elementos qualquer tipo de dado Javascript: </a:t>
            </a:r>
          </a:p>
          <a:p>
            <a:pPr marL="152396">
              <a:buSzPts val="1800"/>
            </a:pP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, números e até mesmo objetos. </a:t>
            </a: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O poder dos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arrays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em Javascript está nos métodos e propriedades disponíveis para usarmos. 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755752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68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Variáveis</a:t>
            </a:r>
            <a:endParaRPr lang="pt-BR" sz="32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030136"/>
            <a:ext cx="11727200" cy="471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Vejamos alguns exemplos de métodos e propriedades bastante úteis quando estamos desenvolvendo programas em Javascript. 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Para saber o tamanho, isto é, a quantidade de elementos de um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, pode ser usada a propriedade ‘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length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’: 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tamanho =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carros.</a:t>
            </a:r>
            <a:r>
              <a:rPr lang="pt-BR" sz="2000" b="1" i="1" dirty="0" err="1">
                <a:solidFill>
                  <a:srgbClr val="1B1B1B"/>
                </a:solidFill>
                <a:latin typeface="Roboto Mono"/>
                <a:sym typeface="Roboto Mono"/>
              </a:rPr>
              <a:t>length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;  // a variável tamanho vai guardar o valor  3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Caso precise ordenar os elementos de um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, pode ser usado o método ‘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sort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’: 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carros.</a:t>
            </a:r>
            <a:r>
              <a:rPr lang="pt-BR" sz="2000" b="1" i="1" dirty="0" err="1">
                <a:solidFill>
                  <a:srgbClr val="1B1B1B"/>
                </a:solidFill>
                <a:latin typeface="Roboto Mono"/>
                <a:sym typeface="Roboto Mono"/>
              </a:rPr>
              <a:t>sort</a:t>
            </a:r>
            <a:r>
              <a:rPr lang="pt-BR" sz="2000" b="1" i="1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;  // O resultado será [“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Agile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”, “Gol”, “Uno”]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[2, 1, 8, 5].</a:t>
            </a:r>
            <a:r>
              <a:rPr lang="pt-BR" sz="2000" b="1" i="1" dirty="0" err="1">
                <a:solidFill>
                  <a:srgbClr val="1B1B1B"/>
                </a:solidFill>
                <a:latin typeface="Roboto Mono"/>
                <a:sym typeface="Roboto Mono"/>
              </a:rPr>
              <a:t>sort</a:t>
            </a:r>
            <a:r>
              <a:rPr lang="pt-BR" sz="2000" b="1" i="1" dirty="0">
                <a:solidFill>
                  <a:srgbClr val="1B1B1B"/>
                </a:solidFill>
                <a:latin typeface="Roboto Mono"/>
                <a:sym typeface="Roboto Mono"/>
              </a:rPr>
              <a:t>() 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// O resultado será [1, 2, 5, 8]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922762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68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Variáveis</a:t>
            </a:r>
            <a:endParaRPr lang="pt-BR" sz="32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030136"/>
            <a:ext cx="11727200" cy="471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O método </a:t>
            </a:r>
            <a:r>
              <a:rPr lang="pt-BR" b="1" dirty="0" err="1">
                <a:solidFill>
                  <a:srgbClr val="1B1B1B"/>
                </a:solidFill>
                <a:latin typeface="Roboto Mono"/>
                <a:sym typeface="Roboto Mono"/>
              </a:rPr>
              <a:t>push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é usado para incluir um elemento em um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. Ele sempre inclui o elemento no final do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: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96" lvl="3">
              <a:buSzPts val="1800"/>
            </a:pP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carros.</a:t>
            </a:r>
            <a:r>
              <a:rPr lang="pt-BR" sz="2000" b="1" i="1" dirty="0" err="1">
                <a:solidFill>
                  <a:srgbClr val="1B1B1B"/>
                </a:solidFill>
                <a:latin typeface="Roboto Mono"/>
                <a:sym typeface="Roboto Mono"/>
              </a:rPr>
              <a:t>push</a:t>
            </a:r>
            <a:r>
              <a:rPr lang="pt-BR" sz="2000" b="1" i="1" dirty="0">
                <a:solidFill>
                  <a:srgbClr val="1B1B1B"/>
                </a:solidFill>
                <a:latin typeface="Roboto Mono"/>
                <a:sym typeface="Roboto Mono"/>
              </a:rPr>
              <a:t>(“Fusca”);</a:t>
            </a:r>
          </a:p>
          <a:p>
            <a:pPr marL="1523996" lvl="3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// o 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carros agora tem os seguintes valores  [“Gol”, “Uno”, “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Agile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”, “Fusca”]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Já o método </a:t>
            </a:r>
            <a:r>
              <a:rPr lang="pt-BR" b="1" dirty="0">
                <a:solidFill>
                  <a:srgbClr val="1B1B1B"/>
                </a:solidFill>
                <a:latin typeface="Roboto Mono"/>
                <a:sym typeface="Roboto Mono"/>
              </a:rPr>
              <a:t>pop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apaga o último elemento do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: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96" lvl="3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var fusca =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carros.</a:t>
            </a:r>
            <a:r>
              <a:rPr lang="pt-BR" sz="2000" b="1" dirty="0" err="1">
                <a:solidFill>
                  <a:srgbClr val="1B1B1B"/>
                </a:solidFill>
                <a:latin typeface="Roboto Mono"/>
                <a:sym typeface="Roboto Mono"/>
              </a:rPr>
              <a:t>pop</a:t>
            </a:r>
            <a:r>
              <a:rPr lang="pt-BR" sz="2000" b="1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;</a:t>
            </a:r>
          </a:p>
          <a:p>
            <a:pPr marL="1523996" lvl="3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// O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carros agora virou [“Gol”, “Uno”, “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Agile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”]</a:t>
            </a: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        // E a variável fusca guarda a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(texto) “Fusca”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Note que o método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push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recebe como argumento o elemento que deve ser inserido no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. 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O método pop, por outro lado, não recebe nenhum argumento, mas retorna o elemento excluído do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. 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410324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68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Variáveis</a:t>
            </a:r>
            <a:endParaRPr lang="pt-BR" sz="32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030136"/>
            <a:ext cx="11727200" cy="471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dirty="0">
                <a:solidFill>
                  <a:srgbClr val="1B1B1B"/>
                </a:solidFill>
                <a:latin typeface="Roboto Mono"/>
                <a:sym typeface="Roboto Mono"/>
              </a:rPr>
              <a:t>Objetos</a:t>
            </a: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Nós já vimos que o Javascript permite criar variáveis para armazenar diversos tipos de dados. </a:t>
            </a: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Objetos são tipos de dados especiais que podem armazenar vários valores ao mesmo tempo. Um objeto é uma abstração de um tipo complexo de dados. 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Se quisermos manipular um tipo de dado que descreva um cliente, em Javascript, podemos usar um objeto para modelar esse cliente:</a:t>
            </a: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cliente = {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nome:”João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”, 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sobrenome:”Silva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”, 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	idade:50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};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Para acessar as propriedades de objetos, usamos o operador de ponto: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nomeCliente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cliente.nome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; //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nomeCliente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será “João” ou 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nomeCliente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cliente[“nome”];</a:t>
            </a:r>
            <a:endParaRPr lang="pt-BR" sz="2400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696151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68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Variáveis</a:t>
            </a:r>
            <a:endParaRPr lang="pt-BR" sz="32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030136"/>
            <a:ext cx="11727200" cy="471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400" b="1" dirty="0" err="1">
                <a:solidFill>
                  <a:srgbClr val="1B1B1B"/>
                </a:solidFill>
                <a:latin typeface="Roboto Mono"/>
                <a:sym typeface="Roboto Mono"/>
              </a:rPr>
              <a:t>Functions</a:t>
            </a:r>
            <a:endParaRPr lang="pt-BR" sz="2400" b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Um recurso bastante interessante dos objetos em Javascript é a possibilidade de definir funções personalizadas. Ainda usando o exemplo do objeto cliente, podemos definir uma função que retorne o nome completo do cliente: </a:t>
            </a:r>
          </a:p>
          <a:p>
            <a:pPr marL="1981196" lvl="4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cliente = {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nome:”João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”, 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sobrenome:”Silva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”, 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idade:50,	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nomeCompleto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: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function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() {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return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this.nome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+ “ “ +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this.sobrenome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;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}</a:t>
            </a:r>
          </a:p>
          <a:p>
            <a:pPr marL="1981196" lvl="4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};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912819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68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Variáveis</a:t>
            </a:r>
            <a:endParaRPr lang="pt-BR" sz="32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030136"/>
            <a:ext cx="11727200" cy="471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A propriedade “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nomeCompleto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”, quando for chamada por meio do operador de ponto, fará a chamada da função que retornará a propriedade “nome”, concatenada com um espaço e a propriedade “sobrenome”: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96" lvl="3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nomeFuncao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cliente.nomeCompleto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();</a:t>
            </a:r>
          </a:p>
          <a:p>
            <a:pPr marL="1523996" lvl="3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// a função retornará João Silva.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Observe que, por ser uma função, ao acessar a propriedade “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nomeCompleto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”, é preciso abrir e fechar parênteses, explicitando que o que se quer é que a função seja executada. 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416576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68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Constantes</a:t>
            </a:r>
            <a:endParaRPr lang="pt-BR" sz="32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030136"/>
            <a:ext cx="11727200" cy="471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Você pode criar uma constante apenas de leitura por meio da palavra-chave const. A sintaxe de um identificador de uma constante é semelhante ao identificador de uma variável: deve começar com uma letra, sublinhado ou cifrão e pode conter caractere alfabético, numérico ou sublinhado.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	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const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PI = 3.14;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Uma constante não pode alterar seu valor por meio de uma atribuição ou ser declarada novamente enquanto o script está em execução. Deve ser inicializada com um valor.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As regras de escopo para as constantes são as mesmas para as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váriaveis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let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de escopo de bloco. Se a palavra-chave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const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for omitida, presume-se que o identificador represente uma variável.</a:t>
            </a:r>
          </a:p>
        </p:txBody>
      </p:sp>
    </p:spTree>
    <p:extLst>
      <p:ext uri="{BB962C8B-B14F-4D97-AF65-F5344CB8AC3E}">
        <p14:creationId xmlns:p14="http://schemas.microsoft.com/office/powerpoint/2010/main" val="4173387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68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Conversão de tipos de dados</a:t>
            </a:r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030136"/>
            <a:ext cx="11727200" cy="471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é uma linguagem dinamicamente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tipada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. Isso significa que você não precisa especificar o tipo de dado de uma variável quando declará-la, e tipos de dados são convertidos automaticamente conforme a necessidade durante a execução do script. Então, por exemplo, você pode definir uma variável da seguinte forma:</a:t>
            </a: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answer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42;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E depois, você pode atribuir uma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para a mesma variável, por exemplo:</a:t>
            </a: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answer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"Obrigado pelos peixes...";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Devido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ser dinamicamente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tipado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, essa declaração não gera uma mensagem de erro.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381022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68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Conversão de tipos de dados</a:t>
            </a:r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030136"/>
            <a:ext cx="11727200" cy="471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Em expressões envolvendo valores numérico e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com o operador +,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converte valores numérico para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. Por exemplo, considere a seguinte declaração: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x = "A resposta é " + 42 // "A resposta é 42"</a:t>
            </a: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y = 42 + " é a resposta" // "42 é a resposta“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Nas declarações envolvendo outros operadores, 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não converte valores numérico para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. Por exemplo: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"37" - 7 // 30</a:t>
            </a: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"37" + 7 // "377"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701286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68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48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Convertendo </a:t>
            </a:r>
            <a:r>
              <a:rPr lang="pt-BR" sz="48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strings</a:t>
            </a:r>
            <a:r>
              <a:rPr lang="pt-BR" sz="48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para números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03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030136"/>
            <a:ext cx="11727200" cy="471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No caso de um valor que representa um número está armazenado na memória como uma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, existem métodos para a conversão.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b="1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b="1" dirty="0" err="1">
                <a:solidFill>
                  <a:srgbClr val="1B1B1B"/>
                </a:solidFill>
                <a:latin typeface="Roboto Mono"/>
                <a:sym typeface="Roboto Mono"/>
              </a:rPr>
              <a:t>parseInt</a:t>
            </a:r>
            <a:r>
              <a:rPr lang="pt-BR" b="1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</a:p>
          <a:p>
            <a:pPr marL="152396">
              <a:buSzPts val="1800"/>
            </a:pPr>
            <a:r>
              <a:rPr lang="pt-BR" b="1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A função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parseInt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() analisa um argumento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e retorna um inteiro na base especificada.</a:t>
            </a:r>
          </a:p>
          <a:p>
            <a:pPr marL="152396">
              <a:buSzPts val="1800"/>
            </a:pPr>
            <a:r>
              <a:rPr lang="pt-BR" b="1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b="1" dirty="0" err="1">
                <a:solidFill>
                  <a:srgbClr val="1B1B1B"/>
                </a:solidFill>
                <a:latin typeface="Roboto Mono"/>
                <a:sym typeface="Roboto Mono"/>
              </a:rPr>
              <a:t>parseFloat</a:t>
            </a:r>
            <a:r>
              <a:rPr lang="pt-BR" b="1" dirty="0">
                <a:solidFill>
                  <a:srgbClr val="1B1B1B"/>
                </a:solidFill>
                <a:latin typeface="Roboto Mono"/>
                <a:sym typeface="Roboto Mono"/>
              </a:rPr>
              <a:t>()</a:t>
            </a:r>
          </a:p>
          <a:p>
            <a:pPr marL="152396">
              <a:buSzPts val="1800"/>
            </a:pPr>
            <a:r>
              <a:rPr lang="pt-BR" b="1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A função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parseFloat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() analisa um argumento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e retorna um número de ponto flutuante.</a:t>
            </a:r>
          </a:p>
          <a:p>
            <a:pPr marL="152396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b="1" dirty="0" err="1">
                <a:solidFill>
                  <a:srgbClr val="1B1B1B"/>
                </a:solidFill>
                <a:latin typeface="Roboto Mono"/>
                <a:sym typeface="Roboto Mono"/>
              </a:rPr>
              <a:t>parseInt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irá retornar apenas números inteiros, então seu uso é restrito para a casa dos decimais. Além disso, é uma boa prática ao usar </a:t>
            </a:r>
            <a:r>
              <a:rPr lang="pt-BR" b="1" dirty="0" err="1">
                <a:solidFill>
                  <a:srgbClr val="1B1B1B"/>
                </a:solidFill>
                <a:latin typeface="Roboto Mono"/>
                <a:sym typeface="Roboto Mono"/>
              </a:rPr>
              <a:t>parseInt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incluir o parâmetro da base. O parâmetro da base é usado para especificar qual sistema numérico deve ser usado.</a:t>
            </a:r>
          </a:p>
        </p:txBody>
      </p:sp>
    </p:spTree>
    <p:extLst>
      <p:ext uri="{BB962C8B-B14F-4D97-AF65-F5344CB8AC3E}">
        <p14:creationId xmlns:p14="http://schemas.microsoft.com/office/powerpoint/2010/main" val="14505076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4634</TotalTime>
  <Words>2434</Words>
  <Application>Microsoft Office PowerPoint</Application>
  <PresentationFormat>Widescreen</PresentationFormat>
  <Paragraphs>245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Roboto Mono</vt:lpstr>
      <vt:lpstr>Roboto Mono Medium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Henrique Cunha Rangel</dc:creator>
  <cp:lastModifiedBy>Marcelo Vieira</cp:lastModifiedBy>
  <cp:revision>58</cp:revision>
  <dcterms:created xsi:type="dcterms:W3CDTF">2018-09-27T21:57:56Z</dcterms:created>
  <dcterms:modified xsi:type="dcterms:W3CDTF">2022-06-25T20:16:39Z</dcterms:modified>
</cp:coreProperties>
</file>