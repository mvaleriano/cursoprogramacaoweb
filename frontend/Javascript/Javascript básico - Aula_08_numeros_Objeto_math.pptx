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769" r:id="rId2"/>
    <p:sldId id="797" r:id="rId3"/>
    <p:sldId id="820" r:id="rId4"/>
    <p:sldId id="821" r:id="rId5"/>
    <p:sldId id="822" r:id="rId6"/>
    <p:sldId id="823" r:id="rId7"/>
    <p:sldId id="819" r:id="rId8"/>
    <p:sldId id="824" r:id="rId9"/>
    <p:sldId id="825" r:id="rId10"/>
    <p:sldId id="826" r:id="rId11"/>
    <p:sldId id="827" r:id="rId12"/>
    <p:sldId id="828" r:id="rId13"/>
    <p:sldId id="829" r:id="rId14"/>
    <p:sldId id="830" r:id="rId15"/>
    <p:sldId id="83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81" autoAdjust="0"/>
    <p:restoredTop sz="94660"/>
  </p:normalViewPr>
  <p:slideViewPr>
    <p:cSldViewPr snapToGrid="0">
      <p:cViewPr>
        <p:scale>
          <a:sx n="100" d="100"/>
          <a:sy n="100" d="100"/>
        </p:scale>
        <p:origin x="-72" y="-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136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1631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0575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93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493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881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648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253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905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155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942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465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03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08 - </a:t>
            </a:r>
            <a:r>
              <a:rPr lang="pt-BR" sz="2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Números e o Objeto </a:t>
            </a:r>
            <a:r>
              <a:rPr lang="pt-BR" sz="28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Math</a:t>
            </a:r>
            <a:endParaRPr sz="28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números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Usamos diferentes termos para descrever diferentes tipos de números decimais, por exemplo: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Integers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 (inteiros)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são números inteiros, ex. 10, 400 ou -5.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Números de ponto flutuante (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floats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)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tem pontos e casas decimais, por exemplo 12.5 e 56.7786543.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  </a:t>
            </a:r>
            <a:r>
              <a:rPr lang="pt-BR" sz="2200" b="1" dirty="0" err="1">
                <a:solidFill>
                  <a:srgbClr val="1B1B1B"/>
                </a:solidFill>
                <a:latin typeface="Roboto Mono"/>
                <a:sym typeface="Roboto Mono"/>
              </a:rPr>
              <a:t>Doubles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são tipos de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floats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que tem uma precisão maior do que os números de ponto flutuante padrões    (significando que eles são mais precisos, possuindo uma grande quantidade de casas decimais).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números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Temos também diferentes tipos de sistemas numéricos!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decimal tem por base 10 (o que significa que ele usa um número entre 0–9 em cada casa),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mas temos também algo como: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Binário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 linguagem de menor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level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dos computadores; 0s e 1s.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Octal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Base 8, usa um caractere entre 0–7 em cada coluna.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Hexadecimal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Base 16, usa um caractere entre 0–9 e depois um entre a–f em cada coluna. Você pode já ter encontrado esses números anteriormente, </a:t>
            </a:r>
            <a:r>
              <a:rPr lang="pt-BR" dirty="0" smtClean="0">
                <a:solidFill>
                  <a:srgbClr val="1B1B1B"/>
                </a:solidFill>
                <a:latin typeface="Roboto Mono"/>
                <a:sym typeface="Roboto Mono"/>
              </a:rPr>
              <a:t>trabalhando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com cores no CSS.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50374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números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Temos também diferentes tipos de sistemas numéricos! 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decimal tem por base 10 (o que significa que ele usa um número entre 0–9 em cada casa), 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mas temos também algo como: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Binário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A linguagem de menor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level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dos computadores; 0s e 1s.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Octal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Base 8, usa um caractere entre 0–7 em cada coluna.</a:t>
            </a:r>
          </a:p>
          <a:p>
            <a:pPr marL="152396">
              <a:buSzPts val="1800"/>
            </a:pP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Hexadecimal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—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Base 16, usa um caractere entre 0–9 e depois um entre a–f em cada coluna. Você pode já ter encontrado esses números anteriormente,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trabahando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 com cores no CSS.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1646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números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objeto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é um objeto encapsulado que permite você trabalhar com valores numéricos. Um objeto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é criado utilizando o construtor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(). 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sz="3200" i="1" dirty="0">
                <a:solidFill>
                  <a:srgbClr val="1B1B1B"/>
                </a:solidFill>
                <a:latin typeface="Roboto Mono"/>
                <a:sym typeface="Roboto Mono"/>
              </a:rPr>
              <a:t>new </a:t>
            </a:r>
            <a:r>
              <a:rPr lang="pt-BR" sz="3200" i="1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3200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3200" i="1" dirty="0" err="1">
                <a:solidFill>
                  <a:srgbClr val="1B1B1B"/>
                </a:solidFill>
                <a:latin typeface="Roboto Mono"/>
                <a:sym typeface="Roboto Mono"/>
              </a:rPr>
              <a:t>value</a:t>
            </a:r>
            <a:r>
              <a:rPr lang="pt-BR" sz="3200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52396">
              <a:buSzPts val="1800"/>
            </a:pPr>
            <a:endParaRPr lang="pt-BR" sz="3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Onde o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value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e o valor numérico do objeto sendo criado.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82818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números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>
                <a:solidFill>
                  <a:srgbClr val="1B1B1B"/>
                </a:solidFill>
                <a:latin typeface="Roboto Mono"/>
                <a:sym typeface="Roboto Mono"/>
              </a:rPr>
              <a:t>Descrição</a:t>
            </a:r>
          </a:p>
          <a:p>
            <a:pPr marL="152396">
              <a:buSzPts val="1800"/>
            </a:pPr>
            <a:r>
              <a:rPr lang="pt-BR" sz="2200">
                <a:solidFill>
                  <a:srgbClr val="1B1B1B"/>
                </a:solidFill>
                <a:latin typeface="Roboto Mono"/>
                <a:sym typeface="Roboto Mono"/>
              </a:rPr>
              <a:t>Os principais usos para o objeto Number são:</a:t>
            </a:r>
          </a:p>
          <a:p>
            <a:pPr marL="152396">
              <a:buSzPts val="1800"/>
            </a:pPr>
            <a:endParaRPr lang="pt-BR" sz="220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>
                <a:solidFill>
                  <a:srgbClr val="1B1B1B"/>
                </a:solidFill>
                <a:latin typeface="Roboto Mono"/>
                <a:sym typeface="Roboto Mono"/>
              </a:rPr>
              <a:t>Se o objeto não pode ser convertido para um número, é retornado NaN.</a:t>
            </a:r>
          </a:p>
          <a:p>
            <a:pPr marL="152396">
              <a:buSzPts val="1800"/>
            </a:pPr>
            <a:r>
              <a:rPr lang="pt-BR" sz="2200">
                <a:solidFill>
                  <a:srgbClr val="1B1B1B"/>
                </a:solidFill>
                <a:latin typeface="Roboto Mono"/>
                <a:sym typeface="Roboto Mono"/>
              </a:rPr>
              <a:t>Fora do contexo de um construtor (Ex., Sem o operador new, Number pode ser utilizador para realizar uma conversão de tipo.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89831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Propriedades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9" name="Tabela 3">
            <a:extLst>
              <a:ext uri="{FF2B5EF4-FFF2-40B4-BE49-F238E27FC236}">
                <a16:creationId xmlns:a16="http://schemas.microsoft.com/office/drawing/2014/main" xmlns="" id="{639E48C7-DAEB-CE24-C36F-2D0EA85CF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79350"/>
              </p:ext>
            </p:extLst>
          </p:nvPr>
        </p:nvGraphicFramePr>
        <p:xfrm>
          <a:off x="232399" y="2088859"/>
          <a:ext cx="11727199" cy="380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421">
                  <a:extLst>
                    <a:ext uri="{9D8B030D-6E8A-4147-A177-3AD203B41FA5}">
                      <a16:colId xmlns:a16="http://schemas.microsoft.com/office/drawing/2014/main" xmlns="" val="1033087695"/>
                    </a:ext>
                  </a:extLst>
                </a:gridCol>
                <a:gridCol w="8469778">
                  <a:extLst>
                    <a:ext uri="{9D8B030D-6E8A-4147-A177-3AD203B41FA5}">
                      <a16:colId xmlns:a16="http://schemas.microsoft.com/office/drawing/2014/main" xmlns="" val="896926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Descrição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7353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Number.EPSILON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menor intervalo entre dois números representáveis.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843296941"/>
                  </a:ext>
                </a:extLst>
              </a:tr>
              <a:tr h="139366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Number.MAX_SAFE_INTEGER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inteiro máximo seguro em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JavaScript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 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lang="pt-BR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-1)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6701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Number.MAX_VALUE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maior número representável positivo.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91256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Number.MIN_SAFE_INTEGER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inteiro mínimo seguro em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JavaScript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 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(-(2</a:t>
                      </a:r>
                      <a:r>
                        <a:rPr lang="pt-BR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-1)).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97960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Number.MIN_VALUE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número mínimo representável positivo - isto é, o número positivo mais próximo de zero (sem ser zero na verdade).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44539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Number.NaN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Valor especial que não é número.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57917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Number.NEGATIVE_INFINITY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Valor especial representando infinito negativo; retornado no "overflow".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292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Number.POSITIVE_INFINITY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Valor especial representando infinito; retornado no "overflow".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75342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Number.prototype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Permite a adição de propriedades a um objeto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36256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96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9" name="Tabela 3">
            <a:extLst>
              <a:ext uri="{FF2B5EF4-FFF2-40B4-BE49-F238E27FC236}">
                <a16:creationId xmlns:a16="http://schemas.microsoft.com/office/drawing/2014/main" xmlns="" id="{639E48C7-DAEB-CE24-C36F-2D0EA85CF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01668"/>
              </p:ext>
            </p:extLst>
          </p:nvPr>
        </p:nvGraphicFramePr>
        <p:xfrm>
          <a:off x="232399" y="2088859"/>
          <a:ext cx="11727199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421">
                  <a:extLst>
                    <a:ext uri="{9D8B030D-6E8A-4147-A177-3AD203B41FA5}">
                      <a16:colId xmlns:a16="http://schemas.microsoft.com/office/drawing/2014/main" xmlns="" val="1033087695"/>
                    </a:ext>
                  </a:extLst>
                </a:gridCol>
                <a:gridCol w="8469778">
                  <a:extLst>
                    <a:ext uri="{9D8B030D-6E8A-4147-A177-3AD203B41FA5}">
                      <a16:colId xmlns:a16="http://schemas.microsoft.com/office/drawing/2014/main" xmlns="" val="896926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Descrição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7353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Number.isNaN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Determina se o valor passado é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NaN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843296941"/>
                  </a:ext>
                </a:extLst>
              </a:tr>
              <a:tr h="139366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Number.isFinite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Determina se o tipo e o valor passado é um número finito.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267016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Number.isInteger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Determina se o tipo do valor passado é  inteiro.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91256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Number.isSafeInteger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Determina se o tipo do valor passado é um inteiro seguro (número entre 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-(2</a:t>
                      </a:r>
                      <a:r>
                        <a:rPr lang="pt-BR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-1) e 2</a:t>
                      </a:r>
                      <a:r>
                        <a:rPr lang="pt-BR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-1).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Roboto Mono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97960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Number.parseFloat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valor é o mesmo que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parseFloat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 do objeto global.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144539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 fontAlgn="ctr"/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Number.parseInt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()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O valor é o mesmo que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parseInt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Mono"/>
                        </a:rPr>
                        <a:t> do objeto global.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xmlns="" val="3579178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218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67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Math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Matemática básica no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, números e operadores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xmlns="" id="{797C2C98-63A7-8CC0-347B-999F3D514499}"/>
              </a:ext>
            </a:extLst>
          </p:cNvPr>
          <p:cNvSpPr txBox="1"/>
          <p:nvPr/>
        </p:nvSpPr>
        <p:spPr>
          <a:xfrm>
            <a:off x="97871" y="2786767"/>
            <a:ext cx="11996257" cy="3744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Muito do que fazemos se baseia no processamento de dados numéricos, cálculo de novos valores, etc.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tem uma configuração completa de funções matemáticas disponíveis.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tem apenas um tipo de dados para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números,o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Number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Isso significa que qualquer que seja o tipo de números com os quais lidamos 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manipulamos do mesmo jeito.</a:t>
            </a:r>
          </a:p>
        </p:txBody>
      </p:sp>
    </p:spTree>
    <p:extLst>
      <p:ext uri="{BB962C8B-B14F-4D97-AF65-F5344CB8AC3E}">
        <p14:creationId xmlns:p14="http://schemas.microsoft.com/office/powerpoint/2010/main" val="200666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67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Math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aritméticos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xmlns="" id="{F7BFB40D-F42B-4880-479C-BE8111482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091097"/>
              </p:ext>
            </p:extLst>
          </p:nvPr>
        </p:nvGraphicFramePr>
        <p:xfrm>
          <a:off x="401652" y="2786768"/>
          <a:ext cx="11485549" cy="3716582"/>
        </p:xfrm>
        <a:graphic>
          <a:graphicData uri="http://schemas.openxmlformats.org/drawingml/2006/table">
            <a:tbl>
              <a:tblPr/>
              <a:tblGrid>
                <a:gridCol w="922946">
                  <a:extLst>
                    <a:ext uri="{9D8B030D-6E8A-4147-A177-3AD203B41FA5}">
                      <a16:colId xmlns:a16="http://schemas.microsoft.com/office/drawing/2014/main" xmlns="" val="3731827389"/>
                    </a:ext>
                  </a:extLst>
                </a:gridCol>
                <a:gridCol w="1674976">
                  <a:extLst>
                    <a:ext uri="{9D8B030D-6E8A-4147-A177-3AD203B41FA5}">
                      <a16:colId xmlns:a16="http://schemas.microsoft.com/office/drawing/2014/main" xmlns="" val="1313149867"/>
                    </a:ext>
                  </a:extLst>
                </a:gridCol>
                <a:gridCol w="5588949">
                  <a:extLst>
                    <a:ext uri="{9D8B030D-6E8A-4147-A177-3AD203B41FA5}">
                      <a16:colId xmlns:a16="http://schemas.microsoft.com/office/drawing/2014/main" xmlns="" val="4207932301"/>
                    </a:ext>
                  </a:extLst>
                </a:gridCol>
                <a:gridCol w="3298678">
                  <a:extLst>
                    <a:ext uri="{9D8B030D-6E8A-4147-A177-3AD203B41FA5}">
                      <a16:colId xmlns:a16="http://schemas.microsoft.com/office/drawing/2014/main" xmlns="" val="3196177317"/>
                    </a:ext>
                  </a:extLst>
                </a:gridCol>
              </a:tblGrid>
              <a:tr h="31547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dirty="0">
                          <a:effectLst/>
                        </a:rPr>
                        <a:t>Operador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>
                          <a:effectLst/>
                        </a:rPr>
                        <a:t>Nome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>
                          <a:effectLst/>
                        </a:rPr>
                        <a:t>Propósito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>
                          <a:effectLst/>
                        </a:rPr>
                        <a:t>Exemplo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36820511"/>
                  </a:ext>
                </a:extLst>
              </a:tr>
              <a:tr h="488427"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+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Adição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Adiciona um número a outro.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6 + 9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68874143"/>
                  </a:ext>
                </a:extLst>
              </a:tr>
              <a:tr h="618978"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-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Subtração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Subtrai o número da direita do número da esquerda.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 dirty="0">
                          <a:effectLst/>
                        </a:rPr>
                        <a:t>20 - 15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0937383"/>
                  </a:ext>
                </a:extLst>
              </a:tr>
              <a:tr h="488427"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*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Multiplicação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Multiplica um número pelo outro.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3 * 7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67400820"/>
                  </a:ext>
                </a:extLst>
              </a:tr>
              <a:tr h="709191"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/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 dirty="0">
                          <a:effectLst/>
                        </a:rPr>
                        <a:t>Divisão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Divide o número da esquerda pelo número da direita.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10 / 5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4827046"/>
                  </a:ext>
                </a:extLst>
              </a:tr>
              <a:tr h="1096081"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%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 dirty="0">
                          <a:effectLst/>
                        </a:rPr>
                        <a:t>Restante </a:t>
                      </a:r>
                      <a:r>
                        <a:rPr lang="pt-BR" sz="1600" i="1" dirty="0">
                          <a:effectLst/>
                        </a:rPr>
                        <a:t>(</a:t>
                      </a:r>
                      <a:r>
                        <a:rPr lang="pt-BR" sz="1600" dirty="0">
                          <a:effectLst/>
                        </a:rPr>
                        <a:t>modulo)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Retorna o resto da divisão em números inteiros do número da esquerda pelo número da direita.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 dirty="0">
                          <a:effectLst/>
                        </a:rPr>
                        <a:t>8 % 3 (retorna 2; como três cabe duas vezes em 8, deixando 2 como resto.)</a:t>
                      </a:r>
                    </a:p>
                  </a:txBody>
                  <a:tcPr marL="51802" marR="51802" marT="25901" marB="259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0956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93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67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Math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Precedência de operador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4A81E069-2AC8-71CD-882B-C8CD5906B2DD}"/>
              </a:ext>
            </a:extLst>
          </p:cNvPr>
          <p:cNvSpPr txBox="1"/>
          <p:nvPr/>
        </p:nvSpPr>
        <p:spPr>
          <a:xfrm>
            <a:off x="268448" y="2830933"/>
            <a:ext cx="112076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	A precedência de operadores em </a:t>
            </a:r>
            <a:r>
              <a:rPr lang="pt-BR" sz="2400" dirty="0" err="1"/>
              <a:t>JavaScript</a:t>
            </a:r>
            <a:r>
              <a:rPr lang="pt-BR" sz="2400" dirty="0"/>
              <a:t> é semelhante ao ensinado nas aulas de matemática na escola — Multiplicação e divisão são realizados primeiro, depois a adição e subtração (a soma é sempre realizada da esquerda para a direita).</a:t>
            </a:r>
          </a:p>
          <a:p>
            <a:endParaRPr lang="pt-BR" sz="2400" dirty="0"/>
          </a:p>
          <a:p>
            <a:r>
              <a:rPr lang="pt-BR" sz="2400" dirty="0"/>
              <a:t>		</a:t>
            </a:r>
            <a:r>
              <a:rPr lang="pt-BR" sz="2400" i="1" dirty="0"/>
              <a:t>(num2 + num1) / (8 + 2);</a:t>
            </a:r>
          </a:p>
          <a:p>
            <a:r>
              <a:rPr lang="pt-BR" sz="24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69734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67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Math</a:t>
            </a:r>
            <a:endParaRPr lang="pt-BR" sz="54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Operadores de incremento e decremento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4A81E069-2AC8-71CD-882B-C8CD5906B2DD}"/>
              </a:ext>
            </a:extLst>
          </p:cNvPr>
          <p:cNvSpPr txBox="1"/>
          <p:nvPr/>
        </p:nvSpPr>
        <p:spPr>
          <a:xfrm>
            <a:off x="268448" y="2830933"/>
            <a:ext cx="11207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Às vezes você desejará adicionar ou subtrair, repetidamente, um valor de uma variável numérica. Convenientemente isto pode ser feito usando os operadores incremento ++ e decremento --. Usamos ++</a:t>
            </a:r>
          </a:p>
        </p:txBody>
      </p:sp>
    </p:spTree>
    <p:extLst>
      <p:ext uri="{BB962C8B-B14F-4D97-AF65-F5344CB8AC3E}">
        <p14:creationId xmlns:p14="http://schemas.microsoft.com/office/powerpoint/2010/main" val="2324755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05770AE7-4E19-EB78-A0D0-749B54B6073E}"/>
              </a:ext>
            </a:extLst>
          </p:cNvPr>
          <p:cNvSpPr txBox="1"/>
          <p:nvPr/>
        </p:nvSpPr>
        <p:spPr>
          <a:xfrm>
            <a:off x="731622" y="2088859"/>
            <a:ext cx="11205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método		Descrição</a:t>
            </a:r>
          </a:p>
          <a:p>
            <a:r>
              <a:rPr lang="pt-BR" dirty="0" err="1"/>
              <a:t>abs</a:t>
            </a:r>
            <a:r>
              <a:rPr lang="pt-BR" dirty="0"/>
              <a:t>(x)		Retorna o valor absoluto de x</a:t>
            </a:r>
          </a:p>
          <a:p>
            <a:r>
              <a:rPr lang="pt-BR" dirty="0" err="1"/>
              <a:t>acos</a:t>
            </a:r>
            <a:r>
              <a:rPr lang="pt-BR" dirty="0"/>
              <a:t>(x)		Retorna o arco-cosseno de x, em radianos</a:t>
            </a:r>
          </a:p>
          <a:p>
            <a:r>
              <a:rPr lang="pt-BR" dirty="0" err="1"/>
              <a:t>acosh</a:t>
            </a:r>
            <a:r>
              <a:rPr lang="pt-BR" dirty="0"/>
              <a:t>(x)		Retorna o arco-cosseno hiperbólico de x</a:t>
            </a:r>
          </a:p>
          <a:p>
            <a:r>
              <a:rPr lang="pt-BR" dirty="0" err="1"/>
              <a:t>asin</a:t>
            </a:r>
            <a:r>
              <a:rPr lang="pt-BR" dirty="0"/>
              <a:t>(x)		Retorna o arco-seno de x, em radianos</a:t>
            </a:r>
          </a:p>
          <a:p>
            <a:r>
              <a:rPr lang="pt-BR" dirty="0" err="1"/>
              <a:t>asinh</a:t>
            </a:r>
            <a:r>
              <a:rPr lang="pt-BR" dirty="0"/>
              <a:t>(x)		Retorna o arco seno hiperbólico de x</a:t>
            </a:r>
          </a:p>
          <a:p>
            <a:r>
              <a:rPr lang="pt-BR" dirty="0" err="1"/>
              <a:t>atan</a:t>
            </a:r>
            <a:r>
              <a:rPr lang="pt-BR" dirty="0"/>
              <a:t>(x)		Retorna o arco tangente de x como um valor numérico entre -PI/2 e PI/2 radianos</a:t>
            </a:r>
          </a:p>
          <a:p>
            <a:r>
              <a:rPr lang="pt-BR" dirty="0"/>
              <a:t>atan2(y, x)	Retorna o arco tangente do quociente de seus argumentos</a:t>
            </a:r>
          </a:p>
          <a:p>
            <a:r>
              <a:rPr lang="pt-BR" dirty="0" err="1"/>
              <a:t>atanh</a:t>
            </a:r>
            <a:r>
              <a:rPr lang="pt-BR" dirty="0"/>
              <a:t>(x)		Retorna o arco tangente hiperbólico de x</a:t>
            </a:r>
          </a:p>
          <a:p>
            <a:r>
              <a:rPr lang="pt-BR" dirty="0" err="1"/>
              <a:t>cbrt</a:t>
            </a:r>
            <a:r>
              <a:rPr lang="pt-BR" dirty="0"/>
              <a:t>(x)		Retorna a raiz cúbica de x</a:t>
            </a:r>
          </a:p>
          <a:p>
            <a:r>
              <a:rPr lang="pt-BR" dirty="0" err="1"/>
              <a:t>ceil</a:t>
            </a:r>
            <a:r>
              <a:rPr lang="pt-BR" dirty="0"/>
              <a:t>(x)		Retorna x, arredondado para cima para o inteiro mais próximo</a:t>
            </a:r>
          </a:p>
          <a:p>
            <a:r>
              <a:rPr lang="pt-BR" dirty="0"/>
              <a:t>clz32(x)		Retorna o número de zeros à esquerda em uma representação binária de 32 bits de x</a:t>
            </a:r>
          </a:p>
          <a:p>
            <a:r>
              <a:rPr lang="pt-BR" dirty="0"/>
              <a:t>cos(x)		Retorna o cosseno de x (x está em radianos)</a:t>
            </a:r>
          </a:p>
          <a:p>
            <a:r>
              <a:rPr lang="pt-BR" dirty="0" err="1"/>
              <a:t>cosh</a:t>
            </a:r>
            <a:r>
              <a:rPr lang="pt-BR" dirty="0"/>
              <a:t>(x)		Retorna o cosseno hiperbólico de x</a:t>
            </a:r>
          </a:p>
          <a:p>
            <a:r>
              <a:rPr lang="pt-BR" dirty="0"/>
              <a:t>E		Retorna o número de Euler (aprox. 2,718)</a:t>
            </a:r>
          </a:p>
          <a:p>
            <a:r>
              <a:rPr lang="pt-BR" dirty="0" err="1"/>
              <a:t>exp</a:t>
            </a:r>
            <a:r>
              <a:rPr lang="pt-BR" dirty="0"/>
              <a:t>(x)		Retorna o valor de </a:t>
            </a:r>
            <a:r>
              <a:rPr lang="pt-BR" dirty="0" err="1"/>
              <a:t>Ex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6219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05770AE7-4E19-EB78-A0D0-749B54B6073E}"/>
              </a:ext>
            </a:extLst>
          </p:cNvPr>
          <p:cNvSpPr txBox="1"/>
          <p:nvPr/>
        </p:nvSpPr>
        <p:spPr>
          <a:xfrm>
            <a:off x="731622" y="2088859"/>
            <a:ext cx="112059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método		Descrição</a:t>
            </a:r>
          </a:p>
          <a:p>
            <a:r>
              <a:rPr lang="pt-BR" dirty="0"/>
              <a:t>expm1(x)		Retorna o valor de </a:t>
            </a:r>
            <a:r>
              <a:rPr lang="pt-BR" dirty="0" err="1"/>
              <a:t>Ex</a:t>
            </a:r>
            <a:r>
              <a:rPr lang="pt-BR" dirty="0"/>
              <a:t> menos 1</a:t>
            </a:r>
          </a:p>
          <a:p>
            <a:r>
              <a:rPr lang="pt-BR" dirty="0" err="1"/>
              <a:t>floor</a:t>
            </a:r>
            <a:r>
              <a:rPr lang="pt-BR" dirty="0"/>
              <a:t>(x)		Retorna x, arredondado para baixo para o inteiro mais próximo</a:t>
            </a:r>
          </a:p>
          <a:p>
            <a:r>
              <a:rPr lang="pt-BR" dirty="0" err="1"/>
              <a:t>fround</a:t>
            </a:r>
            <a:r>
              <a:rPr lang="pt-BR" dirty="0"/>
              <a:t>(x)		Retorna a representação </a:t>
            </a:r>
            <a:r>
              <a:rPr lang="pt-BR" dirty="0" err="1"/>
              <a:t>float</a:t>
            </a:r>
            <a:r>
              <a:rPr lang="pt-BR" dirty="0"/>
              <a:t> mais próxima (precisão simples de 32 bits) de um número</a:t>
            </a:r>
          </a:p>
          <a:p>
            <a:r>
              <a:rPr lang="pt-BR" dirty="0"/>
              <a:t>LN2		Retorna o logaritmo natural de 2 (aprox. 0,693)</a:t>
            </a:r>
          </a:p>
          <a:p>
            <a:r>
              <a:rPr lang="pt-BR" dirty="0"/>
              <a:t>LN10		Retorna o logaritmo natural de 10 (aprox. 2,302)</a:t>
            </a:r>
          </a:p>
          <a:p>
            <a:r>
              <a:rPr lang="pt-BR" dirty="0"/>
              <a:t>log(x)		Retorna o logaritmo natural de x</a:t>
            </a:r>
          </a:p>
          <a:p>
            <a:r>
              <a:rPr lang="pt-BR" dirty="0"/>
              <a:t>log10(x)		Retorna o logaritmo de base 10 de x</a:t>
            </a:r>
          </a:p>
          <a:p>
            <a:r>
              <a:rPr lang="pt-BR" dirty="0"/>
              <a:t>LOG10E		Retorna o logaritmo de base 10 de E (aprox. 0,434)</a:t>
            </a:r>
          </a:p>
          <a:p>
            <a:r>
              <a:rPr lang="pt-BR" dirty="0"/>
              <a:t>log1p(x)		Retorna o logaritmo natural de 1 + x</a:t>
            </a:r>
          </a:p>
          <a:p>
            <a:r>
              <a:rPr lang="pt-BR" dirty="0"/>
              <a:t>log2(x)		Retorna o logaritmo de base 2 de x</a:t>
            </a:r>
          </a:p>
          <a:p>
            <a:r>
              <a:rPr lang="pt-BR" dirty="0"/>
              <a:t>LOG2E		Retorna o logaritmo de base 2 de E (aprox. 1,442)</a:t>
            </a:r>
          </a:p>
          <a:p>
            <a:r>
              <a:rPr lang="pt-BR" dirty="0" err="1"/>
              <a:t>max</a:t>
            </a:r>
            <a:r>
              <a:rPr lang="pt-BR" dirty="0"/>
              <a:t>(x1,x2,..)	Retorna o número com o maior valor</a:t>
            </a:r>
          </a:p>
          <a:p>
            <a:r>
              <a:rPr lang="pt-BR" dirty="0"/>
              <a:t>min(x1,x2,..)	Retorna o número com o menor valor</a:t>
            </a:r>
          </a:p>
          <a:p>
            <a:r>
              <a:rPr lang="pt-BR" dirty="0"/>
              <a:t>PI		Retorna PI (aprox. 3,14)</a:t>
            </a:r>
          </a:p>
        </p:txBody>
      </p:sp>
    </p:spTree>
    <p:extLst>
      <p:ext uri="{BB962C8B-B14F-4D97-AF65-F5344CB8AC3E}">
        <p14:creationId xmlns:p14="http://schemas.microsoft.com/office/powerpoint/2010/main" val="3796439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xmlns="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05770AE7-4E19-EB78-A0D0-749B54B6073E}"/>
              </a:ext>
            </a:extLst>
          </p:cNvPr>
          <p:cNvSpPr txBox="1"/>
          <p:nvPr/>
        </p:nvSpPr>
        <p:spPr>
          <a:xfrm>
            <a:off x="731622" y="2088859"/>
            <a:ext cx="112059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método		Descrição</a:t>
            </a:r>
          </a:p>
          <a:p>
            <a:r>
              <a:rPr lang="pt-BR" dirty="0" err="1"/>
              <a:t>pow</a:t>
            </a:r>
            <a:r>
              <a:rPr lang="pt-BR" dirty="0"/>
              <a:t>(x, y)		Retorna o valor de x elevado a y</a:t>
            </a:r>
          </a:p>
          <a:p>
            <a:r>
              <a:rPr lang="pt-BR" dirty="0" err="1"/>
              <a:t>random</a:t>
            </a:r>
            <a:r>
              <a:rPr lang="pt-BR" dirty="0"/>
              <a:t>()		Retorna um número aleatório entre 0 e 1</a:t>
            </a:r>
          </a:p>
          <a:p>
            <a:r>
              <a:rPr lang="pt-BR" dirty="0"/>
              <a:t>round(x)		Arredonda x para o inteiro mais próximo</a:t>
            </a:r>
          </a:p>
          <a:p>
            <a:r>
              <a:rPr lang="pt-BR" dirty="0" err="1"/>
              <a:t>sign</a:t>
            </a:r>
            <a:r>
              <a:rPr lang="pt-BR" dirty="0"/>
              <a:t>(x)		Retorna o sinal de um número (verifica se é positivo, negativo ou zero)</a:t>
            </a:r>
          </a:p>
          <a:p>
            <a:r>
              <a:rPr lang="pt-BR" dirty="0" err="1"/>
              <a:t>sin</a:t>
            </a:r>
            <a:r>
              <a:rPr lang="pt-BR" dirty="0"/>
              <a:t>(x)		Retorna o seno de x (x está em radianos)</a:t>
            </a:r>
          </a:p>
          <a:p>
            <a:r>
              <a:rPr lang="pt-BR" dirty="0" err="1"/>
              <a:t>sinh</a:t>
            </a:r>
            <a:r>
              <a:rPr lang="pt-BR" dirty="0"/>
              <a:t>(x)		Retorna o seno hiperbólico de x</a:t>
            </a:r>
          </a:p>
          <a:p>
            <a:r>
              <a:rPr lang="pt-BR" dirty="0" err="1"/>
              <a:t>sqrt</a:t>
            </a:r>
            <a:r>
              <a:rPr lang="pt-BR" dirty="0"/>
              <a:t>(x)		Retorna a raiz quadrada de x</a:t>
            </a:r>
          </a:p>
          <a:p>
            <a:r>
              <a:rPr lang="pt-BR" dirty="0"/>
              <a:t>SQRT1_2		Retorna a raiz quadrada de 1/2 (aprox. 0,707)</a:t>
            </a:r>
          </a:p>
          <a:p>
            <a:r>
              <a:rPr lang="pt-BR" dirty="0"/>
              <a:t>SQRT2		Retorna a raiz quadrada de 2 (aprox. 1,414)</a:t>
            </a:r>
          </a:p>
          <a:p>
            <a:r>
              <a:rPr lang="pt-BR" dirty="0" err="1"/>
              <a:t>tan</a:t>
            </a:r>
            <a:r>
              <a:rPr lang="pt-BR" dirty="0"/>
              <a:t>(x)		Retorna a tangente de um ângulo</a:t>
            </a:r>
          </a:p>
          <a:p>
            <a:r>
              <a:rPr lang="pt-BR" dirty="0" err="1"/>
              <a:t>tanh</a:t>
            </a:r>
            <a:r>
              <a:rPr lang="pt-BR" dirty="0"/>
              <a:t>(x)		Retorna a tangente hiperbólica de um número</a:t>
            </a:r>
          </a:p>
          <a:p>
            <a:r>
              <a:rPr lang="pt-BR" dirty="0" err="1"/>
              <a:t>trunc</a:t>
            </a:r>
            <a:r>
              <a:rPr lang="pt-BR" dirty="0"/>
              <a:t>(x)		Retorna a parte inteira de um número (x)</a:t>
            </a:r>
          </a:p>
        </p:txBody>
      </p:sp>
    </p:spTree>
    <p:extLst>
      <p:ext uri="{BB962C8B-B14F-4D97-AF65-F5344CB8AC3E}">
        <p14:creationId xmlns:p14="http://schemas.microsoft.com/office/powerpoint/2010/main" val="243623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10639</TotalTime>
  <Words>798</Words>
  <Application>Microsoft Office PowerPoint</Application>
  <PresentationFormat>Personalizar</PresentationFormat>
  <Paragraphs>172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Aluno</cp:lastModifiedBy>
  <cp:revision>78</cp:revision>
  <cp:lastPrinted>2022-07-04T12:22:48Z</cp:lastPrinted>
  <dcterms:created xsi:type="dcterms:W3CDTF">2018-09-27T21:57:56Z</dcterms:created>
  <dcterms:modified xsi:type="dcterms:W3CDTF">2022-07-07T00:32:49Z</dcterms:modified>
</cp:coreProperties>
</file>