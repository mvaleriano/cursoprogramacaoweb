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6"/>
  </p:notesMasterIdLst>
  <p:sldIdLst>
    <p:sldId id="489" r:id="rId2"/>
    <p:sldId id="461" r:id="rId3"/>
    <p:sldId id="467" r:id="rId4"/>
    <p:sldId id="466" r:id="rId5"/>
    <p:sldId id="464" r:id="rId6"/>
    <p:sldId id="462" r:id="rId7"/>
    <p:sldId id="465" r:id="rId8"/>
    <p:sldId id="463" r:id="rId9"/>
    <p:sldId id="468" r:id="rId10"/>
    <p:sldId id="469" r:id="rId11"/>
    <p:sldId id="460" r:id="rId12"/>
    <p:sldId id="470" r:id="rId13"/>
    <p:sldId id="482" r:id="rId14"/>
    <p:sldId id="483" r:id="rId15"/>
    <p:sldId id="473" r:id="rId16"/>
    <p:sldId id="474" r:id="rId17"/>
    <p:sldId id="478" r:id="rId18"/>
    <p:sldId id="479" r:id="rId19"/>
    <p:sldId id="480" r:id="rId20"/>
    <p:sldId id="481" r:id="rId21"/>
    <p:sldId id="484" r:id="rId22"/>
    <p:sldId id="485" r:id="rId23"/>
    <p:sldId id="486" r:id="rId24"/>
    <p:sldId id="487" r:id="rId25"/>
    <p:sldId id="488" r:id="rId26"/>
    <p:sldId id="475" r:id="rId27"/>
    <p:sldId id="472" r:id="rId28"/>
    <p:sldId id="477" r:id="rId29"/>
    <p:sldId id="490" r:id="rId30"/>
    <p:sldId id="491" r:id="rId31"/>
    <p:sldId id="493" r:id="rId32"/>
    <p:sldId id="492" r:id="rId33"/>
    <p:sldId id="495" r:id="rId34"/>
    <p:sldId id="494" r:id="rId35"/>
  </p:sldIdLst>
  <p:sldSz cx="9144000" cy="5143500" type="screen16x9"/>
  <p:notesSz cx="6858000" cy="9144000"/>
  <p:embeddedFontLst>
    <p:embeddedFont>
      <p:font typeface="Haboro Slab Norm Medium" panose="02000503070000020004" pitchFamily="50" charset="0"/>
      <p:bold r:id="rId37"/>
    </p:embeddedFont>
    <p:embeddedFont>
      <p:font typeface="Myriad Pro" panose="020B0503030403020204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eção sem Título" id="{F937A00F-440E-4C54-80F4-8C94789A4897}">
          <p14:sldIdLst>
            <p14:sldId id="489"/>
            <p14:sldId id="461"/>
            <p14:sldId id="467"/>
            <p14:sldId id="466"/>
            <p14:sldId id="464"/>
            <p14:sldId id="462"/>
            <p14:sldId id="465"/>
            <p14:sldId id="463"/>
            <p14:sldId id="468"/>
            <p14:sldId id="469"/>
            <p14:sldId id="460"/>
            <p14:sldId id="470"/>
            <p14:sldId id="482"/>
            <p14:sldId id="483"/>
            <p14:sldId id="473"/>
            <p14:sldId id="474"/>
            <p14:sldId id="478"/>
            <p14:sldId id="479"/>
            <p14:sldId id="480"/>
            <p14:sldId id="481"/>
            <p14:sldId id="484"/>
            <p14:sldId id="485"/>
            <p14:sldId id="486"/>
            <p14:sldId id="487"/>
            <p14:sldId id="488"/>
            <p14:sldId id="475"/>
            <p14:sldId id="472"/>
            <p14:sldId id="477"/>
            <p14:sldId id="490"/>
            <p14:sldId id="491"/>
            <p14:sldId id="493"/>
            <p14:sldId id="492"/>
            <p14:sldId id="495"/>
            <p14:sldId id="4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4D6A"/>
    <a:srgbClr val="FEBD96"/>
    <a:srgbClr val="FFD355"/>
    <a:srgbClr val="161819"/>
    <a:srgbClr val="131516"/>
    <a:srgbClr val="151618"/>
    <a:srgbClr val="1A1C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461E9D0-890C-45FB-BEE0-171DE9EBFB43}">
  <a:tblStyle styleId="{A461E9D0-890C-45FB-BEE0-171DE9EBFB4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14" y="19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meusite.com.br/" TargetMode="Externa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FC7884-1659-B40B-0991-CFEF51D3EC65}"/>
              </a:ext>
            </a:extLst>
          </p:cNvPr>
          <p:cNvSpPr txBox="1">
            <a:spLocks/>
          </p:cNvSpPr>
          <p:nvPr/>
        </p:nvSpPr>
        <p:spPr>
          <a:xfrm>
            <a:off x="0" y="207818"/>
            <a:ext cx="9144000" cy="2223655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BR" sz="44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Revisão HTML / CSS </a:t>
            </a:r>
          </a:p>
          <a:p>
            <a:pPr algn="ctr"/>
            <a:r>
              <a:rPr lang="pt-BR" sz="44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Introdução à lógica de programação e Javascript</a:t>
            </a:r>
          </a:p>
        </p:txBody>
      </p:sp>
      <p:pic>
        <p:nvPicPr>
          <p:cNvPr id="4" name="Picture 2" descr="HTML, CSS e Javascript, quais as diferenças?">
            <a:extLst>
              <a:ext uri="{FF2B5EF4-FFF2-40B4-BE49-F238E27FC236}">
                <a16:creationId xmlns:a16="http://schemas.microsoft.com/office/drawing/2014/main" id="{22036B68-2195-8B88-C405-7BD10E178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38745"/>
            <a:ext cx="9144000" cy="3536373"/>
          </a:xfrm>
          <a:prstGeom prst="rect">
            <a:avLst/>
          </a:prstGeom>
          <a:noFill/>
          <a:effectLst>
            <a:glow>
              <a:schemeClr val="accent1"/>
            </a:glow>
            <a:softEdge rad="1270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3450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FC7884-1659-B40B-0991-CFEF51D3EC6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574625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BR" sz="44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HTML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0FCFE6B9-2780-083F-8E6F-3FB58EFAE2BC}"/>
              </a:ext>
            </a:extLst>
          </p:cNvPr>
          <p:cNvSpPr txBox="1">
            <a:spLocks/>
          </p:cNvSpPr>
          <p:nvPr/>
        </p:nvSpPr>
        <p:spPr>
          <a:xfrm>
            <a:off x="283990" y="764548"/>
            <a:ext cx="8742245" cy="3416400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   HTML é um acrônimo para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HyperText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Mark-up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Language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que em português quer dizer linguagem de marcação de hipertexto. Como assim “linguagem de marcação”? Pois é, o HTML não é considerado uma linguagem de programação. É a linguagem que usamos para publicarmos conteúdo (texto, imagem, vídeo, áudio e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etc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) na Web. E foi inventada na década de 1990 por um cientista chamado Tim Berners-Lee.</a:t>
            </a:r>
          </a:p>
          <a:p>
            <a:pPr marL="114300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 fontAlgn="base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E para que serve?</a:t>
            </a:r>
          </a:p>
          <a:p>
            <a:pPr marL="114300" fontAlgn="base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Ele serve para que seu navegador o interprete e mostre o conteúdo quando você abre uma página na internet. Imagine uma página web, como essa mesmo que você esta lendo agora. É possível perceber que existem diversos elementos separados, como cabeçalho, título, parágrafos, imagens e muitos outros. Toda a organização desses elementos é feita pelo HTML. Ele é utilizado para criar toda a estrutura da página e, para isso, utiliza as famosas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tags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(etiquetas) para sinalizar onde cada tipo de elemento será implementado.</a:t>
            </a:r>
          </a:p>
          <a:p>
            <a:pPr marL="114300" fontAlgn="base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 fontAlgn="base"/>
            <a:r>
              <a:rPr lang="pt-BR" b="0" i="1" dirty="0">
                <a:solidFill>
                  <a:srgbClr val="FFFFFF"/>
                </a:solidFill>
                <a:effectLst/>
                <a:latin typeface="Helvetica Neue"/>
              </a:rPr>
              <a:t>“Elementos são entidades que especificam como documentos HTML devem ser construídos e que tipo de conteúdo deve ser colocado em determinada parte de um documento HTML”.</a:t>
            </a:r>
            <a:endParaRPr lang="pt-BR" b="0" i="1" dirty="0">
              <a:solidFill>
                <a:schemeClr val="bg1"/>
              </a:solidFill>
              <a:effectLst/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 fontAlgn="base"/>
            <a:endParaRPr lang="pt-BR" i="1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algn="l" fontAlgn="base"/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Ou seja, se você quer colocar um parágrafo em uma parte de um documento você precisará de um elemento específico para isso que, no caso, é o elemento P.</a:t>
            </a:r>
          </a:p>
          <a:p>
            <a:pPr algn="l" fontAlgn="base"/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E para marcá-lo você precisará de </a:t>
            </a:r>
            <a:r>
              <a:rPr lang="pt-BR" sz="12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tags</a:t>
            </a:r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. </a:t>
            </a:r>
            <a:r>
              <a:rPr lang="pt-BR" sz="12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Tags</a:t>
            </a:r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delimitam o nome do elemento entre sinais de menor que “&lt;” e maior que “&gt;”. </a:t>
            </a:r>
          </a:p>
          <a:p>
            <a:pPr marL="114300" fontAlgn="base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126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FC7884-1659-B40B-0991-CFEF51D3EC65}"/>
              </a:ext>
            </a:extLst>
          </p:cNvPr>
          <p:cNvSpPr txBox="1">
            <a:spLocks/>
          </p:cNvSpPr>
          <p:nvPr/>
        </p:nvSpPr>
        <p:spPr>
          <a:xfrm>
            <a:off x="0" y="1925"/>
            <a:ext cx="9144000" cy="628457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BR" sz="44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HTML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304990B7-AD0A-D135-5B05-F14568E9472F}"/>
              </a:ext>
            </a:extLst>
          </p:cNvPr>
          <p:cNvSpPr txBox="1">
            <a:spLocks/>
          </p:cNvSpPr>
          <p:nvPr/>
        </p:nvSpPr>
        <p:spPr>
          <a:xfrm>
            <a:off x="311699" y="1152475"/>
            <a:ext cx="8742245" cy="3416400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algn="l" fontAlgn="base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   Para constituir o elemento HTML precisamos de dois tipos de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tags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e o conteúdo. </a:t>
            </a:r>
          </a:p>
          <a:p>
            <a:pPr algn="l" fontAlgn="base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Os dois tipos de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tags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são:</a:t>
            </a:r>
          </a:p>
          <a:p>
            <a:pPr algn="l" fontAlgn="base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A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tag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de abertura que marca o início do elemento: &lt;TAG&gt; .</a:t>
            </a:r>
          </a:p>
          <a:p>
            <a:pPr algn="l" fontAlgn="base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E a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tag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de fechamento que marca o fim do elemento: &lt;/TAG&gt; .</a:t>
            </a:r>
          </a:p>
          <a:p>
            <a:pPr algn="l" fontAlgn="base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E entre as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tags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você coloca o conteúdo que quer apresentar. </a:t>
            </a:r>
          </a:p>
        </p:txBody>
      </p:sp>
    </p:spTree>
    <p:extLst>
      <p:ext uri="{BB962C8B-B14F-4D97-AF65-F5344CB8AC3E}">
        <p14:creationId xmlns:p14="http://schemas.microsoft.com/office/powerpoint/2010/main" val="2014931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FC7884-1659-B40B-0991-CFEF51D3EC65}"/>
              </a:ext>
            </a:extLst>
          </p:cNvPr>
          <p:cNvSpPr txBox="1">
            <a:spLocks/>
          </p:cNvSpPr>
          <p:nvPr/>
        </p:nvSpPr>
        <p:spPr>
          <a:xfrm>
            <a:off x="484909" y="417316"/>
            <a:ext cx="8520600" cy="572700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4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Abertura e fechamento de </a:t>
            </a:r>
            <a:r>
              <a:rPr lang="pt-BR" sz="4400" dirty="0" err="1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tags</a:t>
            </a:r>
            <a:endParaRPr lang="pt-BR" sz="4400" dirty="0">
              <a:solidFill>
                <a:srgbClr val="FFD355"/>
              </a:solidFill>
              <a:latin typeface="Haboro Slab Norm Medium" panose="02000503070000020004" pitchFamily="50" charset="0"/>
              <a:cs typeface="Arial" panose="020B060402020202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21823ED-2C33-5BC9-BE29-92805E04A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07" y="1196738"/>
            <a:ext cx="7239001" cy="366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599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FC7884-1659-B40B-0991-CFEF51D3EC65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4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           Estrutura das </a:t>
            </a:r>
            <a:r>
              <a:rPr lang="pt-BR" sz="4400" dirty="0" err="1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tags</a:t>
            </a:r>
            <a:endParaRPr lang="pt-BR" sz="4400" dirty="0">
              <a:solidFill>
                <a:srgbClr val="FFD355"/>
              </a:solidFill>
              <a:latin typeface="Haboro Slab Norm Medium" panose="02000503070000020004" pitchFamily="50" charset="0"/>
              <a:cs typeface="Arial" panose="020B060402020202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489D772-E836-8F1A-67C9-D2B6A60F5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08" y="1183160"/>
            <a:ext cx="7613073" cy="351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628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FC7884-1659-B40B-0991-CFEF51D3EC65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4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              Conteúdo da </a:t>
            </a:r>
            <a:r>
              <a:rPr lang="pt-BR" sz="4400" dirty="0" err="1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tag</a:t>
            </a:r>
            <a:endParaRPr lang="pt-BR" sz="4400" dirty="0">
              <a:solidFill>
                <a:srgbClr val="FFD355"/>
              </a:solidFill>
              <a:latin typeface="Haboro Slab Norm Medium" panose="02000503070000020004" pitchFamily="50" charset="0"/>
              <a:cs typeface="Arial" panose="020B060402020202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2E95BA4-6FFE-AC7F-6A33-272D57080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6838"/>
            <a:ext cx="9144000" cy="354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880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AE4FF1E-1CA9-9862-BA97-8D959E4B3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91" y="483177"/>
            <a:ext cx="8574616" cy="4177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100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FC7884-1659-B40B-0991-CFEF51D3EC65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400" dirty="0" err="1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Tags</a:t>
            </a:r>
            <a:r>
              <a:rPr lang="pt-BR" sz="44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 de elementos nulos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F05E382-E484-F86B-44D4-BBD6B118C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45" y="1212524"/>
            <a:ext cx="7536873" cy="375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145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FC7884-1659-B40B-0991-CFEF51D3EC65}"/>
              </a:ext>
            </a:extLst>
          </p:cNvPr>
          <p:cNvSpPr txBox="1">
            <a:spLocks/>
          </p:cNvSpPr>
          <p:nvPr/>
        </p:nvSpPr>
        <p:spPr>
          <a:xfrm>
            <a:off x="1236518" y="10391"/>
            <a:ext cx="6809509" cy="572700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4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Estrutura básica do HTML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EA9176A9-D52F-08EF-08FB-67273AF1D561}"/>
              </a:ext>
            </a:extLst>
          </p:cNvPr>
          <p:cNvSpPr txBox="1">
            <a:spLocks/>
          </p:cNvSpPr>
          <p:nvPr/>
        </p:nvSpPr>
        <p:spPr>
          <a:xfrm>
            <a:off x="193964" y="713509"/>
            <a:ext cx="8894618" cy="4294909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800" dirty="0">
                <a:solidFill>
                  <a:srgbClr val="E74D6A"/>
                </a:solidFill>
              </a:rPr>
              <a:t>&lt;!DOCTYPE </a:t>
            </a:r>
            <a:r>
              <a:rPr lang="pt-BR" sz="1800" dirty="0" err="1">
                <a:solidFill>
                  <a:srgbClr val="E74D6A"/>
                </a:solidFill>
              </a:rPr>
              <a:t>html</a:t>
            </a:r>
            <a:r>
              <a:rPr lang="pt-BR" sz="1800" dirty="0">
                <a:solidFill>
                  <a:srgbClr val="E74D6A"/>
                </a:solidFill>
              </a:rPr>
              <a:t>&gt;</a:t>
            </a:r>
          </a:p>
          <a:p>
            <a:r>
              <a:rPr lang="pt-BR" dirty="0">
                <a:solidFill>
                  <a:srgbClr val="E74D6A"/>
                </a:solidFill>
              </a:rPr>
              <a:t> </a:t>
            </a:r>
            <a:r>
              <a:rPr lang="pt-BR" dirty="0">
                <a:solidFill>
                  <a:schemeClr val="bg1"/>
                </a:solidFill>
              </a:rPr>
              <a:t>Informa ao navegador que esse documento é do tipo HTML e sua versão.</a:t>
            </a:r>
          </a:p>
          <a:p>
            <a:r>
              <a:rPr lang="pt-BR" sz="1800" dirty="0">
                <a:solidFill>
                  <a:srgbClr val="E74D6A"/>
                </a:solidFill>
              </a:rPr>
              <a:t>&lt;</a:t>
            </a:r>
            <a:r>
              <a:rPr lang="pt-BR" sz="1800" dirty="0" err="1">
                <a:solidFill>
                  <a:srgbClr val="E74D6A"/>
                </a:solidFill>
              </a:rPr>
              <a:t>html</a:t>
            </a:r>
            <a:r>
              <a:rPr lang="pt-BR" sz="1800" dirty="0">
                <a:solidFill>
                  <a:srgbClr val="E74D6A"/>
                </a:solidFill>
              </a:rPr>
              <a:t>&gt;</a:t>
            </a:r>
          </a:p>
          <a:p>
            <a:r>
              <a:rPr lang="pt-BR" dirty="0">
                <a:solidFill>
                  <a:schemeClr val="bg1"/>
                </a:solidFill>
              </a:rPr>
              <a:t>   Representa a raiz do documento, serve com um container que engloba todos os outros elementos HTML.</a:t>
            </a:r>
          </a:p>
          <a:p>
            <a:r>
              <a:rPr lang="pt-BR" dirty="0">
                <a:solidFill>
                  <a:srgbClr val="E74D6A"/>
                </a:solidFill>
              </a:rPr>
              <a:t>    </a:t>
            </a:r>
            <a:r>
              <a:rPr lang="pt-BR" sz="1800" dirty="0">
                <a:solidFill>
                  <a:srgbClr val="E74D6A"/>
                </a:solidFill>
              </a:rPr>
              <a:t>&lt;</a:t>
            </a:r>
            <a:r>
              <a:rPr lang="pt-BR" sz="1800" dirty="0" err="1">
                <a:solidFill>
                  <a:srgbClr val="E74D6A"/>
                </a:solidFill>
              </a:rPr>
              <a:t>head</a:t>
            </a:r>
            <a:r>
              <a:rPr lang="pt-BR" sz="1800" dirty="0">
                <a:solidFill>
                  <a:srgbClr val="E74D6A"/>
                </a:solidFill>
              </a:rPr>
              <a:t>&gt;</a:t>
            </a:r>
          </a:p>
          <a:p>
            <a:r>
              <a:rPr lang="pt-BR" dirty="0">
                <a:solidFill>
                  <a:schemeClr val="bg1"/>
                </a:solidFill>
              </a:rPr>
              <a:t>         Compreende as informações do documento que serão interpretadas pelo navegador (metadados).</a:t>
            </a:r>
          </a:p>
          <a:p>
            <a:r>
              <a:rPr lang="pt-BR" dirty="0">
                <a:solidFill>
                  <a:srgbClr val="E74D6A"/>
                </a:solidFill>
              </a:rPr>
              <a:t>	 </a:t>
            </a:r>
            <a:r>
              <a:rPr lang="pt-BR" sz="1800" dirty="0">
                <a:solidFill>
                  <a:srgbClr val="E74D6A"/>
                </a:solidFill>
              </a:rPr>
              <a:t>&lt;</a:t>
            </a:r>
            <a:r>
              <a:rPr lang="pt-BR" sz="1800" dirty="0" err="1">
                <a:solidFill>
                  <a:srgbClr val="E74D6A"/>
                </a:solidFill>
              </a:rPr>
              <a:t>style</a:t>
            </a:r>
            <a:r>
              <a:rPr lang="pt-BR" sz="1800" dirty="0">
                <a:solidFill>
                  <a:srgbClr val="E74D6A"/>
                </a:solidFill>
              </a:rPr>
              <a:t>&gt;</a:t>
            </a:r>
          </a:p>
          <a:p>
            <a:r>
              <a:rPr lang="pt-BR" dirty="0">
                <a:solidFill>
                  <a:srgbClr val="E74D6A"/>
                </a:solidFill>
              </a:rPr>
              <a:t>	       </a:t>
            </a:r>
            <a:r>
              <a:rPr lang="pt-BR" dirty="0">
                <a:solidFill>
                  <a:schemeClr val="bg1"/>
                </a:solidFill>
              </a:rPr>
              <a:t>Essa </a:t>
            </a:r>
            <a:r>
              <a:rPr lang="pt-BR" dirty="0" err="1">
                <a:solidFill>
                  <a:schemeClr val="bg1"/>
                </a:solidFill>
              </a:rPr>
              <a:t>tag</a:t>
            </a:r>
            <a:r>
              <a:rPr lang="pt-BR" dirty="0">
                <a:solidFill>
                  <a:schemeClr val="bg1"/>
                </a:solidFill>
              </a:rPr>
              <a:t> é usada para declarar estilos (CSS) para um documento.</a:t>
            </a:r>
          </a:p>
          <a:p>
            <a:r>
              <a:rPr lang="pt-BR" dirty="0">
                <a:solidFill>
                  <a:srgbClr val="E74D6A"/>
                </a:solidFill>
              </a:rPr>
              <a:t>	</a:t>
            </a:r>
            <a:r>
              <a:rPr lang="pt-BR" sz="1800" dirty="0">
                <a:solidFill>
                  <a:srgbClr val="E74D6A"/>
                </a:solidFill>
              </a:rPr>
              <a:t>&lt;link&gt;</a:t>
            </a:r>
          </a:p>
          <a:p>
            <a:r>
              <a:rPr lang="pt-BR" dirty="0">
                <a:solidFill>
                  <a:schemeClr val="bg1"/>
                </a:solidFill>
              </a:rPr>
              <a:t>                           É comumente usado para vincular uma folha de estilo externa, também é usada para definir o</a:t>
            </a:r>
          </a:p>
          <a:p>
            <a:r>
              <a:rPr lang="pt-BR" dirty="0">
                <a:solidFill>
                  <a:schemeClr val="bg1"/>
                </a:solidFill>
              </a:rPr>
              <a:t>                           </a:t>
            </a:r>
            <a:r>
              <a:rPr lang="pt-BR" dirty="0" err="1">
                <a:solidFill>
                  <a:schemeClr val="bg1"/>
                </a:solidFill>
              </a:rPr>
              <a:t>favicon</a:t>
            </a:r>
            <a:r>
              <a:rPr lang="pt-BR" dirty="0">
                <a:solidFill>
                  <a:schemeClr val="bg1"/>
                </a:solidFill>
              </a:rPr>
              <a:t> da página (ícone da aba do navegador), como outros recursos.</a:t>
            </a:r>
            <a:r>
              <a:rPr lang="pt-BR" dirty="0">
                <a:solidFill>
                  <a:srgbClr val="E74D6A"/>
                </a:solidFill>
              </a:rPr>
              <a:t>		</a:t>
            </a:r>
          </a:p>
          <a:p>
            <a:r>
              <a:rPr lang="pt-BR" sz="1800" dirty="0">
                <a:solidFill>
                  <a:srgbClr val="E74D6A"/>
                </a:solidFill>
              </a:rPr>
              <a:t>   &lt;/</a:t>
            </a:r>
            <a:r>
              <a:rPr lang="pt-BR" sz="1800" dirty="0" err="1">
                <a:solidFill>
                  <a:srgbClr val="E74D6A"/>
                </a:solidFill>
              </a:rPr>
              <a:t>head</a:t>
            </a:r>
            <a:r>
              <a:rPr lang="pt-BR" sz="1800" dirty="0">
                <a:solidFill>
                  <a:srgbClr val="E74D6A"/>
                </a:solidFill>
              </a:rPr>
              <a:t>&gt;</a:t>
            </a:r>
          </a:p>
          <a:p>
            <a:r>
              <a:rPr lang="pt-BR" sz="1800" dirty="0">
                <a:solidFill>
                  <a:srgbClr val="E74D6A"/>
                </a:solidFill>
              </a:rPr>
              <a:t>   &lt;body&gt;</a:t>
            </a:r>
          </a:p>
          <a:p>
            <a:r>
              <a:rPr lang="pt-BR" dirty="0">
                <a:solidFill>
                  <a:schemeClr val="bg1"/>
                </a:solidFill>
              </a:rPr>
              <a:t>	É onde fica todo o conteúdo de texto, imagem e vídeos, em que o usuário vê e interage.</a:t>
            </a:r>
          </a:p>
          <a:p>
            <a:r>
              <a:rPr lang="pt-BR" sz="1800" dirty="0">
                <a:solidFill>
                  <a:srgbClr val="E74D6A"/>
                </a:solidFill>
              </a:rPr>
              <a:t>    &lt;/body&gt;</a:t>
            </a:r>
          </a:p>
          <a:p>
            <a:r>
              <a:rPr lang="pt-BR" sz="1800" dirty="0">
                <a:solidFill>
                  <a:srgbClr val="E74D6A"/>
                </a:solidFill>
              </a:rPr>
              <a:t>&lt;/</a:t>
            </a:r>
            <a:r>
              <a:rPr lang="pt-BR" sz="1800" dirty="0" err="1">
                <a:solidFill>
                  <a:srgbClr val="E74D6A"/>
                </a:solidFill>
              </a:rPr>
              <a:t>html</a:t>
            </a:r>
            <a:r>
              <a:rPr lang="pt-BR" sz="1800" dirty="0">
                <a:solidFill>
                  <a:srgbClr val="E74D6A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818965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FC7884-1659-B40B-0991-CFEF51D3EC65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4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Tipos de </a:t>
            </a:r>
            <a:r>
              <a:rPr lang="pt-BR" sz="4400" dirty="0" err="1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tags</a:t>
            </a:r>
            <a:r>
              <a:rPr lang="pt-BR" sz="44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 existentes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7F9680FF-840F-4A90-7CDE-A953BF5FC617}"/>
              </a:ext>
            </a:extLst>
          </p:cNvPr>
          <p:cNvSpPr txBox="1">
            <a:spLocks/>
          </p:cNvSpPr>
          <p:nvPr/>
        </p:nvSpPr>
        <p:spPr>
          <a:xfrm>
            <a:off x="311700" y="1143529"/>
            <a:ext cx="8832300" cy="3885671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 fontAlgn="base"/>
            <a:r>
              <a:rPr lang="pt-BR" sz="1200" dirty="0">
                <a:solidFill>
                  <a:srgbClr val="FFD355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Estruturais</a:t>
            </a:r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: mudam o posicionamento de elementos na web;</a:t>
            </a:r>
          </a:p>
          <a:p>
            <a:pPr algn="l" fontAlgn="base"/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                   </a:t>
            </a:r>
            <a:r>
              <a:rPr lang="pt-BR" sz="1200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&lt;</a:t>
            </a:r>
            <a:r>
              <a:rPr lang="pt-BR" sz="1200" dirty="0" err="1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section</a:t>
            </a:r>
            <a:r>
              <a:rPr lang="pt-BR" sz="1200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&gt;, &lt;</a:t>
            </a:r>
            <a:r>
              <a:rPr lang="pt-BR" sz="1200" dirty="0" err="1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nav</a:t>
            </a:r>
            <a:r>
              <a:rPr lang="pt-BR" sz="1200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&gt;, &lt;</a:t>
            </a:r>
            <a:r>
              <a:rPr lang="pt-BR" sz="1200" dirty="0" err="1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article</a:t>
            </a:r>
            <a:r>
              <a:rPr lang="pt-BR" sz="1200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&gt;,&lt;</a:t>
            </a:r>
            <a:r>
              <a:rPr lang="pt-BR" sz="1200" dirty="0" err="1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aside</a:t>
            </a:r>
            <a:r>
              <a:rPr lang="pt-BR" sz="1200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&gt;,&lt;header&gt;,&lt;</a:t>
            </a:r>
            <a:r>
              <a:rPr lang="pt-BR" sz="1200" dirty="0" err="1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footer</a:t>
            </a:r>
            <a:r>
              <a:rPr lang="pt-BR" sz="1200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&gt;;</a:t>
            </a:r>
          </a:p>
          <a:p>
            <a:pPr algn="l" fontAlgn="base"/>
            <a:r>
              <a:rPr lang="pt-BR" sz="1200" dirty="0">
                <a:solidFill>
                  <a:srgbClr val="FFD355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Cabeçalhos</a:t>
            </a:r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:  estão relacionadas com o cabeçalho e alguns elementos básicos de sites, como o título e o </a:t>
            </a:r>
            <a:r>
              <a:rPr lang="pt-BR" sz="12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favicon</a:t>
            </a:r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;  </a:t>
            </a:r>
          </a:p>
          <a:p>
            <a:pPr algn="l" fontAlgn="base"/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</a:t>
            </a:r>
            <a:r>
              <a:rPr lang="pt-BR" sz="1200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&lt;h1&gt;, &lt;h2&gt;, &lt;h3&gt;, &lt;h4&gt;, &lt;h5&gt;, &lt;h6&gt;; </a:t>
            </a:r>
          </a:p>
          <a:p>
            <a:pPr algn="l" fontAlgn="base"/>
            <a:r>
              <a:rPr lang="pt-BR" sz="1200" dirty="0">
                <a:solidFill>
                  <a:srgbClr val="FFD355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Manipulação de elementos</a:t>
            </a:r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:  tornam mais preciso o posicionamento de conteúdos no site;</a:t>
            </a:r>
          </a:p>
          <a:p>
            <a:pPr fontAlgn="base"/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                                                    </a:t>
            </a:r>
            <a:r>
              <a:rPr lang="pt-BR" sz="1200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&lt;</a:t>
            </a:r>
            <a:r>
              <a:rPr lang="pt-BR" sz="1200" dirty="0" err="1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div</a:t>
            </a:r>
            <a:r>
              <a:rPr lang="pt-BR" sz="1200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&gt;,  &lt;</a:t>
            </a:r>
            <a:r>
              <a:rPr lang="pt-BR" sz="1200" dirty="0" err="1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span</a:t>
            </a:r>
            <a:r>
              <a:rPr lang="pt-BR" sz="1200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&gt;;</a:t>
            </a:r>
          </a:p>
          <a:p>
            <a:pPr fontAlgn="base"/>
            <a:r>
              <a:rPr lang="pt-BR" sz="1200" dirty="0">
                <a:solidFill>
                  <a:srgbClr val="FFD355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Formatação de caracteres</a:t>
            </a:r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: adicionam formatação especial a qualquer texto exibido na página web;</a:t>
            </a:r>
          </a:p>
          <a:p>
            <a:pPr fontAlgn="base"/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                        </a:t>
            </a:r>
            <a:r>
              <a:rPr lang="pt-BR" sz="1200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&lt;</a:t>
            </a:r>
            <a:r>
              <a:rPr lang="pt-BR" sz="1200" dirty="0" err="1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strong</a:t>
            </a:r>
            <a:r>
              <a:rPr lang="pt-BR" sz="1200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&gt;,&lt;b&gt;,&lt;i&gt;,&lt;big&gt;,&lt;em&gt;,&lt;</a:t>
            </a:r>
            <a:r>
              <a:rPr lang="pt-BR" sz="1200" dirty="0" err="1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small</a:t>
            </a:r>
            <a:r>
              <a:rPr lang="pt-BR" sz="1200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&gt;,&lt;</a:t>
            </a:r>
            <a:r>
              <a:rPr lang="pt-BR" sz="1200" dirty="0" err="1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del</a:t>
            </a:r>
            <a:r>
              <a:rPr lang="pt-BR" sz="1200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&gt;;</a:t>
            </a:r>
          </a:p>
          <a:p>
            <a:pPr fontAlgn="base"/>
            <a:r>
              <a:rPr lang="pt-BR" sz="1200" dirty="0">
                <a:solidFill>
                  <a:srgbClr val="FFD355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Links</a:t>
            </a:r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: São utilizadas para gerenciar qualquer tipo de link existente na página;  </a:t>
            </a:r>
          </a:p>
          <a:p>
            <a:pPr fontAlgn="base"/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      </a:t>
            </a:r>
            <a:r>
              <a:rPr lang="pt-BR" sz="1200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&lt;a&gt;, &lt;link&gt;;</a:t>
            </a:r>
          </a:p>
          <a:p>
            <a:pPr fontAlgn="base"/>
            <a:r>
              <a:rPr lang="pt-BR" sz="1200" dirty="0">
                <a:solidFill>
                  <a:srgbClr val="FFD355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Conteúdo multimídia</a:t>
            </a:r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: utilizadas para inserir elementos como imagens, vídeos e músicas nas páginas web;</a:t>
            </a:r>
          </a:p>
          <a:p>
            <a:pPr fontAlgn="base"/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                    </a:t>
            </a:r>
            <a:r>
              <a:rPr lang="pt-BR" sz="1200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&lt;</a:t>
            </a:r>
            <a:r>
              <a:rPr lang="pt-BR" sz="1200" dirty="0" err="1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img</a:t>
            </a:r>
            <a:r>
              <a:rPr lang="pt-BR" sz="1200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&gt;, </a:t>
            </a:r>
            <a:r>
              <a:rPr lang="en-US" sz="1200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&lt;audio&gt;, &lt;video&gt;, &lt;source&gt;, &lt;embed&gt;, &lt;track&gt;;</a:t>
            </a:r>
            <a:endParaRPr lang="pt-BR" sz="1200" dirty="0">
              <a:solidFill>
                <a:srgbClr val="E74D6A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pt-BR" sz="1200" dirty="0">
                <a:solidFill>
                  <a:srgbClr val="FFD355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Formulários</a:t>
            </a:r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:  utilizadas para criar formulários para os usuários; </a:t>
            </a:r>
          </a:p>
          <a:p>
            <a:pPr fontAlgn="base"/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                     </a:t>
            </a:r>
            <a:r>
              <a:rPr lang="pt-BR" sz="1200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&lt;input&gt;, &lt;TEXTAREA&gt;;</a:t>
            </a:r>
          </a:p>
          <a:p>
            <a:pPr fontAlgn="base"/>
            <a:r>
              <a:rPr lang="pt-BR" sz="1200" dirty="0">
                <a:solidFill>
                  <a:srgbClr val="FFD355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Lista</a:t>
            </a:r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:  permitem criar diferentes listas;</a:t>
            </a:r>
          </a:p>
          <a:p>
            <a:pPr fontAlgn="base"/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      </a:t>
            </a:r>
            <a:r>
              <a:rPr lang="pt-BR" sz="1200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&lt;li&gt;, &lt;</a:t>
            </a:r>
            <a:r>
              <a:rPr lang="pt-BR" sz="1200" dirty="0" err="1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dd</a:t>
            </a:r>
            <a:r>
              <a:rPr lang="pt-BR" sz="1200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&gt;,&lt;</a:t>
            </a:r>
            <a:r>
              <a:rPr lang="pt-BR" sz="1200" dirty="0" err="1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ul</a:t>
            </a:r>
            <a:r>
              <a:rPr lang="pt-BR" sz="1200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&gt;,&lt;</a:t>
            </a:r>
            <a:r>
              <a:rPr lang="pt-BR" sz="1200" dirty="0" err="1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ol</a:t>
            </a:r>
            <a:r>
              <a:rPr lang="pt-BR" sz="1200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&gt;;</a:t>
            </a:r>
          </a:p>
          <a:p>
            <a:pPr fontAlgn="base"/>
            <a:r>
              <a:rPr lang="pt-BR" sz="1200" dirty="0">
                <a:solidFill>
                  <a:srgbClr val="FFD355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Tabela</a:t>
            </a:r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:  adotadas para criar e modificar tabelas facilmente.</a:t>
            </a:r>
          </a:p>
          <a:p>
            <a:pPr fontAlgn="base"/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           </a:t>
            </a:r>
            <a:r>
              <a:rPr lang="pt-BR" sz="1200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&lt;</a:t>
            </a:r>
            <a:r>
              <a:rPr lang="pt-BR" sz="1200" dirty="0" err="1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tr</a:t>
            </a:r>
            <a:r>
              <a:rPr lang="pt-BR" sz="1200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&gt;, &lt;</a:t>
            </a:r>
            <a:r>
              <a:rPr lang="pt-BR" sz="1200" dirty="0" err="1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td</a:t>
            </a:r>
            <a:r>
              <a:rPr lang="pt-BR" sz="1200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&gt;;</a:t>
            </a:r>
          </a:p>
          <a:p>
            <a:pPr fontAlgn="base"/>
            <a:r>
              <a:rPr lang="pt-BR" sz="1200" dirty="0">
                <a:solidFill>
                  <a:srgbClr val="FFD355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Frames:</a:t>
            </a:r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para criar frames (que funciona como uma divisão interna da página) com conteúdos internos;</a:t>
            </a:r>
          </a:p>
          <a:p>
            <a:pPr fontAlgn="base"/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            </a:t>
            </a:r>
            <a:r>
              <a:rPr lang="pt-BR" sz="1200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&lt;</a:t>
            </a:r>
            <a:r>
              <a:rPr lang="pt-BR" sz="1200" dirty="0" err="1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iframe</a:t>
            </a:r>
            <a:r>
              <a:rPr lang="pt-BR" sz="1200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&gt;;</a:t>
            </a:r>
          </a:p>
          <a:p>
            <a:pPr fontAlgn="base"/>
            <a:endParaRPr lang="pt-BR" b="1" dirty="0">
              <a:solidFill>
                <a:srgbClr val="FFFFFF"/>
              </a:solidFill>
              <a:effectLst/>
              <a:latin typeface="Gotham"/>
            </a:endParaRPr>
          </a:p>
          <a:p>
            <a:pPr algn="l" fontAlgn="base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</a:t>
            </a:r>
            <a:endParaRPr lang="pt-BR" b="1" dirty="0">
              <a:solidFill>
                <a:srgbClr val="FFFFFF"/>
              </a:solidFill>
              <a:effectLst/>
              <a:latin typeface="Gotham"/>
            </a:endParaRPr>
          </a:p>
        </p:txBody>
      </p:sp>
    </p:spTree>
    <p:extLst>
      <p:ext uri="{BB962C8B-B14F-4D97-AF65-F5344CB8AC3E}">
        <p14:creationId xmlns:p14="http://schemas.microsoft.com/office/powerpoint/2010/main" val="1288306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FC7884-1659-B40B-0991-CFEF51D3EC65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400" dirty="0" err="1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Tags</a:t>
            </a:r>
            <a:r>
              <a:rPr lang="pt-BR" sz="44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 entre </a:t>
            </a:r>
            <a:r>
              <a:rPr lang="pt-BR" sz="4400" dirty="0" err="1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Tags</a:t>
            </a:r>
            <a:endParaRPr lang="pt-BR" sz="4400" dirty="0">
              <a:solidFill>
                <a:srgbClr val="FFD355"/>
              </a:solidFill>
              <a:latin typeface="Haboro Slab Norm Medium" panose="02000503070000020004" pitchFamily="50" charset="0"/>
              <a:cs typeface="Arial" panose="020B0604020202020204" pitchFamily="34" charset="0"/>
            </a:endParaRP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3924C348-A41F-251D-DB0B-D1770A1E8483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4523536" cy="3416400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Um elemento HTML pode conter outra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tag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entre suas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tags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e quantas forem necessárias.</a:t>
            </a:r>
          </a:p>
          <a:p>
            <a:pPr marL="114300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Isso define uma hierarquia entre os elementos: O elemento externo pode ser definido como elemento pai e a interno como elemento filho</a:t>
            </a:r>
          </a:p>
          <a:p>
            <a:endParaRPr lang="pt-BR" dirty="0"/>
          </a:p>
        </p:txBody>
      </p:sp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F8B4D1CF-A3AE-72A7-B65C-49E95C6BADA8}"/>
              </a:ext>
            </a:extLst>
          </p:cNvPr>
          <p:cNvSpPr txBox="1">
            <a:spLocks/>
          </p:cNvSpPr>
          <p:nvPr/>
        </p:nvSpPr>
        <p:spPr>
          <a:xfrm>
            <a:off x="5375562" y="1069347"/>
            <a:ext cx="3553691" cy="3416400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r>
              <a:rPr lang="pt-BR" sz="3200" dirty="0">
                <a:solidFill>
                  <a:srgbClr val="E74D6A"/>
                </a:solidFill>
              </a:rPr>
              <a:t>&lt;</a:t>
            </a:r>
            <a:r>
              <a:rPr lang="pt-BR" sz="3200" dirty="0" err="1">
                <a:solidFill>
                  <a:srgbClr val="E74D6A"/>
                </a:solidFill>
              </a:rPr>
              <a:t>tag</a:t>
            </a:r>
            <a:r>
              <a:rPr lang="pt-BR" sz="3200" dirty="0">
                <a:solidFill>
                  <a:srgbClr val="E74D6A"/>
                </a:solidFill>
              </a:rPr>
              <a:t>&gt;</a:t>
            </a:r>
          </a:p>
          <a:p>
            <a:r>
              <a:rPr lang="pt-BR" sz="3200" dirty="0">
                <a:solidFill>
                  <a:srgbClr val="E74D6A"/>
                </a:solidFill>
              </a:rPr>
              <a:t>    &lt;</a:t>
            </a:r>
            <a:r>
              <a:rPr lang="pt-BR" sz="3200" dirty="0" err="1">
                <a:solidFill>
                  <a:srgbClr val="E74D6A"/>
                </a:solidFill>
              </a:rPr>
              <a:t>outratag</a:t>
            </a:r>
            <a:r>
              <a:rPr lang="pt-BR" sz="3200" dirty="0">
                <a:solidFill>
                  <a:srgbClr val="E74D6A"/>
                </a:solidFill>
              </a:rPr>
              <a:t>&gt;</a:t>
            </a:r>
          </a:p>
          <a:p>
            <a:r>
              <a:rPr lang="pt-BR" sz="3200" dirty="0">
                <a:solidFill>
                  <a:srgbClr val="FEBD96"/>
                </a:solidFill>
              </a:rPr>
              <a:t>         Conteúdo</a:t>
            </a:r>
          </a:p>
          <a:p>
            <a:r>
              <a:rPr lang="pt-BR" sz="3200" dirty="0">
                <a:solidFill>
                  <a:srgbClr val="E74D6A"/>
                </a:solidFill>
              </a:rPr>
              <a:t>    &lt;/</a:t>
            </a:r>
            <a:r>
              <a:rPr lang="pt-BR" sz="3200" dirty="0" err="1">
                <a:solidFill>
                  <a:srgbClr val="E74D6A"/>
                </a:solidFill>
              </a:rPr>
              <a:t>outratag</a:t>
            </a:r>
            <a:r>
              <a:rPr lang="pt-BR" sz="3200" dirty="0">
                <a:solidFill>
                  <a:srgbClr val="E74D6A"/>
                </a:solidFill>
              </a:rPr>
              <a:t>&gt;</a:t>
            </a:r>
          </a:p>
          <a:p>
            <a:r>
              <a:rPr lang="pt-BR" sz="3200" dirty="0">
                <a:solidFill>
                  <a:srgbClr val="E74D6A"/>
                </a:solidFill>
              </a:rPr>
              <a:t>&lt;/</a:t>
            </a:r>
            <a:r>
              <a:rPr lang="pt-BR" sz="3200" dirty="0" err="1">
                <a:solidFill>
                  <a:srgbClr val="E74D6A"/>
                </a:solidFill>
              </a:rPr>
              <a:t>tag</a:t>
            </a:r>
            <a:r>
              <a:rPr lang="pt-BR" sz="3200" dirty="0">
                <a:solidFill>
                  <a:srgbClr val="E74D6A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267386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FC7884-1659-B40B-0991-CFEF51D3EC65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4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Atributos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6E223EAC-47FC-C615-C163-597BC09E098C}"/>
              </a:ext>
            </a:extLst>
          </p:cNvPr>
          <p:cNvSpPr txBox="1">
            <a:spLocks/>
          </p:cNvSpPr>
          <p:nvPr/>
        </p:nvSpPr>
        <p:spPr>
          <a:xfrm>
            <a:off x="311700" y="1152474"/>
            <a:ext cx="8582918" cy="3758961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    Os atributos HTML são um modificador de um tipo de elemento HTML, são usados para personalizar as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tags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com eles podemos identificar melhor um elemento, informar qual arquivo aquela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tag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deve utilizar, modificando sua estrutura ou funcionalidade. Igualmente, os atributos são utilizados para atribuir uma classe ou id a um elemento.</a:t>
            </a:r>
          </a:p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Há dois tipos de atributos no HTML:  </a:t>
            </a:r>
          </a:p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 Os globais que são aceitos por todas as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tags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como por exemplo: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class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id,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lang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style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entre outras;</a:t>
            </a:r>
          </a:p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 Os específicos que somente algumas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tags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possuem, como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src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disabled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href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label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etc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…</a:t>
            </a:r>
          </a:p>
          <a:p>
            <a:pPr marL="114300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r>
              <a:rPr lang="pt-BR" sz="28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&lt;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</a:t>
            </a:r>
            <a:r>
              <a:rPr lang="pt-BR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NOME DA TAG    </a:t>
            </a:r>
            <a:r>
              <a:rPr lang="pt-BR" sz="2000" dirty="0">
                <a:solidFill>
                  <a:srgbClr val="C00000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ATRIBUTO</a:t>
            </a:r>
            <a:r>
              <a:rPr lang="pt-BR" sz="20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= </a:t>
            </a:r>
            <a:r>
              <a:rPr lang="pt-BR" sz="2000" dirty="0">
                <a:solidFill>
                  <a:srgbClr val="0070C0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“VALOR”  </a:t>
            </a:r>
            <a:r>
              <a:rPr lang="pt-BR" sz="28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</a:t>
            </a:r>
            <a:r>
              <a:rPr lang="pt-BR" dirty="0">
                <a:solidFill>
                  <a:srgbClr val="FEBD96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CONTEÚDO DA TAG </a:t>
            </a:r>
            <a:r>
              <a:rPr lang="pt-BR" sz="28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&lt;/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</a:t>
            </a:r>
            <a:r>
              <a:rPr lang="pt-BR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TAG DE FECHAMENTO</a:t>
            </a:r>
            <a:r>
              <a:rPr lang="pt-BR" sz="28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</a:t>
            </a:r>
          </a:p>
          <a:p>
            <a:pPr marL="114300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&lt;</a:t>
            </a:r>
            <a:r>
              <a:rPr lang="pt-BR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p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class</a:t>
            </a:r>
            <a:r>
              <a:rPr lang="pt-BR" sz="18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=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“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classedoparagrafo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” 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   </a:t>
            </a:r>
            <a:r>
              <a:rPr lang="pt-BR" dirty="0">
                <a:solidFill>
                  <a:srgbClr val="FEBD96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meu paragrafo  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&lt;/</a:t>
            </a:r>
            <a:r>
              <a:rPr lang="pt-BR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p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</a:t>
            </a:r>
          </a:p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&lt;</a:t>
            </a:r>
            <a:r>
              <a:rPr lang="pt-BR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a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</a:t>
            </a:r>
            <a:r>
              <a:rPr lang="pt-BR" sz="1800" dirty="0">
                <a:solidFill>
                  <a:srgbClr val="FF0000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id</a:t>
            </a:r>
            <a:r>
              <a:rPr lang="pt-BR" sz="18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=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“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linkprincipal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”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href</a:t>
            </a:r>
            <a:r>
              <a:rPr lang="pt-BR" sz="18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=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latin typeface="Myriad Pro" panose="020B0503030403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“https://meusite.com.br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“</a:t>
            </a:r>
            <a:r>
              <a:rPr lang="pt-BR" sz="1800" dirty="0">
                <a:solidFill>
                  <a:srgbClr val="FF0000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target</a:t>
            </a:r>
            <a:r>
              <a:rPr lang="pt-BR" sz="18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=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“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blank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”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 </a:t>
            </a:r>
            <a:r>
              <a:rPr lang="pt-BR" dirty="0">
                <a:solidFill>
                  <a:srgbClr val="FEBD96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meu site 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&lt;/</a:t>
            </a:r>
            <a:r>
              <a:rPr lang="pt-BR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a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</a:t>
            </a:r>
          </a:p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&lt;</a:t>
            </a:r>
            <a:r>
              <a:rPr lang="pt-BR" dirty="0" err="1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img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src</a:t>
            </a:r>
            <a:r>
              <a:rPr lang="pt-BR" sz="18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=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“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img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/imagem.jpg” </a:t>
            </a:r>
            <a:r>
              <a:rPr lang="pt-BR" sz="1800" dirty="0" err="1">
                <a:solidFill>
                  <a:srgbClr val="FF0000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alt</a:t>
            </a:r>
            <a:r>
              <a:rPr lang="pt-BR" sz="18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=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“imagem para demonstração”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142192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FC7884-1659-B40B-0991-CFEF51D3EC65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4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Semântica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6E223EAC-47FC-C615-C163-597BC09E098C}"/>
              </a:ext>
            </a:extLst>
          </p:cNvPr>
          <p:cNvSpPr txBox="1">
            <a:spLocks/>
          </p:cNvSpPr>
          <p:nvPr/>
        </p:nvSpPr>
        <p:spPr>
          <a:xfrm>
            <a:off x="311700" y="1152474"/>
            <a:ext cx="8582918" cy="3758961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r>
              <a:rPr lang="pt-BR" sz="1800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Tags</a:t>
            </a:r>
            <a:r>
              <a:rPr lang="pt-BR" sz="18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semânticas</a:t>
            </a:r>
          </a:p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  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Tags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semânticas são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tags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que possuem um significado, que dão sentido a informação de texto ao navegador e buscadores.</a:t>
            </a:r>
          </a:p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   É uma boa prática tentar sempre utilizar essas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tags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semânticas para ajudar no entendimento do código, </a:t>
            </a:r>
          </a:p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além de ajudar muito no SEO do site (Otimização para motores de busca, é o que ajuda o seu site a se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rankear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melhor nos motores de buscas como o Google). </a:t>
            </a:r>
          </a:p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&lt;header&gt;,&lt;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main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&gt;,&lt;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footer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&gt;,&lt;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section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&gt;,&lt;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article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&gt;,&lt;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aside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&gt;,&lt;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nav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&gt;,&lt;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ol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&gt;,&lt;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ul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&gt;,&lt;li&gt;</a:t>
            </a:r>
          </a:p>
          <a:p>
            <a:pPr marL="114300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r>
              <a:rPr lang="pt-BR" sz="1800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Tags</a:t>
            </a:r>
            <a:r>
              <a:rPr lang="pt-BR" sz="18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sem semântica</a:t>
            </a:r>
          </a:p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   As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tags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que não possuem semântica não definem um significado para aquele texto, normalmente são utilizadas apenas para fins de separação e estilização.	</a:t>
            </a:r>
          </a:p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&lt;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div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&gt;,&lt;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span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&gt;,&lt;b&gt;,&lt;i&gt;</a:t>
            </a:r>
          </a:p>
        </p:txBody>
      </p:sp>
    </p:spTree>
    <p:extLst>
      <p:ext uri="{BB962C8B-B14F-4D97-AF65-F5344CB8AC3E}">
        <p14:creationId xmlns:p14="http://schemas.microsoft.com/office/powerpoint/2010/main" val="3439874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FC7884-1659-B40B-0991-CFEF51D3EC65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4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Comentários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6E223EAC-47FC-C615-C163-597BC09E098C}"/>
              </a:ext>
            </a:extLst>
          </p:cNvPr>
          <p:cNvSpPr txBox="1">
            <a:spLocks/>
          </p:cNvSpPr>
          <p:nvPr/>
        </p:nvSpPr>
        <p:spPr>
          <a:xfrm>
            <a:off x="0" y="1962966"/>
            <a:ext cx="8582918" cy="1327490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algn="ctr"/>
            <a:r>
              <a:rPr lang="pt-BR" sz="40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&lt;!-- Comentário em HTML –&gt;</a:t>
            </a:r>
          </a:p>
        </p:txBody>
      </p:sp>
    </p:spTree>
    <p:extLst>
      <p:ext uri="{BB962C8B-B14F-4D97-AF65-F5344CB8AC3E}">
        <p14:creationId xmlns:p14="http://schemas.microsoft.com/office/powerpoint/2010/main" val="3618252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FC7884-1659-B40B-0991-CFEF51D3EC65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4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CSS</a:t>
            </a:r>
          </a:p>
        </p:txBody>
      </p:sp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F98A0EE0-D731-8926-D7C9-2A626B358B6D}"/>
              </a:ext>
            </a:extLst>
          </p:cNvPr>
          <p:cNvSpPr txBox="1">
            <a:spLocks/>
          </p:cNvSpPr>
          <p:nvPr/>
        </p:nvSpPr>
        <p:spPr>
          <a:xfrm>
            <a:off x="311700" y="1858718"/>
            <a:ext cx="8742245" cy="2512391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CSS é a sigla para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Cascading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Style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Sheets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ou seja, Folhas de Estilo em Cascatas. é uma linguagem de estilos que, assim como o HTML, também não é considerada uma linguagem de programação. É uma maneira de dar estilo ao código criado pelo HTML. De forma prática, CSS é uma forma de definição do visual de documentos , Ela é responsável por separar a parte estrutural da aplicação (que ficará nas mãos do HTML) da parte estética. Ela funciona como uma camada de personalização ao conteúdo visível.</a:t>
            </a:r>
          </a:p>
          <a:p>
            <a:pPr marL="114300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O HTML foi idealizados para ser funcional e, por ser de marcação, precisou ser aperfeiçoado. Ele foi criado porque o HTML não era capaz de compreender todas as necessidades que um programador tinha para criar padrões de formatação nas páginas. O CSS, no caso, veio como uma boa solução para aprimorar a estética dos sites.</a:t>
            </a:r>
          </a:p>
          <a:p>
            <a:pPr marL="114300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Por meio dele, é possível separar formatos de conteúdos, bem como definir como serão exibidos em cada página.</a:t>
            </a:r>
          </a:p>
          <a:p>
            <a:pPr marL="114300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F7A3A08-891E-3DED-EE00-7450884D16F6}"/>
              </a:ext>
            </a:extLst>
          </p:cNvPr>
          <p:cNvSpPr txBox="1">
            <a:spLocks/>
          </p:cNvSpPr>
          <p:nvPr/>
        </p:nvSpPr>
        <p:spPr>
          <a:xfrm>
            <a:off x="2812472" y="1017725"/>
            <a:ext cx="5451791" cy="734291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4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 </a:t>
            </a:r>
            <a:r>
              <a:rPr lang="pt-BR" sz="32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O que é CSS ?</a:t>
            </a:r>
          </a:p>
        </p:txBody>
      </p:sp>
    </p:spTree>
    <p:extLst>
      <p:ext uri="{BB962C8B-B14F-4D97-AF65-F5344CB8AC3E}">
        <p14:creationId xmlns:p14="http://schemas.microsoft.com/office/powerpoint/2010/main" val="3072939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FC7884-1659-B40B-0991-CFEF51D3EC65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4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CSS</a:t>
            </a:r>
          </a:p>
        </p:txBody>
      </p:sp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F98A0EE0-D731-8926-D7C9-2A626B358B6D}"/>
              </a:ext>
            </a:extLst>
          </p:cNvPr>
          <p:cNvSpPr txBox="1">
            <a:spLocks/>
          </p:cNvSpPr>
          <p:nvPr/>
        </p:nvSpPr>
        <p:spPr>
          <a:xfrm>
            <a:off x="311700" y="1858718"/>
            <a:ext cx="8742245" cy="3066573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     No HTML existem diversas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tags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de diversas estruturas para montar o esqueleto da página.  Mas, como é possível deixar esse parágrafo azul? Ou mudar a fonte da letra? Aí entra o CSS. </a:t>
            </a:r>
          </a:p>
          <a:p>
            <a:pPr marL="114300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r>
              <a:rPr lang="pt-BR" b="0" i="0" dirty="0">
                <a:solidFill>
                  <a:srgbClr val="E45649"/>
                </a:solidFill>
                <a:effectLst/>
                <a:latin typeface="Courier New" panose="02070309020205020404" pitchFamily="49" charset="0"/>
              </a:rPr>
              <a:t>	       </a:t>
            </a:r>
            <a:r>
              <a:rPr lang="pt-BR" sz="2000" b="1" i="0" dirty="0">
                <a:solidFill>
                  <a:srgbClr val="E45649"/>
                </a:solidFill>
                <a:effectLst/>
                <a:latin typeface="Myriad Pro" panose="020B0503030403020204" pitchFamily="34" charset="0"/>
              </a:rPr>
              <a:t>seletor</a:t>
            </a:r>
            <a:r>
              <a:rPr lang="pt-BR" sz="2000" b="1" i="0" dirty="0">
                <a:solidFill>
                  <a:srgbClr val="383A42"/>
                </a:solidFill>
                <a:effectLst/>
                <a:latin typeface="Myriad Pro" panose="020B0503030403020204" pitchFamily="34" charset="0"/>
              </a:rPr>
              <a:t> { </a:t>
            </a:r>
            <a:r>
              <a:rPr lang="pt-BR" sz="2000" b="1" i="0" dirty="0">
                <a:solidFill>
                  <a:srgbClr val="50A14F"/>
                </a:solidFill>
                <a:effectLst/>
                <a:latin typeface="Myriad Pro" panose="020B0503030403020204" pitchFamily="34" charset="0"/>
              </a:rPr>
              <a:t>propriedade</a:t>
            </a:r>
            <a:r>
              <a:rPr lang="pt-BR" sz="2000" b="1" i="0" dirty="0">
                <a:solidFill>
                  <a:srgbClr val="383A42"/>
                </a:solidFill>
                <a:effectLst/>
                <a:latin typeface="Myriad Pro" panose="020B0503030403020204" pitchFamily="34" charset="0"/>
              </a:rPr>
              <a:t>: valor; }</a:t>
            </a:r>
          </a:p>
          <a:p>
            <a:pPr marL="114300"/>
            <a:endParaRPr lang="pt-BR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     O seletor será o elemento que queremos estilizar (podendo ser uma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tag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uma classe, um identificador...), a propriedade será o que iremos alterar (como color,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font-size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width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...) e o valor será de fato a alteração (como por exemplo: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red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para color, 18px para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font-size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e assim por diante).</a:t>
            </a:r>
          </a:p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    O CSS pode ser escrito dentro do arquivo HTML, utilizando o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style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como elemento &lt;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style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 ou como atributo de algum outro elemento &lt;p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style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=””&gt;. Assim como também pode ser escrito em um arquivo separado, apenas de CSS, importando-o no documento HTML.</a:t>
            </a:r>
          </a:p>
          <a:p>
            <a:pPr marL="114300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F7A3A08-891E-3DED-EE00-7450884D16F6}"/>
              </a:ext>
            </a:extLst>
          </p:cNvPr>
          <p:cNvSpPr txBox="1">
            <a:spLocks/>
          </p:cNvSpPr>
          <p:nvPr/>
        </p:nvSpPr>
        <p:spPr>
          <a:xfrm>
            <a:off x="1904999" y="1030995"/>
            <a:ext cx="5451791" cy="734291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4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 </a:t>
            </a:r>
            <a:r>
              <a:rPr lang="pt-BR" sz="32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Como funciona o CSS?</a:t>
            </a:r>
          </a:p>
        </p:txBody>
      </p:sp>
    </p:spTree>
    <p:extLst>
      <p:ext uri="{BB962C8B-B14F-4D97-AF65-F5344CB8AC3E}">
        <p14:creationId xmlns:p14="http://schemas.microsoft.com/office/powerpoint/2010/main" val="2347629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FC7884-1659-B40B-0991-CFEF51D3EC65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4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CSS</a:t>
            </a:r>
          </a:p>
        </p:txBody>
      </p:sp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F98A0EE0-D731-8926-D7C9-2A626B358B6D}"/>
              </a:ext>
            </a:extLst>
          </p:cNvPr>
          <p:cNvSpPr txBox="1">
            <a:spLocks/>
          </p:cNvSpPr>
          <p:nvPr/>
        </p:nvSpPr>
        <p:spPr>
          <a:xfrm>
            <a:off x="311700" y="1562132"/>
            <a:ext cx="8742245" cy="3435927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O CSS possui três tipos de regras: </a:t>
            </a:r>
          </a:p>
          <a:p>
            <a:pPr marL="114300" lvl="1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1. seletores , que especificam como a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tag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será exibida;</a:t>
            </a:r>
          </a:p>
          <a:p>
            <a:pPr marL="114300" lvl="1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2. as classes, que podem possuir qualquer nome e podem ser aplicados a diversos elementos diferentes;</a:t>
            </a:r>
          </a:p>
          <a:p>
            <a:pPr marL="114300" lvl="1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3. e o ID que pode ser aplicado a qualquer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tag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do HTML, mas somente a um elemento da página, </a:t>
            </a:r>
          </a:p>
          <a:p>
            <a:pPr marL="114300" lvl="1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  normalmente utilizado junto com linguagens de script (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JavaScript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).</a:t>
            </a:r>
          </a:p>
          <a:p>
            <a:pPr marL="114300" lvl="1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 lvl="1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Uma regra e formada por três partes:</a:t>
            </a:r>
          </a:p>
          <a:p>
            <a:pPr marL="114300" lvl="3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• o seletor, que identifica a regra;</a:t>
            </a:r>
          </a:p>
          <a:p>
            <a:pPr marL="114300" lvl="3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• a propriedade que informa o que está sendo definido;</a:t>
            </a:r>
          </a:p>
          <a:p>
            <a:pPr marL="114300" lvl="3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• e os valores que são os modificadores das propriedades.</a:t>
            </a:r>
          </a:p>
          <a:p>
            <a:pPr marL="114300" lvl="3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 lvl="3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Podemos aplicar o CSS de três formas em um documento HTML:</a:t>
            </a:r>
          </a:p>
          <a:p>
            <a:pPr marL="114300" lvl="3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1. Definindo as propriedades CSS diretamente no elemento HTML através do seu atributo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style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.</a:t>
            </a:r>
          </a:p>
          <a:p>
            <a:pPr marL="114300" lvl="3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2. Definindo as regras CSS dentro de um elemento com a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tag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style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.</a:t>
            </a:r>
          </a:p>
          <a:p>
            <a:pPr marL="114300" lvl="3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3. Definindo as regras CSS em arquivo à parte do documento HTML.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F7A3A08-891E-3DED-EE00-7450884D16F6}"/>
              </a:ext>
            </a:extLst>
          </p:cNvPr>
          <p:cNvSpPr txBox="1">
            <a:spLocks/>
          </p:cNvSpPr>
          <p:nvPr/>
        </p:nvSpPr>
        <p:spPr>
          <a:xfrm>
            <a:off x="1904999" y="989432"/>
            <a:ext cx="5451791" cy="638477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32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Usando CSS</a:t>
            </a:r>
          </a:p>
        </p:txBody>
      </p:sp>
    </p:spTree>
    <p:extLst>
      <p:ext uri="{BB962C8B-B14F-4D97-AF65-F5344CB8AC3E}">
        <p14:creationId xmlns:p14="http://schemas.microsoft.com/office/powerpoint/2010/main" val="1382553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FC7884-1659-B40B-0991-CFEF51D3EC65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4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CSS</a:t>
            </a:r>
          </a:p>
        </p:txBody>
      </p:sp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F98A0EE0-D731-8926-D7C9-2A626B358B6D}"/>
              </a:ext>
            </a:extLst>
          </p:cNvPr>
          <p:cNvSpPr txBox="1">
            <a:spLocks/>
          </p:cNvSpPr>
          <p:nvPr/>
        </p:nvSpPr>
        <p:spPr>
          <a:xfrm>
            <a:off x="311700" y="1562132"/>
            <a:ext cx="8742245" cy="3435927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      </a:t>
            </a:r>
            <a:r>
              <a:rPr lang="pt-BR" sz="16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Diretamente na </a:t>
            </a:r>
            <a:r>
              <a:rPr lang="pt-BR" sz="1600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tag</a:t>
            </a:r>
            <a:r>
              <a:rPr lang="pt-BR" sz="16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: O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uso da CSS nas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tags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individuais é útil quando se deseja substituir os estilos definidos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universalmente.Estas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declarações devem estar entre aspas (" "). CSS pode ser adicionado com o uso do atributo</a:t>
            </a:r>
          </a:p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style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. Essa prática não é recomendada, pois dessa forma não é possível reaproveitar o código CSS, além de dificultar a leitura do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códigoHTML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.</a:t>
            </a:r>
          </a:p>
          <a:p>
            <a:pPr marL="114300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&lt;</a:t>
            </a:r>
            <a:r>
              <a:rPr lang="pt-BR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p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</a:t>
            </a:r>
            <a:r>
              <a:rPr lang="pt-BR" sz="1800" dirty="0" err="1">
                <a:solidFill>
                  <a:srgbClr val="C00000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style</a:t>
            </a:r>
            <a:r>
              <a:rPr lang="pt-BR" sz="18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=</a:t>
            </a:r>
            <a:r>
              <a:rPr lang="pt-BR" sz="1800" dirty="0">
                <a:solidFill>
                  <a:srgbClr val="0070C0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"font-size:20px;"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</a:t>
            </a:r>
            <a:r>
              <a:rPr lang="pt-BR" dirty="0">
                <a:solidFill>
                  <a:srgbClr val="FEBD96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Este parágrafo em tamanho de fonte igual a20px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&lt;/</a:t>
            </a:r>
            <a:r>
              <a:rPr lang="pt-BR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p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</a:t>
            </a:r>
          </a:p>
          <a:p>
            <a:pPr marL="114300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&lt;</a:t>
            </a:r>
            <a:r>
              <a:rPr lang="pt-BR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p </a:t>
            </a:r>
            <a:r>
              <a:rPr lang="pt-BR" sz="1800" dirty="0" err="1">
                <a:solidFill>
                  <a:srgbClr val="C00000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style</a:t>
            </a:r>
            <a:r>
              <a:rPr lang="pt-BR" sz="18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=</a:t>
            </a:r>
            <a:r>
              <a:rPr lang="pt-BR" sz="1800" dirty="0">
                <a:solidFill>
                  <a:srgbClr val="0070C0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"</a:t>
            </a:r>
            <a:r>
              <a:rPr lang="pt-BR" sz="1800" dirty="0" err="1">
                <a:solidFill>
                  <a:srgbClr val="0070C0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font-family:courier</a:t>
            </a:r>
            <a:r>
              <a:rPr lang="pt-BR" sz="1800" dirty="0">
                <a:solidFill>
                  <a:srgbClr val="0070C0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;"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</a:t>
            </a:r>
            <a:r>
              <a:rPr lang="pt-BR" dirty="0">
                <a:solidFill>
                  <a:srgbClr val="FEBD96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Este parágrafo em fonte Courier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&lt;/</a:t>
            </a:r>
            <a:r>
              <a:rPr lang="pt-BR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p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</a:t>
            </a:r>
          </a:p>
          <a:p>
            <a:pPr marL="114300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&lt;</a:t>
            </a:r>
            <a:r>
              <a:rPr lang="pt-BR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p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</a:t>
            </a:r>
            <a:r>
              <a:rPr lang="pt-BR" sz="1800" dirty="0" err="1">
                <a:solidFill>
                  <a:srgbClr val="C00000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style</a:t>
            </a:r>
            <a:r>
              <a:rPr lang="pt-BR" sz="18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=</a:t>
            </a:r>
            <a:r>
              <a:rPr lang="pt-BR" sz="1800" dirty="0">
                <a:solidFill>
                  <a:srgbClr val="0070C0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"font-size:16px; </a:t>
            </a:r>
            <a:r>
              <a:rPr lang="pt-BR" sz="1800" dirty="0" err="1">
                <a:solidFill>
                  <a:srgbClr val="0070C0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font-family:cambria</a:t>
            </a:r>
            <a:r>
              <a:rPr lang="pt-BR" sz="1800" dirty="0">
                <a:solidFill>
                  <a:srgbClr val="0070C0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"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</a:t>
            </a:r>
            <a:r>
              <a:rPr lang="pt-BR" dirty="0">
                <a:solidFill>
                  <a:srgbClr val="FEBD96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Este parágrafo em </a:t>
            </a:r>
            <a:r>
              <a:rPr lang="pt-BR" dirty="0" err="1">
                <a:solidFill>
                  <a:srgbClr val="FEBD96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fonteCambria</a:t>
            </a:r>
            <a:r>
              <a:rPr lang="pt-BR" dirty="0">
                <a:solidFill>
                  <a:srgbClr val="FEBD96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e tamanho 20px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&lt;/</a:t>
            </a:r>
            <a:r>
              <a:rPr lang="pt-BR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p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F7A3A08-891E-3DED-EE00-7450884D16F6}"/>
              </a:ext>
            </a:extLst>
          </p:cNvPr>
          <p:cNvSpPr txBox="1">
            <a:spLocks/>
          </p:cNvSpPr>
          <p:nvPr/>
        </p:nvSpPr>
        <p:spPr>
          <a:xfrm>
            <a:off x="554183" y="1017725"/>
            <a:ext cx="8215744" cy="638477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28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O CCS pode ser incluído com as seguintes formas:</a:t>
            </a:r>
          </a:p>
        </p:txBody>
      </p:sp>
    </p:spTree>
    <p:extLst>
      <p:ext uri="{BB962C8B-B14F-4D97-AF65-F5344CB8AC3E}">
        <p14:creationId xmlns:p14="http://schemas.microsoft.com/office/powerpoint/2010/main" val="3459658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FC7884-1659-B40B-0991-CFEF51D3EC65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4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CSS</a:t>
            </a:r>
          </a:p>
        </p:txBody>
      </p:sp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F98A0EE0-D731-8926-D7C9-2A626B358B6D}"/>
              </a:ext>
            </a:extLst>
          </p:cNvPr>
          <p:cNvSpPr txBox="1">
            <a:spLocks/>
          </p:cNvSpPr>
          <p:nvPr/>
        </p:nvSpPr>
        <p:spPr>
          <a:xfrm>
            <a:off x="311700" y="1562132"/>
            <a:ext cx="8742245" cy="3435927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r>
              <a:rPr lang="pt-BR" sz="16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Na página WEB: E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ste uso do CSS permite a inserção de informações que serão aplicadas a todo um documento inserindo o estilo CSS na seção HEAD do documento o estilo de aplicara ao documento inteiro. </a:t>
            </a:r>
          </a:p>
          <a:p>
            <a:pPr marL="114300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&lt;</a:t>
            </a:r>
            <a:r>
              <a:rPr lang="pt-BR" sz="13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style</a:t>
            </a:r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</a:t>
            </a:r>
            <a:r>
              <a:rPr lang="pt-BR" sz="13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type</a:t>
            </a:r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="</a:t>
            </a:r>
            <a:r>
              <a:rPr lang="pt-BR" sz="13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text</a:t>
            </a:r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/</a:t>
            </a:r>
            <a:r>
              <a:rPr lang="pt-BR" sz="13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css</a:t>
            </a:r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"&gt;</a:t>
            </a:r>
          </a:p>
          <a:p>
            <a:pPr marL="114300" lvl="2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h1 {</a:t>
            </a:r>
          </a:p>
          <a:p>
            <a:pPr marL="114300" lvl="2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</a:t>
            </a:r>
            <a:r>
              <a:rPr lang="pt-BR" sz="13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font-size</a:t>
            </a:r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: 30px; </a:t>
            </a:r>
          </a:p>
          <a:p>
            <a:pPr marL="114300" lvl="2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</a:t>
            </a:r>
            <a:r>
              <a:rPr lang="pt-BR" sz="13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font-family</a:t>
            </a:r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: </a:t>
            </a:r>
            <a:r>
              <a:rPr lang="pt-BR" sz="13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arial</a:t>
            </a:r>
            <a:endParaRPr lang="pt-BR" sz="1300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 lvl="2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}</a:t>
            </a:r>
          </a:p>
          <a:p>
            <a:pPr marL="114300" lvl="2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h2 {</a:t>
            </a:r>
          </a:p>
          <a:p>
            <a:pPr marL="114300" lvl="2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</a:t>
            </a:r>
            <a:r>
              <a:rPr lang="pt-BR" sz="13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font-size</a:t>
            </a:r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: 15px;</a:t>
            </a:r>
          </a:p>
          <a:p>
            <a:pPr marL="114300" lvl="2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 </a:t>
            </a:r>
            <a:r>
              <a:rPr lang="pt-BR" sz="13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font-family</a:t>
            </a:r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: courier</a:t>
            </a:r>
          </a:p>
          <a:p>
            <a:pPr marL="114300" lvl="2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} </a:t>
            </a:r>
          </a:p>
          <a:p>
            <a:pPr marL="114300" lvl="2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p {</a:t>
            </a:r>
          </a:p>
          <a:p>
            <a:pPr marL="114300" lvl="2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</a:t>
            </a:r>
            <a:r>
              <a:rPr lang="pt-BR" sz="13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font-size</a:t>
            </a:r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: 8px; </a:t>
            </a:r>
          </a:p>
          <a:p>
            <a:pPr marL="114300" lvl="2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</a:t>
            </a:r>
            <a:r>
              <a:rPr lang="pt-BR" sz="13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font-family</a:t>
            </a:r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: times new </a:t>
            </a:r>
            <a:r>
              <a:rPr lang="pt-BR" sz="13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roman</a:t>
            </a:r>
            <a:endParaRPr lang="pt-BR" sz="1300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 lvl="2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}</a:t>
            </a:r>
          </a:p>
          <a:p>
            <a:pPr marL="114300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&lt;/</a:t>
            </a:r>
            <a:r>
              <a:rPr lang="pt-BR" sz="13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style</a:t>
            </a:r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F7A3A08-891E-3DED-EE00-7450884D16F6}"/>
              </a:ext>
            </a:extLst>
          </p:cNvPr>
          <p:cNvSpPr txBox="1">
            <a:spLocks/>
          </p:cNvSpPr>
          <p:nvPr/>
        </p:nvSpPr>
        <p:spPr>
          <a:xfrm>
            <a:off x="554183" y="1017725"/>
            <a:ext cx="8215744" cy="638477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28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O CCS pode ser incluído com as seguintes formas:</a:t>
            </a:r>
          </a:p>
        </p:txBody>
      </p:sp>
    </p:spTree>
    <p:extLst>
      <p:ext uri="{BB962C8B-B14F-4D97-AF65-F5344CB8AC3E}">
        <p14:creationId xmlns:p14="http://schemas.microsoft.com/office/powerpoint/2010/main" val="3705332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FC7884-1659-B40B-0991-CFEF51D3EC65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4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CSS</a:t>
            </a:r>
          </a:p>
        </p:txBody>
      </p:sp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F98A0EE0-D731-8926-D7C9-2A626B358B6D}"/>
              </a:ext>
            </a:extLst>
          </p:cNvPr>
          <p:cNvSpPr txBox="1">
            <a:spLocks/>
          </p:cNvSpPr>
          <p:nvPr/>
        </p:nvSpPr>
        <p:spPr>
          <a:xfrm>
            <a:off x="311700" y="1562132"/>
            <a:ext cx="8742245" cy="3435927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r>
              <a:rPr lang="pt-BR" sz="16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Arquivo externo: 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este deve ser um arquivo texto composto somente de regras CSS e comentários.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È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ideal para quando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oestilo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é aplicado a várias páginas, com isso você pode alterar a aparência de um site inteiro modificando apenas o CSS. No HTML vincula-se a folha de estilo com o documento com HTML através das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tags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&lt;link&gt;, que deve ser declarada no &lt;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head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&gt;.</a:t>
            </a:r>
          </a:p>
          <a:p>
            <a:pPr marL="114300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yriad Pro" panose="020B0503030403020204" pitchFamily="34" charset="0"/>
                <a:cs typeface="Arial" panose="020B0604020202020204" pitchFamily="34" charset="0"/>
              </a:rPr>
              <a:t>            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rgbClr val="D1949E"/>
                </a:solidFill>
                <a:effectLst/>
                <a:latin typeface="Myriad Pro" panose="020B0503030403020204" pitchFamily="34" charset="0"/>
              </a:rPr>
              <a:t>&lt;link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rgbClr val="BDE052"/>
                </a:solidFill>
                <a:effectLst/>
                <a:latin typeface="Myriad Pro" panose="020B0503030403020204" pitchFamily="34" charset="0"/>
              </a:rPr>
              <a:t>rel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rgbClr val="D1949E"/>
                </a:solidFill>
                <a:effectLst/>
                <a:latin typeface="Myriad Pro" panose="020B0503030403020204" pitchFamily="34" charset="0"/>
              </a:rPr>
              <a:t>="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rgbClr val="D1949E"/>
                </a:solidFill>
                <a:effectLst/>
                <a:latin typeface="Myriad Pro" panose="020B0503030403020204" pitchFamily="34" charset="0"/>
              </a:rPr>
              <a:t>stylesheet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rgbClr val="D1949E"/>
                </a:solidFill>
                <a:effectLst/>
                <a:latin typeface="Myriad Pro" panose="020B0503030403020204" pitchFamily="34" charset="0"/>
              </a:rPr>
              <a:t>"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rgbClr val="BDE052"/>
                </a:solidFill>
                <a:effectLst/>
                <a:latin typeface="Myriad Pro" panose="020B0503030403020204" pitchFamily="34" charset="0"/>
              </a:rPr>
              <a:t>href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rgbClr val="D1949E"/>
                </a:solidFill>
                <a:effectLst/>
                <a:latin typeface="Myriad Pro" panose="020B0503030403020204" pitchFamily="34" charset="0"/>
              </a:rPr>
              <a:t>="style.css"&gt;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yriad Pro" panose="020B0503030403020204" pitchFamily="34" charset="0"/>
              </a:rPr>
              <a:t> </a:t>
            </a:r>
          </a:p>
          <a:p>
            <a:pPr marL="114300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F7A3A08-891E-3DED-EE00-7450884D16F6}"/>
              </a:ext>
            </a:extLst>
          </p:cNvPr>
          <p:cNvSpPr txBox="1">
            <a:spLocks/>
          </p:cNvSpPr>
          <p:nvPr/>
        </p:nvSpPr>
        <p:spPr>
          <a:xfrm>
            <a:off x="554183" y="1017725"/>
            <a:ext cx="8215744" cy="638477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28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O CCS pode ser incluído com as seguintes formas:</a:t>
            </a:r>
          </a:p>
        </p:txBody>
      </p:sp>
    </p:spTree>
    <p:extLst>
      <p:ext uri="{BB962C8B-B14F-4D97-AF65-F5344CB8AC3E}">
        <p14:creationId xmlns:p14="http://schemas.microsoft.com/office/powerpoint/2010/main" val="8271372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FC7884-1659-B40B-0991-CFEF51D3EC65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4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CSS</a:t>
            </a:r>
          </a:p>
        </p:txBody>
      </p:sp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F98A0EE0-D731-8926-D7C9-2A626B358B6D}"/>
              </a:ext>
            </a:extLst>
          </p:cNvPr>
          <p:cNvSpPr txBox="1">
            <a:spLocks/>
          </p:cNvSpPr>
          <p:nvPr/>
        </p:nvSpPr>
        <p:spPr>
          <a:xfrm>
            <a:off x="311700" y="1562132"/>
            <a:ext cx="8742245" cy="3435927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Os elementos HTML historicamente foram categorizados como elementos de "nível de bloco"(display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block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)  ou elementos de "nível de linha"(display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inline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), </a:t>
            </a:r>
          </a:p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então toda a TAG HTML tem por padrão o display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block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ou o display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inline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29219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F98A0EE0-D731-8926-D7C9-2A626B358B6D}"/>
              </a:ext>
            </a:extLst>
          </p:cNvPr>
          <p:cNvSpPr txBox="1">
            <a:spLocks/>
          </p:cNvSpPr>
          <p:nvPr/>
        </p:nvSpPr>
        <p:spPr>
          <a:xfrm>
            <a:off x="311700" y="1562132"/>
            <a:ext cx="8742245" cy="3435927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r>
              <a:rPr lang="pt-BR" sz="18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Fluxo normal ou Layout de fluxo</a:t>
            </a:r>
            <a:r>
              <a:rPr lang="pt-BR" sz="16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é a maneira como os elementos </a:t>
            </a:r>
            <a:r>
              <a:rPr lang="pt-BR" sz="16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Bloco</a:t>
            </a:r>
            <a:r>
              <a:rPr lang="pt-BR" sz="16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e </a:t>
            </a:r>
            <a:r>
              <a:rPr lang="pt-BR" sz="1600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Inline</a:t>
            </a:r>
            <a:r>
              <a:rPr lang="pt-BR" sz="16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são exibidos em uma página antes que qualquer alteração seja feita em seu layout. </a:t>
            </a:r>
          </a:p>
          <a:p>
            <a:pPr marL="114300"/>
            <a:r>
              <a:rPr lang="pt-BR" sz="16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O </a:t>
            </a:r>
            <a:r>
              <a:rPr lang="pt-BR" sz="16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fluxo</a:t>
            </a:r>
            <a:r>
              <a:rPr lang="pt-BR" sz="16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é essencialmente um conjunto de coisas que estão trabalhando juntas e se conhecem em seu layout. </a:t>
            </a:r>
          </a:p>
          <a:p>
            <a:pPr marL="114300"/>
            <a:r>
              <a:rPr lang="pt-BR" sz="16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Uma vez que algo é retirado do fluxo , ele funciona de forma independente.</a:t>
            </a:r>
          </a:p>
          <a:p>
            <a:pPr marL="114300"/>
            <a:r>
              <a:rPr lang="pt-BR" sz="16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No fluxo normal, os elementos </a:t>
            </a:r>
            <a:r>
              <a:rPr lang="pt-BR" sz="16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inline</a:t>
            </a:r>
            <a:r>
              <a:rPr lang="pt-BR" sz="16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são exibidos na direção </a:t>
            </a:r>
            <a:r>
              <a:rPr lang="pt-BR" sz="16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inline</a:t>
            </a:r>
            <a:r>
              <a:rPr lang="pt-BR" sz="16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ou seja, na direção em que as palavras são exibidas em uma frase de acordo com o modo de escrita do documento. </a:t>
            </a:r>
          </a:p>
          <a:p>
            <a:pPr marL="114300"/>
            <a:r>
              <a:rPr lang="pt-BR" sz="16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Os elementos de bloco são exibidos um após o outro, como os parágrafos no modo de escrita desse documento. </a:t>
            </a:r>
          </a:p>
          <a:p>
            <a:pPr marL="114300"/>
            <a:r>
              <a:rPr lang="pt-BR" sz="16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No Brasil, portanto, os elementos </a:t>
            </a:r>
            <a:r>
              <a:rPr lang="pt-BR" sz="16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inline</a:t>
            </a:r>
            <a:r>
              <a:rPr lang="pt-BR" sz="16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são exibidos um após o outro, começando à esquerda, e os elementos de bloco começam na parte superior e descem na página.</a:t>
            </a:r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F7A3A08-891E-3DED-EE00-7450884D16F6}"/>
              </a:ext>
            </a:extLst>
          </p:cNvPr>
          <p:cNvSpPr txBox="1">
            <a:spLocks/>
          </p:cNvSpPr>
          <p:nvPr/>
        </p:nvSpPr>
        <p:spPr>
          <a:xfrm>
            <a:off x="574950" y="518961"/>
            <a:ext cx="8215744" cy="638477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280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Layout de fluxo CSS</a:t>
            </a:r>
            <a:endParaRPr lang="pt-BR" sz="2800" dirty="0">
              <a:solidFill>
                <a:srgbClr val="FFD355"/>
              </a:solidFill>
              <a:latin typeface="Haboro Slab Norm Medium" panose="02000503070000020004" pitchFamily="50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6754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F98A0EE0-D731-8926-D7C9-2A626B358B6D}"/>
              </a:ext>
            </a:extLst>
          </p:cNvPr>
          <p:cNvSpPr txBox="1">
            <a:spLocks/>
          </p:cNvSpPr>
          <p:nvPr/>
        </p:nvSpPr>
        <p:spPr>
          <a:xfrm>
            <a:off x="311700" y="1219200"/>
            <a:ext cx="8742245" cy="3778859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r>
              <a:rPr lang="pt-BR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"</a:t>
            </a:r>
            <a:r>
              <a:rPr lang="pt-BR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Inline</a:t>
            </a:r>
            <a:r>
              <a:rPr lang="pt-BR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" 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é uma categorização dos elementos do HTML, em contraste com os "elementos de bloco". Os elementos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inline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podem ser exibidos em nível de bloco ou outros elementos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inline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. </a:t>
            </a:r>
          </a:p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Eles ocupam somente a largura de seu conteúdo. A diferença entre elementos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inline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e bloco incluem:</a:t>
            </a:r>
          </a:p>
          <a:p>
            <a:pPr marL="114300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r>
              <a:rPr lang="pt-BR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Modelo de conteúdo</a:t>
            </a:r>
          </a:p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Geralmente, elementos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inline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devem ter somente dados em outros elementos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inline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.</a:t>
            </a:r>
          </a:p>
          <a:p>
            <a:pPr marL="114300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r>
              <a:rPr lang="pt-BR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Formato</a:t>
            </a:r>
          </a:p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Por padrão, os elementos 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inline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</a:t>
            </a:r>
            <a:r>
              <a:rPr lang="pt-BR" sz="16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não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começam em uma nova linha.	</a:t>
            </a:r>
          </a:p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</a:t>
            </a:r>
          </a:p>
          <a:p>
            <a:pPr marL="114300"/>
            <a:r>
              <a:rPr lang="pt-BR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Elementos</a:t>
            </a:r>
          </a:p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Listagem dos elementos que são "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inline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":</a:t>
            </a:r>
          </a:p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	</a:t>
            </a:r>
            <a:r>
              <a:rPr lang="pt-BR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b, big, i, </a:t>
            </a:r>
            <a:r>
              <a:rPr lang="pt-BR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small</a:t>
            </a:r>
            <a:r>
              <a:rPr lang="pt-BR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tt</a:t>
            </a:r>
            <a:r>
              <a:rPr lang="pt-BR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abbr</a:t>
            </a:r>
            <a:r>
              <a:rPr lang="pt-BR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acronym</a:t>
            </a:r>
            <a:r>
              <a:rPr lang="pt-BR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cite, </a:t>
            </a:r>
            <a:r>
              <a:rPr lang="pt-BR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code</a:t>
            </a:r>
            <a:r>
              <a:rPr lang="pt-BR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dfn</a:t>
            </a:r>
            <a:r>
              <a:rPr lang="pt-BR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em, </a:t>
            </a:r>
          </a:p>
          <a:p>
            <a:pPr marL="114300"/>
            <a:r>
              <a:rPr lang="pt-BR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	</a:t>
            </a:r>
            <a:r>
              <a:rPr lang="pt-BR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kbd</a:t>
            </a:r>
            <a:r>
              <a:rPr lang="pt-BR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strong</a:t>
            </a:r>
            <a:r>
              <a:rPr lang="pt-BR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samp</a:t>
            </a:r>
            <a:r>
              <a:rPr lang="pt-BR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var, a, </a:t>
            </a:r>
            <a:r>
              <a:rPr lang="pt-BR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bdo</a:t>
            </a:r>
            <a:r>
              <a:rPr lang="pt-BR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br</a:t>
            </a:r>
            <a:r>
              <a:rPr lang="pt-BR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img</a:t>
            </a:r>
            <a:r>
              <a:rPr lang="pt-BR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map</a:t>
            </a:r>
            <a:r>
              <a:rPr lang="pt-BR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object</a:t>
            </a:r>
            <a:r>
              <a:rPr lang="pt-BR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q, </a:t>
            </a:r>
          </a:p>
          <a:p>
            <a:pPr marL="114300"/>
            <a:r>
              <a:rPr lang="pt-BR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	script, </a:t>
            </a:r>
            <a:r>
              <a:rPr lang="pt-BR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span</a:t>
            </a:r>
            <a:r>
              <a:rPr lang="pt-BR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sub, </a:t>
            </a:r>
            <a:r>
              <a:rPr lang="pt-BR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sup</a:t>
            </a:r>
            <a:r>
              <a:rPr lang="pt-BR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button</a:t>
            </a:r>
            <a:r>
              <a:rPr lang="pt-BR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input, </a:t>
            </a:r>
            <a:r>
              <a:rPr lang="pt-BR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label</a:t>
            </a:r>
            <a:r>
              <a:rPr lang="pt-BR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select</a:t>
            </a:r>
            <a:r>
              <a:rPr lang="pt-BR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textarea</a:t>
            </a:r>
            <a:endParaRPr lang="pt-BR" b="1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F7A3A08-891E-3DED-EE00-7450884D16F6}"/>
              </a:ext>
            </a:extLst>
          </p:cNvPr>
          <p:cNvSpPr txBox="1">
            <a:spLocks/>
          </p:cNvSpPr>
          <p:nvPr/>
        </p:nvSpPr>
        <p:spPr>
          <a:xfrm>
            <a:off x="0" y="518961"/>
            <a:ext cx="9144000" cy="638477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BR" sz="28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Elementos de nível de linha - </a:t>
            </a:r>
            <a:r>
              <a:rPr lang="pt-BR" sz="2800" dirty="0" err="1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inline</a:t>
            </a:r>
            <a:endParaRPr lang="pt-BR" sz="2800" dirty="0">
              <a:solidFill>
                <a:srgbClr val="FFD355"/>
              </a:solidFill>
              <a:latin typeface="Haboro Slab Norm Medium" panose="02000503070000020004" pitchFamily="50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2894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F98A0EE0-D731-8926-D7C9-2A626B358B6D}"/>
              </a:ext>
            </a:extLst>
          </p:cNvPr>
          <p:cNvSpPr txBox="1">
            <a:spLocks/>
          </p:cNvSpPr>
          <p:nvPr/>
        </p:nvSpPr>
        <p:spPr>
          <a:xfrm>
            <a:off x="256282" y="783918"/>
            <a:ext cx="8742245" cy="4214141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r>
              <a:rPr lang="pt-BR" sz="12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Um elemento de nível de bloco </a:t>
            </a:r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ocupa todo o espaço horizontal de seu elemento pai (contêiner), e espaço vertical igual à altura de seu conteúdo, criando assim um "bloco".</a:t>
            </a:r>
          </a:p>
          <a:p>
            <a:pPr marL="114300"/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Os navegadores normalmente exibem o elemento de nível de bloco com uma nova linha antes e depois do elemento. </a:t>
            </a:r>
          </a:p>
          <a:p>
            <a:pPr marL="114300"/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Você pode visualizá-los como uma pilha de caixas.</a:t>
            </a:r>
          </a:p>
          <a:p>
            <a:pPr marL="114300"/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Um elemento de nível de bloco sempre começa em uma nova linha e ocupa toda a largura disponível (se estende para a esquerda e para a direita o máximo possível).</a:t>
            </a:r>
          </a:p>
          <a:p>
            <a:pPr marL="114300"/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</a:t>
            </a:r>
          </a:p>
          <a:p>
            <a:pPr marL="114300"/>
            <a:r>
              <a:rPr lang="pt-BR" sz="12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Modelo de conteúdo</a:t>
            </a:r>
          </a:p>
          <a:p>
            <a:pPr marL="114300"/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Geralmente, os elementos de nível de bloco podem conter elementos embutidos e (às vezes) outros elementos de nível de bloco. </a:t>
            </a:r>
          </a:p>
          <a:p>
            <a:pPr marL="114300"/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Inerente a essa distinção estrutural é a ideia de que os elementos de bloco criam estruturas "maiores" do que os elementos em linha.</a:t>
            </a:r>
          </a:p>
          <a:p>
            <a:pPr marL="114300"/>
            <a:endParaRPr lang="pt-BR" sz="1200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r>
              <a:rPr lang="pt-BR" sz="12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Formatação padrão</a:t>
            </a:r>
          </a:p>
          <a:p>
            <a:pPr marL="114300"/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Por padrão, os elementos de nível de bloco começam em novas linhas, mas os elementos embutidos podem começar em qualquer lugar de uma linha.</a:t>
            </a:r>
          </a:p>
          <a:p>
            <a:pPr marL="114300"/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</a:t>
            </a:r>
          </a:p>
          <a:p>
            <a:pPr marL="114300"/>
            <a:r>
              <a:rPr lang="pt-BR" sz="12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Elementos</a:t>
            </a:r>
          </a:p>
          <a:p>
            <a:pPr marL="114300"/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A seguir está uma lista completa de todos os elementos HTML "nível de bloco" (embora "nível de bloco" não seja tecnicamente definido para elementos que são novos em HTML5).</a:t>
            </a:r>
          </a:p>
          <a:p>
            <a:pPr marL="114300"/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    		</a:t>
            </a:r>
            <a:r>
              <a:rPr lang="pt-BR" sz="1200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address</a:t>
            </a:r>
            <a:r>
              <a:rPr lang="pt-BR" sz="12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sz="1200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article</a:t>
            </a:r>
            <a:r>
              <a:rPr lang="pt-BR" sz="12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sz="1200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aside</a:t>
            </a:r>
            <a:r>
              <a:rPr lang="pt-BR" sz="12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sz="1200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blockquote</a:t>
            </a:r>
            <a:r>
              <a:rPr lang="pt-BR" sz="12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sz="1200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details</a:t>
            </a:r>
            <a:r>
              <a:rPr lang="pt-BR" sz="12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sz="1200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dialog</a:t>
            </a:r>
            <a:r>
              <a:rPr lang="pt-BR" sz="12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sz="1200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dd</a:t>
            </a:r>
            <a:r>
              <a:rPr lang="pt-BR" sz="12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sz="1200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div</a:t>
            </a:r>
            <a:r>
              <a:rPr lang="pt-BR" sz="12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dl, </a:t>
            </a:r>
            <a:r>
              <a:rPr lang="pt-BR" sz="1200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dt</a:t>
            </a:r>
            <a:r>
              <a:rPr lang="pt-BR" sz="12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</a:p>
          <a:p>
            <a:pPr marL="114300"/>
            <a:r>
              <a:rPr lang="pt-BR" sz="12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	 </a:t>
            </a:r>
            <a:r>
              <a:rPr lang="pt-BR" sz="1200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fieldset</a:t>
            </a:r>
            <a:r>
              <a:rPr lang="pt-BR" sz="12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sz="1200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figcaption</a:t>
            </a:r>
            <a:r>
              <a:rPr lang="pt-BR" sz="12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figure, </a:t>
            </a:r>
            <a:r>
              <a:rPr lang="pt-BR" sz="1200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footer</a:t>
            </a:r>
            <a:r>
              <a:rPr lang="pt-BR" sz="12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sz="1200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form</a:t>
            </a:r>
            <a:r>
              <a:rPr lang="pt-BR" sz="12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h1, h2, h3, h4, h5, h6, </a:t>
            </a:r>
          </a:p>
          <a:p>
            <a:pPr marL="114300"/>
            <a:r>
              <a:rPr lang="pt-BR" sz="12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	 header, </a:t>
            </a:r>
            <a:r>
              <a:rPr lang="pt-BR" sz="1200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hgroup</a:t>
            </a:r>
            <a:r>
              <a:rPr lang="pt-BR" sz="12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sz="1200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hr</a:t>
            </a:r>
            <a:r>
              <a:rPr lang="pt-BR" sz="12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li, </a:t>
            </a:r>
            <a:r>
              <a:rPr lang="pt-BR" sz="1200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main</a:t>
            </a:r>
            <a:r>
              <a:rPr lang="pt-BR" sz="12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sz="1200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nav</a:t>
            </a:r>
            <a:r>
              <a:rPr lang="pt-BR" sz="12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sz="1200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ol</a:t>
            </a:r>
            <a:r>
              <a:rPr lang="pt-BR" sz="12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p, </a:t>
            </a:r>
            <a:r>
              <a:rPr lang="pt-BR" sz="1200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pre</a:t>
            </a:r>
            <a:r>
              <a:rPr lang="pt-BR" sz="12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sz="1200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section</a:t>
            </a:r>
            <a:r>
              <a:rPr lang="pt-BR" sz="12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sz="1200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table</a:t>
            </a:r>
            <a:r>
              <a:rPr lang="pt-BR" sz="12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</a:t>
            </a:r>
            <a:r>
              <a:rPr lang="pt-BR" sz="1200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ul</a:t>
            </a:r>
            <a:r>
              <a:rPr lang="pt-BR" sz="12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F7A3A08-891E-3DED-EE00-7450884D16F6}"/>
              </a:ext>
            </a:extLst>
          </p:cNvPr>
          <p:cNvSpPr txBox="1">
            <a:spLocks/>
          </p:cNvSpPr>
          <p:nvPr/>
        </p:nvSpPr>
        <p:spPr>
          <a:xfrm>
            <a:off x="0" y="145441"/>
            <a:ext cx="9144000" cy="638477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BR" sz="28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Elementos de nível de bloco - </a:t>
            </a:r>
            <a:r>
              <a:rPr lang="pt-BR" sz="2800" dirty="0" err="1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block</a:t>
            </a:r>
            <a:endParaRPr lang="pt-BR" sz="2800" dirty="0">
              <a:solidFill>
                <a:srgbClr val="FFD355"/>
              </a:solidFill>
              <a:latin typeface="Haboro Slab Norm Medium" panose="02000503070000020004" pitchFamily="50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15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F98A0EE0-D731-8926-D7C9-2A626B358B6D}"/>
              </a:ext>
            </a:extLst>
          </p:cNvPr>
          <p:cNvSpPr txBox="1">
            <a:spLocks/>
          </p:cNvSpPr>
          <p:nvPr/>
        </p:nvSpPr>
        <p:spPr>
          <a:xfrm>
            <a:off x="256282" y="1246909"/>
            <a:ext cx="8742245" cy="3751150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r>
              <a:rPr lang="pt-BR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inline</a:t>
            </a:r>
            <a:endParaRPr lang="pt-BR" b="1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O valor </a:t>
            </a:r>
            <a:r>
              <a:rPr lang="pt-BR" sz="12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inline</a:t>
            </a:r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permite que os elementos fiquem um do lado do outro, em linha, os elementos com </a:t>
            </a:r>
            <a:r>
              <a:rPr lang="pt-BR" sz="12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inline</a:t>
            </a:r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não aceitam largura (</a:t>
            </a:r>
            <a:r>
              <a:rPr lang="pt-BR" sz="12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width</a:t>
            </a:r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), nem altura (</a:t>
            </a:r>
            <a:r>
              <a:rPr lang="pt-BR" sz="12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height</a:t>
            </a:r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), </a:t>
            </a:r>
          </a:p>
          <a:p>
            <a:pPr marL="114300"/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o tamanho do elemento é definido pelo conteúdo que ele contém, o display: </a:t>
            </a:r>
            <a:r>
              <a:rPr lang="pt-BR" sz="12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inline</a:t>
            </a:r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também ganha o comportamento de uma palavra.</a:t>
            </a:r>
          </a:p>
          <a:p>
            <a:pPr marL="114300"/>
            <a:endParaRPr lang="pt-BR" sz="1200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r>
              <a:rPr lang="pt-BR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block</a:t>
            </a:r>
            <a:endParaRPr lang="pt-BR" b="1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Todo elemento definido como </a:t>
            </a:r>
            <a:r>
              <a:rPr lang="pt-BR" sz="12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block</a:t>
            </a:r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ocupa a linha inteira, ou seja, não deixa outro elemento ocupar a mesma linha que ele. </a:t>
            </a:r>
          </a:p>
          <a:p>
            <a:pPr marL="114300"/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Por esse motivo os elementos HTML em bloco ficam um abaixo do outro.	</a:t>
            </a:r>
          </a:p>
          <a:p>
            <a:pPr marL="114300"/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</a:t>
            </a:r>
          </a:p>
          <a:p>
            <a:pPr marL="114300"/>
            <a:r>
              <a:rPr lang="pt-BR" b="1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inline-block</a:t>
            </a:r>
            <a:endParaRPr lang="pt-BR" sz="1200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É a junção dos comportamentos dos valores </a:t>
            </a:r>
            <a:r>
              <a:rPr lang="pt-BR" sz="12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inline</a:t>
            </a:r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+ </a:t>
            </a:r>
            <a:r>
              <a:rPr lang="pt-BR" sz="12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block</a:t>
            </a:r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.	</a:t>
            </a:r>
          </a:p>
          <a:p>
            <a:pPr marL="114300"/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</a:t>
            </a:r>
          </a:p>
          <a:p>
            <a:pPr marL="114300"/>
            <a:r>
              <a:rPr lang="pt-BR" sz="11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Com o display: </a:t>
            </a:r>
            <a:r>
              <a:rPr lang="pt-BR" sz="11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inline-block</a:t>
            </a:r>
            <a:r>
              <a:rPr lang="pt-BR" sz="11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nós conseguimos definir uma largura (</a:t>
            </a:r>
            <a:r>
              <a:rPr lang="pt-BR" sz="11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width</a:t>
            </a:r>
            <a:r>
              <a:rPr lang="pt-BR" sz="11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) e altura (</a:t>
            </a:r>
            <a:r>
              <a:rPr lang="pt-BR" sz="11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height</a:t>
            </a:r>
            <a:r>
              <a:rPr lang="pt-BR" sz="11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) da mesma forma que conseguimos com o display: </a:t>
            </a:r>
            <a:r>
              <a:rPr lang="pt-BR" sz="11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block</a:t>
            </a:r>
            <a:r>
              <a:rPr lang="pt-BR" sz="11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esse é o único comportamento que o </a:t>
            </a:r>
            <a:r>
              <a:rPr lang="pt-BR" sz="11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inline-block</a:t>
            </a:r>
            <a:r>
              <a:rPr lang="pt-BR" sz="11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herda do </a:t>
            </a:r>
            <a:r>
              <a:rPr lang="pt-BR" sz="11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block</a:t>
            </a:r>
            <a:r>
              <a:rPr lang="pt-BR" sz="11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. </a:t>
            </a:r>
          </a:p>
          <a:p>
            <a:pPr marL="114300"/>
            <a:r>
              <a:rPr lang="pt-BR" sz="11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Também conseguimos deixar um elemento do lado do outro, ou seja mesma linha,  da mesma forma que fazemos com o display: </a:t>
            </a:r>
            <a:r>
              <a:rPr lang="pt-BR" sz="11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inline</a:t>
            </a:r>
            <a:r>
              <a:rPr lang="pt-BR" sz="11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mas esse não é o único comportamento que o </a:t>
            </a:r>
            <a:r>
              <a:rPr lang="pt-BR" sz="11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inline-block</a:t>
            </a:r>
            <a:r>
              <a:rPr lang="pt-BR" sz="11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herda do </a:t>
            </a:r>
            <a:r>
              <a:rPr lang="pt-BR" sz="11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inline</a:t>
            </a:r>
            <a:r>
              <a:rPr lang="pt-BR" sz="11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.</a:t>
            </a:r>
          </a:p>
          <a:p>
            <a:pPr marL="114300"/>
            <a:r>
              <a:rPr lang="pt-BR" sz="11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Quando um elemento é definido como display: </a:t>
            </a:r>
            <a:r>
              <a:rPr lang="pt-BR" sz="11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inline-block</a:t>
            </a:r>
            <a:r>
              <a:rPr lang="pt-BR" sz="11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ele também ganha o comportamento de uma palavra, esse é o segundo comportamento que herdamos do display: </a:t>
            </a:r>
            <a:r>
              <a:rPr lang="pt-BR" sz="11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inline</a:t>
            </a:r>
            <a:r>
              <a:rPr lang="pt-BR" sz="11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.</a:t>
            </a:r>
            <a:r>
              <a:rPr lang="pt-BR" sz="12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	 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F7A3A08-891E-3DED-EE00-7450884D16F6}"/>
              </a:ext>
            </a:extLst>
          </p:cNvPr>
          <p:cNvSpPr txBox="1">
            <a:spLocks/>
          </p:cNvSpPr>
          <p:nvPr/>
        </p:nvSpPr>
        <p:spPr>
          <a:xfrm>
            <a:off x="0" y="443314"/>
            <a:ext cx="9144000" cy="638477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BR" sz="36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Display</a:t>
            </a:r>
          </a:p>
        </p:txBody>
      </p:sp>
    </p:spTree>
    <p:extLst>
      <p:ext uri="{BB962C8B-B14F-4D97-AF65-F5344CB8AC3E}">
        <p14:creationId xmlns:p14="http://schemas.microsoft.com/office/powerpoint/2010/main" val="19352132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FC7884-1659-B40B-0991-CFEF51D3EC65}"/>
              </a:ext>
            </a:extLst>
          </p:cNvPr>
          <p:cNvSpPr txBox="1">
            <a:spLocks/>
          </p:cNvSpPr>
          <p:nvPr/>
        </p:nvSpPr>
        <p:spPr>
          <a:xfrm>
            <a:off x="367118" y="520077"/>
            <a:ext cx="8520600" cy="572700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32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HTML, CSS e Javascript, quais as diferenças?</a:t>
            </a:r>
          </a:p>
        </p:txBody>
      </p:sp>
      <p:pic>
        <p:nvPicPr>
          <p:cNvPr id="2050" name="Picture 2" descr="HTML, CSS e Javascript, quais as diferenças?">
            <a:extLst>
              <a:ext uri="{FF2B5EF4-FFF2-40B4-BE49-F238E27FC236}">
                <a16:creationId xmlns:a16="http://schemas.microsoft.com/office/drawing/2014/main" id="{136BF67F-46A9-77E6-FE86-4121EB70C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9926"/>
            <a:ext cx="9144000" cy="3536373"/>
          </a:xfrm>
          <a:prstGeom prst="rect">
            <a:avLst/>
          </a:prstGeom>
          <a:noFill/>
          <a:effectLst>
            <a:glow>
              <a:schemeClr val="accent1"/>
            </a:glow>
            <a:softEdge rad="1270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94059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FC7884-1659-B40B-0991-CFEF51D3EC65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0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O papel de cada uma na aplicação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CB4DFF1A-0E96-B1E1-2FEB-FFC0C652BDF5}"/>
              </a:ext>
            </a:extLst>
          </p:cNvPr>
          <p:cNvSpPr txBox="1">
            <a:spLocks/>
          </p:cNvSpPr>
          <p:nvPr/>
        </p:nvSpPr>
        <p:spPr>
          <a:xfrm>
            <a:off x="311700" y="1519281"/>
            <a:ext cx="8742245" cy="2512391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>
              <a:lnSpc>
                <a:spcPct val="150000"/>
              </a:lnSpc>
            </a:pPr>
            <a:r>
              <a:rPr lang="pt-BR" sz="16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HTML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: linguagem de marcação utilizada para estruturar os elementos da página, como parágrafos, links, títulos, tabelas, imagens e até vídeos.</a:t>
            </a:r>
          </a:p>
          <a:p>
            <a:pPr marL="114300">
              <a:lnSpc>
                <a:spcPct val="150000"/>
              </a:lnSpc>
            </a:pPr>
            <a:r>
              <a:rPr lang="pt-BR" sz="16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CSS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: linguagem de estilos utilizada para definir cores, fontes, tamanhos, posicionamento e qualquer outro valor estético para os elementos da página.</a:t>
            </a:r>
          </a:p>
          <a:p>
            <a:pPr marL="114300">
              <a:lnSpc>
                <a:spcPct val="150000"/>
              </a:lnSpc>
            </a:pPr>
            <a:r>
              <a:rPr lang="pt-BR" sz="16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Javascript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: linguagem de programação utilizada para deixar a página com mais movimento, podendo atualizar elementos dinamicamente e lidar melhor com dados enviados e recebidos na página.</a:t>
            </a:r>
          </a:p>
        </p:txBody>
      </p:sp>
    </p:spTree>
    <p:extLst>
      <p:ext uri="{BB962C8B-B14F-4D97-AF65-F5344CB8AC3E}">
        <p14:creationId xmlns:p14="http://schemas.microsoft.com/office/powerpoint/2010/main" val="41034057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FC7884-1659-B40B-0991-CFEF51D3EC65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BR" sz="40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Javascript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CB4DFF1A-0E96-B1E1-2FEB-FFC0C652BDF5}"/>
              </a:ext>
            </a:extLst>
          </p:cNvPr>
          <p:cNvSpPr txBox="1">
            <a:spLocks/>
          </p:cNvSpPr>
          <p:nvPr/>
        </p:nvSpPr>
        <p:spPr>
          <a:xfrm>
            <a:off x="0" y="1315554"/>
            <a:ext cx="9144000" cy="3827946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 Para completar a grande tríade do desenvolvimento front-</a:t>
            </a:r>
            <a:r>
              <a:rPr lang="pt-BR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end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, temos o Javascript, a única linguagem de programação das 3 tecnologias vistas.</a:t>
            </a:r>
          </a:p>
          <a:p>
            <a:pPr marL="114300"/>
            <a:r>
              <a:rPr lang="pt-BR" b="0" i="0" dirty="0">
                <a:solidFill>
                  <a:srgbClr val="093366"/>
                </a:solidFill>
                <a:effectLst/>
                <a:latin typeface="Inter"/>
              </a:rPr>
              <a:t>    </a:t>
            </a:r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Nós já criamos a estrutura da página com o HTML e já estilizamos os elementos com o CSS. </a:t>
            </a:r>
          </a:p>
          <a:p>
            <a:pPr marL="114300"/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Mas e as funcionalidades dinâmicas que vemos quando abrimos um site, como acontecem?</a:t>
            </a:r>
          </a:p>
          <a:p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  Isso é feito pelo Javascript. Ele adiciona movimento às páginas web, além de permitir o processamento e</a:t>
            </a:r>
          </a:p>
          <a:p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transformação de dados enviados e recebidos. Ele permite criar conteúdos que se atualizam de forma dinâmica e</a:t>
            </a:r>
          </a:p>
          <a:p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animada, dando vida às aplicações que antes eram apenas estruturadas com HTML de forma estática.</a:t>
            </a:r>
          </a:p>
          <a:p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  Sempre que vir uma caixinha de alerta apitando em um site, ou um mecanismo de autocomplete em algum campo, </a:t>
            </a:r>
          </a:p>
          <a:p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saiba que é o Javascript agindo.  </a:t>
            </a:r>
          </a:p>
          <a:p>
            <a:r>
              <a:rPr lang="pt-BR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  O Javascript pode tanto ser usada do lado do cliente, como do lado do servidor, utilizando de tecnologias necessárias para isso, como o Node.js.</a:t>
            </a:r>
          </a:p>
          <a:p>
            <a:pPr marL="114300"/>
            <a:endParaRPr lang="pt-BR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3912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FC7884-1659-B40B-0991-CFEF51D3EC65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BR" sz="40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Porque criamos um software ? 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CB4DFF1A-0E96-B1E1-2FEB-FFC0C652BDF5}"/>
              </a:ext>
            </a:extLst>
          </p:cNvPr>
          <p:cNvSpPr txBox="1">
            <a:spLocks/>
          </p:cNvSpPr>
          <p:nvPr/>
        </p:nvSpPr>
        <p:spPr>
          <a:xfrm>
            <a:off x="0" y="1315554"/>
            <a:ext cx="9144000" cy="3827946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>
              <a:lnSpc>
                <a:spcPct val="150000"/>
              </a:lnSpc>
            </a:pPr>
            <a:r>
              <a:rPr lang="pt-BR" sz="20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1 - Para criar soluções para problemas do dia a dia;</a:t>
            </a:r>
          </a:p>
          <a:p>
            <a:pPr marL="114300">
              <a:lnSpc>
                <a:spcPct val="150000"/>
              </a:lnSpc>
            </a:pPr>
            <a:r>
              <a:rPr lang="pt-BR" sz="20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2 - Automatizar e otimizar processos repetitivos;</a:t>
            </a:r>
          </a:p>
        </p:txBody>
      </p:sp>
    </p:spTree>
    <p:extLst>
      <p:ext uri="{BB962C8B-B14F-4D97-AF65-F5344CB8AC3E}">
        <p14:creationId xmlns:p14="http://schemas.microsoft.com/office/powerpoint/2010/main" val="27626747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FC7884-1659-B40B-0991-CFEF51D3EC65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BR" sz="40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Como criar um software ?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CB4DFF1A-0E96-B1E1-2FEB-FFC0C652BDF5}"/>
              </a:ext>
            </a:extLst>
          </p:cNvPr>
          <p:cNvSpPr txBox="1">
            <a:spLocks/>
          </p:cNvSpPr>
          <p:nvPr/>
        </p:nvSpPr>
        <p:spPr>
          <a:xfrm>
            <a:off x="0" y="1315554"/>
            <a:ext cx="9144000" cy="3827946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>
              <a:lnSpc>
                <a:spcPct val="150000"/>
              </a:lnSpc>
            </a:pPr>
            <a:r>
              <a:rPr lang="pt-BR" sz="20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1 - Um ciclo de criação de um software :</a:t>
            </a:r>
          </a:p>
          <a:p>
            <a:pPr marL="114300">
              <a:lnSpc>
                <a:spcPct val="150000"/>
              </a:lnSpc>
            </a:pPr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-&gt; idealização -&gt; especificação de requisitos -&gt; validação da solução -&gt; desenvolvimento e testes -&gt; implantação e entrega -&gt;</a:t>
            </a:r>
          </a:p>
        </p:txBody>
      </p:sp>
    </p:spTree>
    <p:extLst>
      <p:ext uri="{BB962C8B-B14F-4D97-AF65-F5344CB8AC3E}">
        <p14:creationId xmlns:p14="http://schemas.microsoft.com/office/powerpoint/2010/main" val="32482120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FC7884-1659-B40B-0991-CFEF51D3EC6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1017725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pt-BR" sz="2800" dirty="0">
              <a:solidFill>
                <a:srgbClr val="FFD355"/>
              </a:solidFill>
              <a:latin typeface="Haboro Slab Norm Medium" panose="02000503070000020004" pitchFamily="50" charset="0"/>
              <a:cs typeface="Arial" panose="020B0604020202020204" pitchFamily="34" charset="0"/>
            </a:endParaRPr>
          </a:p>
          <a:p>
            <a:pPr algn="ctr"/>
            <a:r>
              <a:rPr lang="pt-BR" sz="28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Uso da lógica no desenvolvimento de programas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CB4DFF1A-0E96-B1E1-2FEB-FFC0C652BDF5}"/>
              </a:ext>
            </a:extLst>
          </p:cNvPr>
          <p:cNvSpPr txBox="1">
            <a:spLocks/>
          </p:cNvSpPr>
          <p:nvPr/>
        </p:nvSpPr>
        <p:spPr>
          <a:xfrm>
            <a:off x="0" y="1315554"/>
            <a:ext cx="9144000" cy="3827946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r>
              <a:rPr lang="pt-BR" sz="20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     Usar a lógica é um fator a ser considerado por todos, principalmente pelos profissionais da área de tecnologia</a:t>
            </a:r>
          </a:p>
          <a:p>
            <a:pPr marL="114300"/>
            <a:r>
              <a:rPr lang="pt-BR" sz="20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de informação, ou seja, pelos profissionais de informática.</a:t>
            </a:r>
          </a:p>
          <a:p>
            <a:pPr marL="114300"/>
            <a:r>
              <a:rPr lang="pt-BR" sz="20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     Estes profissionais, no seu dia-a-dia dentro das organizações, têm a incumbência de solucionar problemas e atingir os objetivos apresentados por seus usuários com eficiência e eficácia, utilizando recursos computacionais e/ou automatizados.</a:t>
            </a:r>
          </a:p>
          <a:p>
            <a:pPr marL="114300"/>
            <a:endParaRPr lang="pt-BR" sz="2000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 algn="ctr"/>
            <a:r>
              <a:rPr lang="pt-BR" sz="1600" i="1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“Lógica é a ciência que estuda as leis e critérios de validade que regem o pensamento e a</a:t>
            </a:r>
          </a:p>
          <a:p>
            <a:pPr marL="114300" algn="ctr"/>
            <a:r>
              <a:rPr lang="pt-BR" sz="1600" i="1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demonstração, ou seja, ciência dos princípios formais do raciocínio.”</a:t>
            </a:r>
          </a:p>
          <a:p>
            <a:pPr marL="114300"/>
            <a:endParaRPr lang="pt-BR" sz="2000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0270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FC7884-1659-B40B-0991-CFEF51D3EC65}"/>
              </a:ext>
            </a:extLst>
          </p:cNvPr>
          <p:cNvSpPr txBox="1">
            <a:spLocks/>
          </p:cNvSpPr>
          <p:nvPr/>
        </p:nvSpPr>
        <p:spPr>
          <a:xfrm>
            <a:off x="311700" y="0"/>
            <a:ext cx="8520600" cy="1017725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BR" sz="4000" dirty="0" err="1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Algoritimos</a:t>
            </a:r>
            <a:r>
              <a:rPr lang="pt-BR" sz="40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pt-BR" sz="20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Descrição Narrativa 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CB4DFF1A-0E96-B1E1-2FEB-FFC0C652BDF5}"/>
              </a:ext>
            </a:extLst>
          </p:cNvPr>
          <p:cNvSpPr txBox="1">
            <a:spLocks/>
          </p:cNvSpPr>
          <p:nvPr/>
        </p:nvSpPr>
        <p:spPr>
          <a:xfrm>
            <a:off x="0" y="1315554"/>
            <a:ext cx="9144000" cy="3827946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A forma mais intuitiva é escrever um algoritmo por meio de um texto narrativo.</a:t>
            </a:r>
          </a:p>
          <a:p>
            <a:pPr marL="114300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Uma receita de bolo, como temos usado como exemplo, está escrita na forma narrativa. Porém, já percebemos que esta forma pode trazer problemas: já comentamos que as receitas de bolo podem ser imprecisas e esconder detalhes que vão resultar em pessoas insatisfeitas.</a:t>
            </a:r>
          </a:p>
          <a:p>
            <a:pPr marL="114300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A descrição narrativa consiste em entender o problema e propor sua solução</a:t>
            </a:r>
          </a:p>
          <a:p>
            <a:pPr marL="114300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por meio de uma escrita em linguagem natural. A maior vantagem da descrição</a:t>
            </a:r>
          </a:p>
          <a:p>
            <a:pPr marL="114300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narrativa é que não é necessário aprender novas técnicas e conceitos, consiste</a:t>
            </a:r>
          </a:p>
          <a:p>
            <a:pPr marL="114300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somente em usar a linguagem nativa. </a:t>
            </a:r>
          </a:p>
          <a:p>
            <a:pPr marL="114300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                                 </a:t>
            </a:r>
          </a:p>
          <a:p>
            <a:pPr marL="114300"/>
            <a:r>
              <a:rPr lang="pt-BR" sz="12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      “trocar um pneu” na forma de descrição narrativa:</a:t>
            </a:r>
            <a:endParaRPr lang="pt-BR" sz="1300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r>
              <a:rPr lang="pt-BR" sz="11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Afrouxe um pouco os parafusos</a:t>
            </a:r>
          </a:p>
          <a:p>
            <a:pPr marL="114300"/>
            <a:r>
              <a:rPr lang="pt-BR" sz="11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Levante o carro</a:t>
            </a:r>
          </a:p>
          <a:p>
            <a:pPr marL="114300"/>
            <a:r>
              <a:rPr lang="pt-BR" sz="11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Retire os parafusos</a:t>
            </a:r>
          </a:p>
          <a:p>
            <a:pPr marL="114300"/>
            <a:r>
              <a:rPr lang="pt-BR" sz="11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Retire o pneu</a:t>
            </a:r>
          </a:p>
          <a:p>
            <a:pPr marL="114300"/>
            <a:r>
              <a:rPr lang="pt-BR" sz="11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Coloque o pneu reserva</a:t>
            </a:r>
          </a:p>
          <a:p>
            <a:pPr marL="114300"/>
            <a:r>
              <a:rPr lang="pt-BR" sz="11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Aperte os parafusos</a:t>
            </a:r>
          </a:p>
          <a:p>
            <a:pPr marL="114300"/>
            <a:r>
              <a:rPr lang="pt-BR" sz="11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Abaixe o carro</a:t>
            </a:r>
          </a:p>
          <a:p>
            <a:pPr marL="114300"/>
            <a:r>
              <a:rPr lang="pt-BR" sz="11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	Aperte os parafusos completamente</a:t>
            </a:r>
          </a:p>
        </p:txBody>
      </p:sp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6165C190-F486-3DA8-801B-111185060334}"/>
              </a:ext>
            </a:extLst>
          </p:cNvPr>
          <p:cNvSpPr txBox="1">
            <a:spLocks/>
          </p:cNvSpPr>
          <p:nvPr/>
        </p:nvSpPr>
        <p:spPr>
          <a:xfrm>
            <a:off x="4225635" y="2812473"/>
            <a:ext cx="4606665" cy="2036618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endParaRPr lang="pt-BR" sz="1100" dirty="0">
              <a:solidFill>
                <a:srgbClr val="E74D6A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endParaRPr lang="pt-BR" sz="1100" dirty="0">
              <a:solidFill>
                <a:srgbClr val="E74D6A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r>
              <a:rPr lang="pt-BR" sz="1100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Quais são os problemas que você percebe no Algoritmo ? </a:t>
            </a:r>
          </a:p>
          <a:p>
            <a:pPr marL="114300"/>
            <a:r>
              <a:rPr lang="pt-BR" sz="1100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Se você for um trocador de pneu com certa experiência vai entendê-lo perfeitamente, porém se você nunca trocou um pneu de carro na vida vai encontrar alguns pontos complicados: “como vou levantar um carro?”. É simples: “pegue o macaco!”. “Que macaco???”. Usando a receita novamente como exemplo, se você nunca fez um pudim de leite condensado vai ficar com muita dúvida na parte da receita onde</a:t>
            </a:r>
          </a:p>
          <a:p>
            <a:pPr marL="114300"/>
            <a:r>
              <a:rPr lang="pt-BR" sz="1100" dirty="0">
                <a:solidFill>
                  <a:srgbClr val="E74D6A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pede para coloca-lo em “banho maria”! “Quem é essa Maria?”.</a:t>
            </a:r>
          </a:p>
        </p:txBody>
      </p:sp>
    </p:spTree>
    <p:extLst>
      <p:ext uri="{BB962C8B-B14F-4D97-AF65-F5344CB8AC3E}">
        <p14:creationId xmlns:p14="http://schemas.microsoft.com/office/powerpoint/2010/main" val="20272908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FC7884-1659-B40B-0991-CFEF51D3EC65}"/>
              </a:ext>
            </a:extLst>
          </p:cNvPr>
          <p:cNvSpPr txBox="1">
            <a:spLocks/>
          </p:cNvSpPr>
          <p:nvPr/>
        </p:nvSpPr>
        <p:spPr>
          <a:xfrm>
            <a:off x="311700" y="0"/>
            <a:ext cx="8520600" cy="1017725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BR" sz="4000" dirty="0" err="1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Algoritimos</a:t>
            </a:r>
            <a:r>
              <a:rPr lang="pt-BR" sz="40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 </a:t>
            </a:r>
            <a:endParaRPr lang="pt-BR" sz="2000" dirty="0">
              <a:solidFill>
                <a:srgbClr val="FFD355"/>
              </a:solidFill>
              <a:latin typeface="Haboro Slab Norm Medium" panose="02000503070000020004" pitchFamily="50" charset="0"/>
              <a:cs typeface="Arial" panose="020B0604020202020204" pitchFamily="34" charset="0"/>
            </a:endParaRPr>
          </a:p>
          <a:p>
            <a:pPr algn="ctr"/>
            <a:r>
              <a:rPr lang="pt-BR" sz="20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sequência de passos 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CB4DFF1A-0E96-B1E1-2FEB-FFC0C652BDF5}"/>
              </a:ext>
            </a:extLst>
          </p:cNvPr>
          <p:cNvSpPr txBox="1">
            <a:spLocks/>
          </p:cNvSpPr>
          <p:nvPr/>
        </p:nvSpPr>
        <p:spPr>
          <a:xfrm>
            <a:off x="0" y="1315554"/>
            <a:ext cx="9144000" cy="3827946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r>
              <a:rPr lang="pt-BR" sz="16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Analise critica </a:t>
            </a:r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:  saber analisar e resolver um problema é mais importante que decorar os comandos de uma linguagem de programação.</a:t>
            </a:r>
          </a:p>
          <a:p>
            <a:pPr marL="114300"/>
            <a:endParaRPr lang="pt-BR" sz="1300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</a:t>
            </a:r>
            <a:r>
              <a:rPr lang="pt-BR" sz="16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Problema</a:t>
            </a:r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: Calcule o </a:t>
            </a:r>
            <a:r>
              <a:rPr lang="pt-BR" sz="1300" dirty="0" err="1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coseno</a:t>
            </a:r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(utilizando somente a função seno) de um ângulo fornecido pelo usuário  e depois imprima na  tela. OBS.: Os valores de um ângulo deve ser entre  e 360 graus.</a:t>
            </a:r>
          </a:p>
          <a:p>
            <a:pPr marL="114300"/>
            <a:endParaRPr lang="pt-BR" sz="1300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r>
              <a:rPr lang="pt-BR" sz="16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Problema</a:t>
            </a:r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: Escreva um programa que retorne o valor hora de um funcionário com base no seu salário mensal e horas trabalhadas por mês.</a:t>
            </a:r>
          </a:p>
          <a:p>
            <a:pPr marL="114300"/>
            <a:endParaRPr lang="pt-BR" sz="1300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r>
              <a:rPr lang="pt-BR" sz="16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Problema</a:t>
            </a:r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: Escreva um programa que, gere um número aleatório entre 1 e 10 e que permita ao usuário informar uma tentativa de acertar o número, até que o usuário acerte, a cada tentativa o programa tem informar se a tentativa foi maior ou menor que o número gerado pelo programa.</a:t>
            </a:r>
          </a:p>
          <a:p>
            <a:pPr marL="114300"/>
            <a:endParaRPr lang="pt-BR" sz="1300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endParaRPr lang="pt-BR" sz="1300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endParaRPr lang="pt-BR" sz="1300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6311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C1E"/>
            </a:gs>
            <a:gs pos="74000">
              <a:srgbClr val="151618"/>
            </a:gs>
            <a:gs pos="83000">
              <a:srgbClr val="161819"/>
            </a:gs>
            <a:gs pos="100000">
              <a:srgbClr val="13151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FC7884-1659-B40B-0991-CFEF51D3EC65}"/>
              </a:ext>
            </a:extLst>
          </p:cNvPr>
          <p:cNvSpPr txBox="1">
            <a:spLocks/>
          </p:cNvSpPr>
          <p:nvPr/>
        </p:nvSpPr>
        <p:spPr>
          <a:xfrm>
            <a:off x="311700" y="0"/>
            <a:ext cx="8520600" cy="1017725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pt-BR" sz="3200" dirty="0">
              <a:solidFill>
                <a:srgbClr val="FFD355"/>
              </a:solidFill>
              <a:latin typeface="Haboro Slab Norm Medium" panose="02000503070000020004" pitchFamily="50" charset="0"/>
              <a:cs typeface="Arial" panose="020B0604020202020204" pitchFamily="34" charset="0"/>
            </a:endParaRPr>
          </a:p>
          <a:p>
            <a:pPr algn="ctr"/>
            <a:r>
              <a:rPr lang="pt-BR" sz="3200" dirty="0">
                <a:solidFill>
                  <a:srgbClr val="FFD355"/>
                </a:solidFill>
                <a:latin typeface="Haboro Slab Norm Medium" panose="02000503070000020004" pitchFamily="50" charset="0"/>
                <a:cs typeface="Arial" panose="020B0604020202020204" pitchFamily="34" charset="0"/>
              </a:rPr>
              <a:t>Princípios de resolução de problemas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CB4DFF1A-0E96-B1E1-2FEB-FFC0C652BDF5}"/>
              </a:ext>
            </a:extLst>
          </p:cNvPr>
          <p:cNvSpPr txBox="1">
            <a:spLocks/>
          </p:cNvSpPr>
          <p:nvPr/>
        </p:nvSpPr>
        <p:spPr>
          <a:xfrm>
            <a:off x="0" y="1315554"/>
            <a:ext cx="9144000" cy="3827946"/>
          </a:xfrm>
          <a:prstGeom prst="rect">
            <a:avLst/>
          </a:prstGeom>
          <a:noFill/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Nós programadores que somos solucionadores de problemas, devemos entender que problema é uma</a:t>
            </a:r>
          </a:p>
          <a:p>
            <a:pPr marL="114300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questão que foge a uma determinada regra, ou melhor, é o desvio de um percurso, o qual impede de atingir com</a:t>
            </a:r>
          </a:p>
          <a:p>
            <a:pPr marL="114300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sucesso um determinado objetivo com eficiência e eficácia.</a:t>
            </a:r>
          </a:p>
          <a:p>
            <a:pPr marL="114300"/>
            <a:endParaRPr lang="pt-BR" sz="1300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  Portanto para resolver um problema de lógica usamos um procedimento de desenvolvimento para o fluxo de</a:t>
            </a:r>
          </a:p>
          <a:p>
            <a:pPr marL="114300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informações. </a:t>
            </a:r>
          </a:p>
          <a:p>
            <a:pPr marL="114300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 </a:t>
            </a:r>
          </a:p>
          <a:p>
            <a:pPr marL="114300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A primeira etapa apresenta um detalhamento no que se refere à entrada e saída;</a:t>
            </a:r>
          </a:p>
          <a:p>
            <a:pPr marL="114300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A segunda etapa consiste em trabalhar o resultado final esperado.</a:t>
            </a:r>
          </a:p>
          <a:p>
            <a:pPr marL="114300"/>
            <a:endParaRPr lang="pt-BR" sz="1300" dirty="0">
              <a:solidFill>
                <a:schemeClr val="bg1"/>
              </a:solidFill>
              <a:latin typeface="Myriad Pro" panose="020B0503030403020204" pitchFamily="34" charset="0"/>
              <a:cs typeface="Arial" panose="020B0604020202020204" pitchFamily="34" charset="0"/>
            </a:endParaRPr>
          </a:p>
          <a:p>
            <a:pPr marL="114300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Um método lógico para resolução dos problemas pode ser as seguintes:</a:t>
            </a:r>
          </a:p>
          <a:p>
            <a:pPr marL="114300" lvl="1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• Decompor o problema em partes independentes;</a:t>
            </a:r>
          </a:p>
          <a:p>
            <a:pPr marL="114300" lvl="1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• Dividir um problema complexo em problemas menores e mais simples;</a:t>
            </a:r>
          </a:p>
          <a:p>
            <a:pPr marL="114300" lvl="1"/>
            <a:r>
              <a:rPr lang="pt-BR" sz="1300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 • Verificar a correção de um módulo de blocos, independentemente de sua utilização como uma unidade em processo maior.</a:t>
            </a:r>
          </a:p>
        </p:txBody>
      </p:sp>
    </p:spTree>
    <p:extLst>
      <p:ext uri="{BB962C8B-B14F-4D97-AF65-F5344CB8AC3E}">
        <p14:creationId xmlns:p14="http://schemas.microsoft.com/office/powerpoint/2010/main" val="360437950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1809</TotalTime>
  <Words>3955</Words>
  <Application>Microsoft Office PowerPoint</Application>
  <PresentationFormat>Apresentação na tela (16:9)</PresentationFormat>
  <Paragraphs>304</Paragraphs>
  <Slides>34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42" baseType="lpstr">
      <vt:lpstr>Arial</vt:lpstr>
      <vt:lpstr>Myriad Pro</vt:lpstr>
      <vt:lpstr>Inter</vt:lpstr>
      <vt:lpstr>Haboro Slab Norm Medium</vt:lpstr>
      <vt:lpstr>Helvetica Neue</vt:lpstr>
      <vt:lpstr>Courier New</vt:lpstr>
      <vt:lpstr>Gotham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Vieira</dc:creator>
  <cp:lastModifiedBy>Marcelo Vieira</cp:lastModifiedBy>
  <cp:revision>10</cp:revision>
  <dcterms:modified xsi:type="dcterms:W3CDTF">2022-06-17T23:04:10Z</dcterms:modified>
</cp:coreProperties>
</file>