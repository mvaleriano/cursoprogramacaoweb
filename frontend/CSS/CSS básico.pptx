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769" r:id="rId2"/>
    <p:sldId id="256" r:id="rId3"/>
    <p:sldId id="778" r:id="rId4"/>
    <p:sldId id="775" r:id="rId5"/>
    <p:sldId id="776" r:id="rId6"/>
    <p:sldId id="777" r:id="rId7"/>
    <p:sldId id="770" r:id="rId8"/>
    <p:sldId id="771" r:id="rId9"/>
    <p:sldId id="774" r:id="rId10"/>
    <p:sldId id="773" r:id="rId11"/>
    <p:sldId id="772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779" r:id="rId22"/>
    <p:sldId id="780" r:id="rId23"/>
    <p:sldId id="783" r:id="rId24"/>
    <p:sldId id="787" r:id="rId25"/>
    <p:sldId id="782" r:id="rId26"/>
    <p:sldId id="788" r:id="rId27"/>
    <p:sldId id="789" r:id="rId28"/>
    <p:sldId id="790" r:id="rId29"/>
    <p:sldId id="791" r:id="rId30"/>
    <p:sldId id="792" r:id="rId31"/>
    <p:sldId id="793" r:id="rId32"/>
    <p:sldId id="796" r:id="rId33"/>
    <p:sldId id="794" r:id="rId34"/>
    <p:sldId id="797" r:id="rId35"/>
    <p:sldId id="798" r:id="rId36"/>
    <p:sldId id="784" r:id="rId37"/>
    <p:sldId id="785" r:id="rId38"/>
    <p:sldId id="786" r:id="rId39"/>
    <p:sldId id="799" r:id="rId40"/>
    <p:sldId id="800" r:id="rId41"/>
    <p:sldId id="801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72B6"/>
    <a:srgbClr val="35A8DB"/>
    <a:srgbClr val="F47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936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582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45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317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250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08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484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276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811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450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7c94c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7c94c8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398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353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56d60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56d60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822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932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56d60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56d60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668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829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56d60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56d60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920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382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56d60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56d60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623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56d60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56d60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753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663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463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42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294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011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7c94c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7c94c8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1340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9354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166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87c94c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87c94c8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060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12/06/2022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 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55EA74F-AD4A-1903-91BB-313989F7C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297" y="374633"/>
            <a:ext cx="4032935" cy="403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834713" y="2025849"/>
            <a:ext cx="452257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9600" b="1" dirty="0">
                <a:solidFill>
                  <a:srgbClr val="1572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CSS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49744" y="3746009"/>
            <a:ext cx="1035396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6000" b="1" dirty="0" err="1">
                <a:solidFill>
                  <a:srgbClr val="1572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C</a:t>
            </a:r>
            <a:r>
              <a:rPr lang="pt-BR" sz="6000" dirty="0" err="1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ascading</a:t>
            </a:r>
            <a:r>
              <a:rPr lang="pt-BR" sz="60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pt-BR" sz="6000" b="1" dirty="0" err="1">
                <a:solidFill>
                  <a:srgbClr val="1572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S</a:t>
            </a:r>
            <a:r>
              <a:rPr lang="pt-BR" sz="6000" dirty="0" err="1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tyle</a:t>
            </a:r>
            <a:r>
              <a:rPr lang="pt-BR" sz="60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pt-BR" sz="6000" b="1" dirty="0" err="1">
                <a:solidFill>
                  <a:srgbClr val="1572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S</a:t>
            </a:r>
            <a:r>
              <a:rPr lang="pt-BR" sz="6000" dirty="0" err="1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rPr>
              <a:t>heets</a:t>
            </a:r>
            <a:endParaRPr lang="pt-BR" sz="6000" dirty="0">
              <a:latin typeface="Roboto Light" panose="02000000000000000000" pitchFamily="2" charset="0"/>
              <a:ea typeface="Roboto Light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306918" y="4844795"/>
            <a:ext cx="74975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4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Folhas de Estilos em Cascata</a:t>
            </a:r>
          </a:p>
        </p:txBody>
      </p:sp>
      <p:sp>
        <p:nvSpPr>
          <p:cNvPr id="9" name="Google Shape;62;p14">
            <a:extLst>
              <a:ext uri="{FF2B5EF4-FFF2-40B4-BE49-F238E27FC236}">
                <a16:creationId xmlns:a16="http://schemas.microsoft.com/office/drawing/2014/main" id="{89604E29-3C44-7DDE-7878-2DBF3AA48AF1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F94C5A7-DFDA-5636-DC8B-5954F6E9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14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1000" y="727267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Primeiros passos do CSS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22467" y="2151132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lnSpc>
                <a:spcPct val="150000"/>
              </a:lnSpc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	</a:t>
            </a:r>
            <a:r>
              <a:rPr lang="pt-BR" sz="2200" b="0" i="0" dirty="0">
                <a:solidFill>
                  <a:srgbClr val="1B1B1B"/>
                </a:solidFill>
                <a:effectLst/>
                <a:latin typeface="Inter"/>
              </a:rPr>
              <a:t>Enquanto o HTML é usado para definir a estrutura e a semântica do seu conteúdo, o CSS é usado para estilizá-lo e organizá-lo. Por exemplo, você pode usar CSS para alterar a fonte, cor, tamanho e espaçamento do seu conteúdo, dividi-lo em várias colunas ou adicionar animações e outros recursos decorativos. CSS é usado para estilizar e fazer o layout de páginas da Web — por exemplo, para alterar a fonte, cor, tamanho e espaçamento do seu conteúdo, dividi-lo em várias colunas ou adicionar animações e outros recursos decorativos. Este curso fornece um início suave para o seu caminho para o domínio do CSS com o básico de como ele funciona, como é a sintaxe e como você pode começar a usá-lo para adicionar estilo ao HTML.</a:t>
            </a:r>
            <a:endParaRPr sz="22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1000" y="727267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Conceitos Básicos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22467" y="2151132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Primeiro de tudo, entender o que é 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20B0604020202020204" pitchFamily="2" charset="0"/>
              </a:rPr>
              <a:t>o CSS e para que ele funciona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4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organizar e estruturar bem o elemento HTML; 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Como funciona sua estrutura, seus seletores e também suas propriedades básicas, de forma a utilizá-los de maneira otimizada;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 Um documento CSS é composto por elementos, o </a:t>
            </a:r>
            <a:r>
              <a:rPr lang="pt-BR" sz="2400" dirty="0" err="1">
                <a:solidFill>
                  <a:srgbClr val="454B52"/>
                </a:solidFill>
                <a:latin typeface="Merriweather" panose="020B0604020202020204" pitchFamily="2" charset="0"/>
              </a:rPr>
              <a:t>css</a:t>
            </a: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 enxerga o elemento como se fosse o conteúdo de uma  caixa;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454B52"/>
                </a:solidFill>
                <a:latin typeface="Merriweather" panose="020B0604020202020204" pitchFamily="2" charset="0"/>
              </a:rPr>
              <a:t> &lt;p&gt; -&gt; conteúdo -&gt; preenchimento -&gt; borda -&gt; margem; </a:t>
            </a:r>
            <a:endParaRPr sz="2400" dirty="0">
              <a:solidFill>
                <a:srgbClr val="454B52"/>
              </a:solidFill>
              <a:latin typeface="Merriweather" panose="020B0604020202020204" pitchFamily="2" charset="0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035504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1000" y="727267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Conceitos Básicos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22467" y="2151132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Dificuldade de fazer o layout por falta de caixas, elementos muitos soltos, quanto mais caixas mais fácil o CSS ;	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Caixas em nível de bloco (começam em nova linha e ocupam todo o espaço horizontal disponível) ; 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Caixas em nível de linha (ocupam apenas o espaço necessário para ele);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Caixas nível de bloco é muito utilizado para construir o layout e mover o elemento em bloco na página;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Container -&gt; elemento que contem outras caixas (DIV);</a:t>
            </a:r>
            <a:endParaRPr sz="24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65771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1000" y="727267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Conceitos Básicos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22467" y="2151132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Importante habilidade olhar para o layout e identificar os containers;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Display </a:t>
            </a:r>
            <a:r>
              <a:rPr lang="pt-BR" sz="24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inline</a:t>
            </a: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 não permite as propriedades de altura e largura;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Margin</a:t>
            </a: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 auto somente com display </a:t>
            </a:r>
            <a:r>
              <a:rPr lang="pt-BR" sz="24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block</a:t>
            </a: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dirty="0">
                <a:solidFill>
                  <a:srgbClr val="0F1512"/>
                </a:solidFill>
                <a:latin typeface="Merriweather" panose="00000500000000000000" pitchFamily="2" charset="0"/>
              </a:rPr>
              <a:t>D</a:t>
            </a: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isplay </a:t>
            </a:r>
            <a:r>
              <a:rPr lang="pt-BR" sz="24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inline</a:t>
            </a:r>
            <a:r>
              <a:rPr lang="pt-BR" sz="24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 comportamento de palavra. </a:t>
            </a:r>
            <a:endParaRPr sz="24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40629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1000" y="727267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Conceitos Básicos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Tipos de folhas de estilo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Inline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Interno e Externo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Sintaxe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compreender o que são seletores, propriedades e valores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Seletores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 e como usar : classe, id,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tags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pseudos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e combinadores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Especificidade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hierarquia, prioridade e herança de seletores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Definição de cores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rgb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rgba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e hexadecimal</a:t>
            </a:r>
            <a:r>
              <a:rPr lang="pt-BR" sz="24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Unidades de tamanho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pixels, porcentagem, em, rem,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vw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4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vh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auto;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CSS Reset</a:t>
            </a:r>
            <a:r>
              <a:rPr lang="pt-BR" sz="24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o que é, para quê e quando usar.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endParaRPr sz="24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17141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151133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2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Propriedades de texto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como estilizar textos, alterar tamanho, cor, fonte e estilo, por exemplo,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font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e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text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align</a:t>
            </a:r>
            <a:r>
              <a:rPr lang="pt-BR" sz="22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2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Propriedades de tamanho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como definir tamanhos para containers, seções, textos ou qualquer elemento da tela, por exemplo,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width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e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height</a:t>
            </a:r>
            <a:r>
              <a:rPr lang="pt-BR" sz="22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2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Propriedades de posicionamento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como posicionar elementos e criar layouts para a tela, por exemplo, display e position</a:t>
            </a:r>
            <a:r>
              <a:rPr lang="pt-BR" sz="22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200" b="1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Propriedades de espaçamento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como separar e dar espaço entre elementos, por exemplo,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margin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 e </a:t>
            </a:r>
            <a:r>
              <a:rPr lang="pt-BR" sz="2200" b="0" i="0" dirty="0" err="1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padding</a:t>
            </a:r>
            <a:r>
              <a:rPr lang="pt-BR" sz="22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C543D2C5-1E6C-BB7E-6829-E3D7F7B73C80}"/>
              </a:ext>
            </a:extLst>
          </p:cNvPr>
          <p:cNvSpPr txBox="1"/>
          <p:nvPr/>
        </p:nvSpPr>
        <p:spPr>
          <a:xfrm>
            <a:off x="871000" y="655024"/>
            <a:ext cx="10450000" cy="142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</a:p>
          <a:p>
            <a:pPr algn="ctr"/>
            <a:r>
              <a:rPr lang="pt-BR" sz="3200" dirty="0">
                <a:solidFill>
                  <a:srgbClr val="35A8D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Propriedades Básicas 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0968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151133"/>
            <a:ext cx="11727200" cy="45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Inter"/>
              </a:rPr>
              <a:t>Propriedades avançadas 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Flexbox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,  Grid,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Transform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Transition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Gradient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, Z index, Animações, At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Rules</a:t>
            </a:r>
            <a:r>
              <a:rPr lang="pt-BR" sz="20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Inter"/>
              </a:rPr>
              <a:t>Responsividade 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Layout Responsivo </a:t>
            </a:r>
            <a:r>
              <a:rPr lang="pt-BR" sz="2000" i="1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x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 Adaptativo, Media query</a:t>
            </a:r>
            <a:r>
              <a:rPr lang="pt-BR" sz="20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 err="1">
                <a:solidFill>
                  <a:srgbClr val="0F1512"/>
                </a:solidFill>
                <a:effectLst/>
                <a:latin typeface="Inter"/>
              </a:rPr>
              <a:t>Pré</a:t>
            </a:r>
            <a:r>
              <a:rPr lang="pt-BR" sz="2400" b="1" i="0" dirty="0">
                <a:solidFill>
                  <a:srgbClr val="0F1512"/>
                </a:solidFill>
                <a:effectLst/>
                <a:latin typeface="Inter"/>
              </a:rPr>
              <a:t> processadores </a:t>
            </a:r>
            <a:r>
              <a:rPr lang="pt-BR" sz="20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Sass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Less</a:t>
            </a:r>
            <a:r>
              <a:rPr lang="pt-BR" sz="200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,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Stylus</a:t>
            </a:r>
            <a:r>
              <a:rPr lang="pt-BR" sz="20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Inter"/>
              </a:rPr>
              <a:t>Frameworks CSS 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Bootstrap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Materialize CSS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Foundation</a:t>
            </a:r>
            <a:r>
              <a:rPr lang="pt-BR" sz="20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r>
              <a:rPr lang="pt-BR" sz="2400" b="1" i="0" dirty="0">
                <a:solidFill>
                  <a:srgbClr val="0F1512"/>
                </a:solidFill>
                <a:effectLst/>
                <a:latin typeface="Inter"/>
              </a:rPr>
              <a:t>Arquitetura CSS </a:t>
            </a:r>
            <a:r>
              <a:rPr lang="pt-BR" sz="2200" b="0" i="0" dirty="0">
                <a:solidFill>
                  <a:srgbClr val="454B52"/>
                </a:solidFill>
                <a:effectLst/>
                <a:latin typeface="Merriweather" panose="00000500000000000000" pitchFamily="2" charset="0"/>
              </a:rPr>
              <a:t>: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BEM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OOCSS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 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SMACSS, SUITCSS</a:t>
            </a:r>
            <a:r>
              <a:rPr lang="pt-BR" sz="2000" dirty="0">
                <a:solidFill>
                  <a:srgbClr val="454B52"/>
                </a:solidFill>
                <a:latin typeface="Merriweather" panose="00000500000000000000" pitchFamily="2" charset="0"/>
              </a:rPr>
              <a:t>,</a:t>
            </a:r>
            <a:r>
              <a:rPr lang="pt-BR" sz="2000" i="0" dirty="0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pt-BR" sz="2000" i="0" dirty="0" err="1">
                <a:solidFill>
                  <a:srgbClr val="0F1512"/>
                </a:solidFill>
                <a:effectLst/>
                <a:latin typeface="Merriweather" panose="00000500000000000000" pitchFamily="2" charset="0"/>
              </a:rPr>
              <a:t>Atomic</a:t>
            </a:r>
            <a:r>
              <a:rPr lang="pt-BR" sz="200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609585" indent="-457189">
              <a:lnSpc>
                <a:spcPct val="150000"/>
              </a:lnSpc>
              <a:buSzPts val="1800"/>
              <a:buFont typeface="Roboto Mono"/>
              <a:buChar char="●"/>
            </a:pPr>
            <a:endParaRPr lang="pt-BR" sz="20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C543D2C5-1E6C-BB7E-6829-E3D7F7B73C80}"/>
              </a:ext>
            </a:extLst>
          </p:cNvPr>
          <p:cNvSpPr txBox="1"/>
          <p:nvPr/>
        </p:nvSpPr>
        <p:spPr>
          <a:xfrm>
            <a:off x="871000" y="655024"/>
            <a:ext cx="10450000" cy="10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Introdução</a:t>
            </a:r>
            <a:endParaRPr lang="pt-BR" sz="3200" dirty="0">
              <a:solidFill>
                <a:srgbClr val="35A8D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120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What is Box model in CSS? | Lil Engine">
            <a:extLst>
              <a:ext uri="{FF2B5EF4-FFF2-40B4-BE49-F238E27FC236}">
                <a16:creationId xmlns:a16="http://schemas.microsoft.com/office/drawing/2014/main" id="{0B15FDB8-D380-20B6-9DCC-80B0D90C3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8" y="2294974"/>
            <a:ext cx="3726346" cy="260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Modelo de caixa CSS | Layout CSS | Introdução a HTML/CSS: criação de  páginas Web | Programação | Computação | Khan Academy">
            <a:extLst>
              <a:ext uri="{FF2B5EF4-FFF2-40B4-BE49-F238E27FC236}">
                <a16:creationId xmlns:a16="http://schemas.microsoft.com/office/drawing/2014/main" id="{2B1DA0BE-2F63-FBBA-BA0B-08D9014A6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552" y="1836363"/>
            <a:ext cx="4492774" cy="260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HTML Progressivo: Box Model (Modelo de Caixas) em CSS - Margin, Padder e  Border">
            <a:extLst>
              <a:ext uri="{FF2B5EF4-FFF2-40B4-BE49-F238E27FC236}">
                <a16:creationId xmlns:a16="http://schemas.microsoft.com/office/drawing/2014/main" id="{15AEAAD2-4F78-BB96-E405-1D8F36A0A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184" y="4440649"/>
            <a:ext cx="3400463" cy="218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0CF7D035-5F5E-DAE4-40BF-28C84B71A7A9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Box Model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0395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E30-B49B-07E6-4464-E114BDBD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43423DB-308D-42A6-68CC-E45AD32C0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133" y="590550"/>
            <a:ext cx="6667500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009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78568" y="2543599"/>
            <a:ext cx="86348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47920"/>
                </a:solidFill>
              </a:rPr>
              <a:t>header, </a:t>
            </a:r>
            <a:r>
              <a:rPr lang="pt-BR" sz="3600" b="1" dirty="0" err="1">
                <a:solidFill>
                  <a:srgbClr val="F47920"/>
                </a:solidFill>
              </a:rPr>
              <a:t>section</a:t>
            </a:r>
            <a:r>
              <a:rPr lang="pt-BR" sz="3600" b="1" dirty="0">
                <a:solidFill>
                  <a:srgbClr val="F47920"/>
                </a:solidFill>
              </a:rPr>
              <a:t>, </a:t>
            </a:r>
            <a:r>
              <a:rPr lang="pt-BR" sz="3600" b="1" dirty="0" err="1">
                <a:solidFill>
                  <a:srgbClr val="F47920"/>
                </a:solidFill>
              </a:rPr>
              <a:t>footer</a:t>
            </a:r>
            <a:r>
              <a:rPr lang="pt-BR" sz="3600" b="1" dirty="0">
                <a:solidFill>
                  <a:srgbClr val="F47920"/>
                </a:solidFill>
              </a:rPr>
              <a:t> </a:t>
            </a:r>
            <a:r>
              <a:rPr lang="pt-BR" sz="36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3600" b="1" dirty="0"/>
              <a:t>					</a:t>
            </a:r>
            <a:r>
              <a:rPr lang="pt-BR" sz="3600" b="1" dirty="0">
                <a:solidFill>
                  <a:srgbClr val="FF0000"/>
                </a:solidFill>
              </a:rPr>
              <a:t>background</a:t>
            </a:r>
            <a:r>
              <a:rPr lang="pt-BR" sz="3600" b="1" dirty="0"/>
              <a:t> </a:t>
            </a:r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3600" b="1" dirty="0"/>
              <a:t> </a:t>
            </a:r>
            <a:r>
              <a:rPr lang="pt-BR" sz="3600" b="1" dirty="0" err="1">
                <a:solidFill>
                  <a:schemeClr val="accent6">
                    <a:lumMod val="75000"/>
                  </a:schemeClr>
                </a:solidFill>
              </a:rPr>
              <a:t>black</a:t>
            </a:r>
            <a:r>
              <a:rPr lang="pt-BR" sz="3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6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3600" b="1" dirty="0"/>
              <a:t>				       </a:t>
            </a:r>
            <a:r>
              <a:rPr lang="pt-BR" sz="3600" b="1" dirty="0">
                <a:solidFill>
                  <a:srgbClr val="0070C0"/>
                </a:solidFill>
              </a:rPr>
              <a:t>}</a:t>
            </a:r>
            <a:r>
              <a:rPr lang="pt-BR" sz="36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AD78AE3B-C058-0151-DF5A-2441D68E0C96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B8D020F-624C-8E67-2ED0-D738202C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0B20A244-FD38-C91F-0A3F-546B9F0C0368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Sintaxe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0802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498481" y="2551837"/>
            <a:ext cx="93642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47920"/>
                </a:solidFill>
              </a:rPr>
              <a:t>header, </a:t>
            </a:r>
            <a:r>
              <a:rPr lang="pt-BR" sz="3600" b="1" dirty="0" err="1">
                <a:solidFill>
                  <a:srgbClr val="F47920"/>
                </a:solidFill>
              </a:rPr>
              <a:t>section</a:t>
            </a:r>
            <a:r>
              <a:rPr lang="pt-BR" sz="3600" b="1" dirty="0">
                <a:solidFill>
                  <a:srgbClr val="F47920"/>
                </a:solidFill>
              </a:rPr>
              <a:t>, </a:t>
            </a:r>
            <a:r>
              <a:rPr lang="pt-BR" sz="3600" b="1" dirty="0" err="1">
                <a:solidFill>
                  <a:srgbClr val="F47920"/>
                </a:solidFill>
              </a:rPr>
              <a:t>footer</a:t>
            </a:r>
            <a:r>
              <a:rPr lang="pt-BR" sz="3600" b="1" dirty="0">
                <a:solidFill>
                  <a:srgbClr val="F47920"/>
                </a:solidFill>
              </a:rPr>
              <a:t>   </a:t>
            </a:r>
            <a:r>
              <a:rPr lang="pt-BR" sz="36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3600" b="1" dirty="0"/>
              <a:t>					       </a:t>
            </a:r>
            <a:r>
              <a:rPr lang="pt-BR" sz="3600" b="1" dirty="0">
                <a:solidFill>
                  <a:srgbClr val="FF0000"/>
                </a:solidFill>
              </a:rPr>
              <a:t>background</a:t>
            </a:r>
            <a:r>
              <a:rPr lang="pt-BR" sz="3600" b="1" dirty="0"/>
              <a:t> </a:t>
            </a:r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3600" b="1" dirty="0"/>
              <a:t> </a:t>
            </a:r>
            <a:r>
              <a:rPr lang="pt-BR" sz="3600" b="1" dirty="0" err="1">
                <a:solidFill>
                  <a:schemeClr val="accent6">
                    <a:lumMod val="75000"/>
                  </a:schemeClr>
                </a:solidFill>
              </a:rPr>
              <a:t>black</a:t>
            </a:r>
            <a:r>
              <a:rPr lang="pt-BR" sz="3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6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3600" b="1" dirty="0"/>
              <a:t>				         </a:t>
            </a:r>
            <a:r>
              <a:rPr lang="pt-BR" sz="3600" b="1" dirty="0">
                <a:solidFill>
                  <a:srgbClr val="0070C0"/>
                </a:solidFill>
              </a:rPr>
              <a:t>}</a:t>
            </a:r>
            <a:r>
              <a:rPr lang="pt-BR" sz="3600" b="1" dirty="0"/>
              <a:t> </a:t>
            </a:r>
          </a:p>
        </p:txBody>
      </p:sp>
      <p:sp>
        <p:nvSpPr>
          <p:cNvPr id="3" name="Texto Explicativo 1 2"/>
          <p:cNvSpPr/>
          <p:nvPr/>
        </p:nvSpPr>
        <p:spPr>
          <a:xfrm>
            <a:off x="1490243" y="2551837"/>
            <a:ext cx="4473951" cy="652682"/>
          </a:xfrm>
          <a:prstGeom prst="borderCallout1">
            <a:avLst>
              <a:gd name="adj1" fmla="val 99528"/>
              <a:gd name="adj2" fmla="val 106"/>
              <a:gd name="adj3" fmla="val 280366"/>
              <a:gd name="adj4" fmla="val -7672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156518" y="4394664"/>
            <a:ext cx="19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Grupo de seletores</a:t>
            </a:r>
          </a:p>
        </p:txBody>
      </p:sp>
      <p:sp>
        <p:nvSpPr>
          <p:cNvPr id="6" name="Texto Explicativo 1 5"/>
          <p:cNvSpPr/>
          <p:nvPr/>
        </p:nvSpPr>
        <p:spPr>
          <a:xfrm>
            <a:off x="6038335" y="2551838"/>
            <a:ext cx="5445211" cy="1754326"/>
          </a:xfrm>
          <a:prstGeom prst="borderCallout1">
            <a:avLst>
              <a:gd name="adj1" fmla="val 77447"/>
              <a:gd name="adj2" fmla="val -12"/>
              <a:gd name="adj3" fmla="val 155701"/>
              <a:gd name="adj4" fmla="val -32130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225113" y="5319880"/>
            <a:ext cx="2152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Bloco de declarações</a:t>
            </a:r>
          </a:p>
        </p:txBody>
      </p:sp>
      <p:sp>
        <p:nvSpPr>
          <p:cNvPr id="7" name="Texto Explicativo 1 6"/>
          <p:cNvSpPr/>
          <p:nvPr/>
        </p:nvSpPr>
        <p:spPr>
          <a:xfrm>
            <a:off x="6812692" y="3204519"/>
            <a:ext cx="2397211" cy="518984"/>
          </a:xfrm>
          <a:prstGeom prst="borderCallout1">
            <a:avLst>
              <a:gd name="adj1" fmla="val -298"/>
              <a:gd name="adj2" fmla="val 43901"/>
              <a:gd name="adj3" fmla="val -192262"/>
              <a:gd name="adj4" fmla="val 211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5972431" y="1825076"/>
            <a:ext cx="269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Propriedade da declaração</a:t>
            </a:r>
          </a:p>
        </p:txBody>
      </p:sp>
      <p:sp>
        <p:nvSpPr>
          <p:cNvPr id="11" name="Texto Explicativo 1 10"/>
          <p:cNvSpPr/>
          <p:nvPr/>
        </p:nvSpPr>
        <p:spPr>
          <a:xfrm>
            <a:off x="9382897" y="3204519"/>
            <a:ext cx="1153298" cy="518984"/>
          </a:xfrm>
          <a:prstGeom prst="borderCallout1">
            <a:avLst>
              <a:gd name="adj1" fmla="val 99702"/>
              <a:gd name="adj2" fmla="val 50953"/>
              <a:gd name="adj3" fmla="val 398215"/>
              <a:gd name="adj4" fmla="val 95238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9526271" y="5242305"/>
            <a:ext cx="2019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 da declaração</a:t>
            </a:r>
          </a:p>
        </p:txBody>
      </p:sp>
      <p:sp>
        <p:nvSpPr>
          <p:cNvPr id="13" name="Texto Explicativo 1 12"/>
          <p:cNvSpPr/>
          <p:nvPr/>
        </p:nvSpPr>
        <p:spPr>
          <a:xfrm>
            <a:off x="9209903" y="3204519"/>
            <a:ext cx="172994" cy="518984"/>
          </a:xfrm>
          <a:prstGeom prst="borderCallout1">
            <a:avLst>
              <a:gd name="adj1" fmla="val 98115"/>
              <a:gd name="adj2" fmla="val 58334"/>
              <a:gd name="adj3" fmla="val 363293"/>
              <a:gd name="adj4" fmla="val -1000242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6877913" y="5057639"/>
            <a:ext cx="114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Separador</a:t>
            </a:r>
          </a:p>
        </p:txBody>
      </p:sp>
      <p:sp>
        <p:nvSpPr>
          <p:cNvPr id="15" name="Texto Explicativo 1 14"/>
          <p:cNvSpPr/>
          <p:nvPr/>
        </p:nvSpPr>
        <p:spPr>
          <a:xfrm>
            <a:off x="10536195" y="3204519"/>
            <a:ext cx="181232" cy="518984"/>
          </a:xfrm>
          <a:prstGeom prst="borderCallout1">
            <a:avLst>
              <a:gd name="adj1" fmla="val -298"/>
              <a:gd name="adj2" fmla="val 41667"/>
              <a:gd name="adj3" fmla="val -192262"/>
              <a:gd name="adj4" fmla="val -101969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9407610" y="1809225"/>
            <a:ext cx="187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Fim da declaração</a:t>
            </a:r>
          </a:p>
        </p:txBody>
      </p:sp>
      <p:sp>
        <p:nvSpPr>
          <p:cNvPr id="17" name="Google Shape;62;p14">
            <a:extLst>
              <a:ext uri="{FF2B5EF4-FFF2-40B4-BE49-F238E27FC236}">
                <a16:creationId xmlns:a16="http://schemas.microsoft.com/office/drawing/2014/main" id="{97ED85FF-E5C7-D10A-C97D-87CE8F544501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8929CA71-1506-FC75-736B-86B1FB593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63;p14">
            <a:extLst>
              <a:ext uri="{FF2B5EF4-FFF2-40B4-BE49-F238E27FC236}">
                <a16:creationId xmlns:a16="http://schemas.microsoft.com/office/drawing/2014/main" id="{DA9D8974-7404-17B0-9088-F83A7DC27037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Sintaxe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7938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1828800" y="1905506"/>
            <a:ext cx="21451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Universal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Atributos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Pseudos</a:t>
            </a:r>
            <a:endParaRPr lang="pt-BR" sz="3200" dirty="0">
              <a:solidFill>
                <a:srgbClr val="F4792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4792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ID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DCC6BF6C-F499-273F-A79E-5BAD28194DD1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" name="Google Shape;63;p14">
            <a:extLst>
              <a:ext uri="{FF2B5EF4-FFF2-40B4-BE49-F238E27FC236}">
                <a16:creationId xmlns:a16="http://schemas.microsoft.com/office/drawing/2014/main" id="{997255DF-89D4-4EF6-72F5-95F02D43F135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Seletores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AF335F6-C79F-ECDC-CFE2-EB13667DA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95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213063" y="2370603"/>
            <a:ext cx="576587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F47920"/>
                </a:solidFill>
              </a:rPr>
              <a:t>*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/>
              <a:t>       </a:t>
            </a:r>
            <a:r>
              <a:rPr lang="pt-BR" sz="4400" b="1" dirty="0">
                <a:solidFill>
                  <a:srgbClr val="FF0000"/>
                </a:solidFill>
              </a:rPr>
              <a:t>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/>
              <a:t>   </a:t>
            </a:r>
            <a:r>
              <a:rPr lang="pt-BR" sz="4400" b="1" dirty="0">
                <a:solidFill>
                  <a:srgbClr val="0070C0"/>
                </a:solidFill>
              </a:rPr>
              <a:t>}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B44A79FC-B1A4-5EE5-0020-FAB5BB6854C5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514DB188-2E86-F328-A9E4-DBD0D94B792B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 Universal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578CD-48D0-6107-1303-3E29A48C2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618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836580" y="2367171"/>
            <a:ext cx="65353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 err="1">
                <a:solidFill>
                  <a:srgbClr val="F47920"/>
                </a:solidFill>
              </a:rPr>
              <a:t>body</a:t>
            </a:r>
            <a:r>
              <a:rPr lang="pt-BR" sz="4400" b="1" dirty="0">
                <a:solidFill>
                  <a:srgbClr val="F47920"/>
                </a:solidFill>
              </a:rPr>
              <a:t>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/>
              <a:t>             </a:t>
            </a:r>
            <a:r>
              <a:rPr lang="pt-BR" sz="4400" b="1" dirty="0">
                <a:solidFill>
                  <a:srgbClr val="FF0000"/>
                </a:solidFill>
              </a:rPr>
              <a:t>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/>
              <a:t>          </a:t>
            </a:r>
            <a:r>
              <a:rPr lang="pt-BR" sz="4400" b="1" dirty="0">
                <a:solidFill>
                  <a:srgbClr val="0070C0"/>
                </a:solidFill>
              </a:rPr>
              <a:t>} 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37B99C9A-DF5B-DFD8-B399-8EECBDF7BC70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D99D6710-F161-DAA9-E66F-AE8192A8D7FD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Seletores por Tipo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B647A-2225-4389-DE1B-B2F68880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34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317597" y="2367171"/>
            <a:ext cx="756123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F47920"/>
                </a:solidFill>
              </a:rPr>
              <a:t>.</a:t>
            </a:r>
            <a:r>
              <a:rPr lang="pt-BR" sz="4400" b="1" dirty="0" err="1">
                <a:solidFill>
                  <a:srgbClr val="F47920"/>
                </a:solidFill>
              </a:rPr>
              <a:t>bg-black</a:t>
            </a:r>
            <a:r>
              <a:rPr lang="pt-BR" sz="4400" b="1" dirty="0">
                <a:solidFill>
                  <a:srgbClr val="F47920"/>
                </a:solidFill>
              </a:rPr>
              <a:t>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/>
              <a:t>                    </a:t>
            </a:r>
            <a:r>
              <a:rPr lang="pt-BR" sz="4400" b="1" dirty="0">
                <a:solidFill>
                  <a:srgbClr val="FF0000"/>
                </a:solidFill>
              </a:rPr>
              <a:t>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/>
              <a:t>                  </a:t>
            </a:r>
            <a:r>
              <a:rPr lang="pt-BR" sz="4400" b="1" dirty="0">
                <a:solidFill>
                  <a:srgbClr val="0070C0"/>
                </a:solidFill>
              </a:rPr>
              <a:t>} 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7D205FA5-8AD1-6190-4B69-D3AC97DC7889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AF437C69-7066-A4C3-9FD2-0230BF3933C1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Seletores por Classe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DF39D-8AB9-9BBA-7353-A0FB61F66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918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872755" y="2367171"/>
            <a:ext cx="845891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F47920"/>
                </a:solidFill>
              </a:rPr>
              <a:t>[</a:t>
            </a:r>
            <a:r>
              <a:rPr lang="pt-BR" sz="4400" b="1" dirty="0" err="1">
                <a:solidFill>
                  <a:srgbClr val="F47920"/>
                </a:solidFill>
              </a:rPr>
              <a:t>type</a:t>
            </a:r>
            <a:r>
              <a:rPr lang="pt-BR" sz="4400" b="1" dirty="0">
                <a:solidFill>
                  <a:srgbClr val="F47920"/>
                </a:solidFill>
              </a:rPr>
              <a:t>=“</a:t>
            </a:r>
            <a:r>
              <a:rPr lang="pt-BR" sz="4400" b="1" dirty="0" err="1">
                <a:solidFill>
                  <a:srgbClr val="F47920"/>
                </a:solidFill>
              </a:rPr>
              <a:t>text</a:t>
            </a:r>
            <a:r>
              <a:rPr lang="pt-BR" sz="4400" b="1" dirty="0">
                <a:solidFill>
                  <a:srgbClr val="F47920"/>
                </a:solidFill>
              </a:rPr>
              <a:t>”]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/>
              <a:t>                            </a:t>
            </a:r>
            <a:r>
              <a:rPr lang="pt-BR" sz="4400" b="1" dirty="0">
                <a:solidFill>
                  <a:srgbClr val="FF0000"/>
                </a:solidFill>
              </a:rPr>
              <a:t>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/>
              <a:t>                          </a:t>
            </a:r>
            <a:r>
              <a:rPr lang="pt-BR" sz="4400" b="1" dirty="0">
                <a:solidFill>
                  <a:srgbClr val="0070C0"/>
                </a:solidFill>
              </a:rPr>
              <a:t>} 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EA840053-6B97-53F1-D302-D03609256255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4F6CCEA2-C087-94AB-7922-A1FB7DDFDA04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Seletores por Atributo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A2D82-C527-33AD-143E-76D4C4FF7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891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704779" y="2367171"/>
            <a:ext cx="679179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F47920"/>
                </a:solidFill>
              </a:rPr>
              <a:t>:</a:t>
            </a:r>
            <a:r>
              <a:rPr lang="pt-BR" sz="4400" b="1" dirty="0" err="1">
                <a:solidFill>
                  <a:srgbClr val="F47920"/>
                </a:solidFill>
              </a:rPr>
              <a:t>hover</a:t>
            </a:r>
            <a:r>
              <a:rPr lang="pt-BR" sz="4400" b="1" dirty="0">
                <a:solidFill>
                  <a:srgbClr val="F47920"/>
                </a:solidFill>
              </a:rPr>
              <a:t>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>
                <a:solidFill>
                  <a:srgbClr val="FF0000"/>
                </a:solidFill>
              </a:rPr>
              <a:t>               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/>
              <a:t>             </a:t>
            </a:r>
            <a:r>
              <a:rPr lang="pt-BR" sz="4400" b="1" dirty="0">
                <a:solidFill>
                  <a:srgbClr val="0070C0"/>
                </a:solidFill>
              </a:rPr>
              <a:t>} 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6C16C343-2860-4294-B192-744284F8DE34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5C287CEE-29DE-BFFD-6B65-81B733745A6F}"/>
              </a:ext>
            </a:extLst>
          </p:cNvPr>
          <p:cNvSpPr txBox="1"/>
          <p:nvPr/>
        </p:nvSpPr>
        <p:spPr>
          <a:xfrm>
            <a:off x="922717" y="878275"/>
            <a:ext cx="10346535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 err="1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Pseudos</a:t>
            </a:r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Seletores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D434D2-C292-5DF9-6001-34F2B3FD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00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194027" y="2367171"/>
            <a:ext cx="78177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F47920"/>
                </a:solidFill>
              </a:rPr>
              <a:t>#</a:t>
            </a:r>
            <a:r>
              <a:rPr lang="pt-BR" sz="4400" b="1" dirty="0" err="1">
                <a:solidFill>
                  <a:srgbClr val="F47920"/>
                </a:solidFill>
              </a:rPr>
              <a:t>conteudo</a:t>
            </a:r>
            <a:r>
              <a:rPr lang="pt-BR" sz="4400" b="1" dirty="0">
                <a:solidFill>
                  <a:srgbClr val="F47920"/>
                </a:solidFill>
              </a:rPr>
              <a:t> </a:t>
            </a:r>
            <a:r>
              <a:rPr lang="pt-BR" sz="4400" b="1" dirty="0">
                <a:solidFill>
                  <a:srgbClr val="0070C0"/>
                </a:solidFill>
              </a:rPr>
              <a:t>{</a:t>
            </a:r>
          </a:p>
          <a:p>
            <a:r>
              <a:rPr lang="pt-BR" sz="4400" b="1" dirty="0">
                <a:solidFill>
                  <a:srgbClr val="FF0000"/>
                </a:solidFill>
              </a:rPr>
              <a:t>                       background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  <a:r>
              <a:rPr lang="pt-BR" sz="4400" b="1" dirty="0"/>
              <a:t> </a:t>
            </a:r>
            <a:r>
              <a:rPr lang="pt-BR" sz="4400" b="1" dirty="0" err="1"/>
              <a:t>black</a:t>
            </a:r>
            <a:r>
              <a:rPr lang="pt-BR" sz="4400" b="1" dirty="0"/>
              <a:t> </a:t>
            </a:r>
            <a:r>
              <a:rPr lang="pt-BR" sz="4400" b="1" dirty="0">
                <a:solidFill>
                  <a:srgbClr val="7030A0"/>
                </a:solidFill>
              </a:rPr>
              <a:t>;</a:t>
            </a:r>
          </a:p>
          <a:p>
            <a:r>
              <a:rPr lang="pt-BR" sz="4400" b="1" dirty="0">
                <a:solidFill>
                  <a:srgbClr val="0070C0"/>
                </a:solidFill>
              </a:rPr>
              <a:t>                     } </a:t>
            </a:r>
            <a:r>
              <a:rPr lang="pt-BR" sz="4400" b="1" dirty="0"/>
              <a:t> </a:t>
            </a:r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D159862D-6125-95A6-70F0-F8D477D9BD1D}"/>
              </a:ext>
            </a:extLst>
          </p:cNvPr>
          <p:cNvSpPr txBox="1"/>
          <p:nvPr/>
        </p:nvSpPr>
        <p:spPr>
          <a:xfrm>
            <a:off x="545433" y="162951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CSS3 básico</a:t>
            </a:r>
            <a:r>
              <a:rPr lang="pt-BR" sz="1600" dirty="0">
                <a:solidFill>
                  <a:srgbClr val="E34F2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id="{C60DFBAE-6231-6360-EF7A-465C824087C1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Seletores por ID</a:t>
            </a: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3BE36-FBC7-0EA8-2ED9-E4A4AE911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807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9C421C0C-FF1E-5871-542B-87AAE9E0D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532" y="348334"/>
            <a:ext cx="4032935" cy="403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198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Sobre 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</a:rPr>
              <a:t>As propriedades de background (plano de fundo) CSS são usadas para adicionar efeitos de plano de fundo para elementos.</a:t>
            </a:r>
            <a:endParaRPr sz="2000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025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6"/>
          <p:cNvGraphicFramePr/>
          <p:nvPr>
            <p:extLst>
              <p:ext uri="{D42A27DB-BD31-4B8C-83A1-F6EECF244321}">
                <p14:modId xmlns:p14="http://schemas.microsoft.com/office/powerpoint/2010/main" val="1037555930"/>
              </p:ext>
            </p:extLst>
          </p:nvPr>
        </p:nvGraphicFramePr>
        <p:xfrm>
          <a:off x="222467" y="1924267"/>
          <a:ext cx="11780236" cy="29380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background-color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a cor de fundo de um elemento.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Color,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Transparent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background-</a:t>
                      </a: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uma imagem a ser usada como plano de fundo de um elemento.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url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none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background-</a:t>
                      </a: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repeat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se a imagem de fundo será e como será repetida vertical e horizontalmente.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61594">
                        <a:lnSpc>
                          <a:spcPct val="101699"/>
                        </a:lnSpc>
                        <a:spcBef>
                          <a:spcPts val="245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repeat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repeat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-x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repeat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  y | no-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repeat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background-position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a posição inicial de uma imagem de fundo.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36195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top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left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top center | top 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right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center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left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center 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center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center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right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bottom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left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bottom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center</a:t>
                      </a:r>
                    </a:p>
                    <a:p>
                      <a:pPr marL="34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bottom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right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,  x-% y-%,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x-pos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y-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pos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.</a:t>
                      </a: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background-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size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Especifica o tamanho das imagens de fundo.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Length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 , %, auto | cover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contain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background-</a:t>
                      </a: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attachment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se uma imagem de plano de fundo rola com o restante da página ou é fixa.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scroll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fixed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background-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origin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a posição de origem de uma imagem de plano de fundo.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border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padding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 | 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content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87866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background-clip</a:t>
                      </a:r>
                      <a:endParaRPr lang="pt-BR"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até onde o fundo (cor ou imagem) deve se estender dentro de um elemento.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Length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, %,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border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padding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 | 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content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-box | no-clip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0036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background-blend-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mode</a:t>
                      </a:r>
                      <a:endParaRPr lang="pt-BR"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o modo de mesclagem de cada camada de fundo ( cor e/ou imagem).</a:t>
                      </a:r>
                      <a:endParaRPr sz="12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+mn-cs"/>
                        </a:rPr>
                        <a:t>normal|multiply|screen|overlay|darken|lighten|color-dodge|saturation|color|luminosity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201271"/>
                  </a:ext>
                </a:extLst>
              </a:tr>
            </a:tbl>
          </a:graphicData>
        </a:graphic>
      </p:graphicFrame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3B9932E7-7C1B-0ACF-44CA-3460EB09B865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da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" name="Google Shape;62;p14">
            <a:extLst>
              <a:ext uri="{FF2B5EF4-FFF2-40B4-BE49-F238E27FC236}">
                <a16:creationId xmlns:a16="http://schemas.microsoft.com/office/drawing/2014/main" id="{BE4E93E0-62EB-37BB-49F8-4980B644ED4B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89A574F-F6B0-963D-6967-5C9BAD786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81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  <a:sym typeface="Roboto Mono"/>
              </a:rPr>
              <a:t>background-color: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 código hexadecimal: #ffc6d9;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código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rgb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rgb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(255,235,0);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código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rgba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rgb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(255,235,0, 0.7);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código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hsl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hsl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(210,100%,40%);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código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hsla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hsla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(155,80%,35%,0.4);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palavra-chave: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red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, blue,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green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...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etc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transparente: transparente.</a:t>
            </a:r>
            <a:endParaRPr sz="1400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591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Exemplo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Body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background-color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#cff;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background-color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Roboto Mono"/>
              </a:rPr>
              <a:t>rgb</a:t>
            </a:r>
            <a:r>
              <a:rPr lang="pt-BR" sz="1533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Roboto Mono"/>
              </a:rPr>
              <a:t>(255,100,14)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h1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background-color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Roboto Mono"/>
              </a:rPr>
              <a:t>green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5C713826-60D2-7A6F-9DC3-E9D1BDD97553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A3CD55C-2208-5049-E1B1-93CDA9A2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25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  <a:sym typeface="Roboto Mono"/>
              </a:rPr>
              <a:t>background-</a:t>
            </a:r>
            <a:r>
              <a:rPr lang="pt-BR" sz="2000" dirty="0" err="1">
                <a:latin typeface="Roboto Mono"/>
                <a:ea typeface="Roboto Mono"/>
                <a:sym typeface="Roboto Mono"/>
              </a:rPr>
              <a:t>image</a:t>
            </a:r>
            <a:r>
              <a:rPr lang="pt-BR" sz="2000" dirty="0">
                <a:latin typeface="Roboto Mono"/>
                <a:ea typeface="Roboto Mono"/>
                <a:sym typeface="Roboto Mono"/>
              </a:rPr>
              <a:t>: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URL: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url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(caminho/imagem.gif);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URL: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url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('caminho/imagem.gif’);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URL: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url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("caminho/imagem.gif“);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Gradiente linear: linear-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gradient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(45deg, blue,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red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);</a:t>
            </a:r>
          </a:p>
          <a:p>
            <a:pPr marL="977896" lvl="1" indent="-3429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Gradiente radial: radial-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gradient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(20px 50px,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green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, blue,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red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).</a:t>
            </a:r>
          </a:p>
          <a:p>
            <a:pPr marL="177796">
              <a:lnSpc>
                <a:spcPct val="150000"/>
              </a:lnSpc>
              <a:buSzPts val="1500"/>
            </a:pPr>
            <a:r>
              <a:rPr lang="pt-BR" sz="1400" dirty="0">
                <a:solidFill>
                  <a:srgbClr val="FF0000"/>
                </a:solidFill>
                <a:latin typeface="Roboto Mono"/>
                <a:ea typeface="Roboto Mono"/>
                <a:sym typeface="Roboto Mono"/>
              </a:rPr>
              <a:t>* O uso de aspas simples ou duplas no URL da imagem é facultativo.</a:t>
            </a:r>
            <a:endParaRPr sz="1400" dirty="0">
              <a:solidFill>
                <a:srgbClr val="FF0000"/>
              </a:solidFill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516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Exemplo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Body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</a:t>
            </a:r>
            <a:r>
              <a:rPr lang="pt-BR" sz="1533" dirty="0" err="1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url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("/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images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/logo-css3.png");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5C713826-60D2-7A6F-9DC3-E9D1BDD97553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A3CD55C-2208-5049-E1B1-93CDA9A2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397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  <a:sym typeface="Roboto Mono"/>
              </a:rPr>
              <a:t>background-</a:t>
            </a:r>
            <a:r>
              <a:rPr lang="pt-BR" sz="2000" dirty="0" err="1">
                <a:latin typeface="Roboto Mono"/>
                <a:ea typeface="Roboto Mono"/>
                <a:sym typeface="Roboto Mono"/>
              </a:rPr>
              <a:t>repeat</a:t>
            </a:r>
            <a:r>
              <a:rPr lang="pt-BR" sz="2000" dirty="0">
                <a:latin typeface="Roboto Mono"/>
                <a:ea typeface="Roboto Mono"/>
                <a:sym typeface="Roboto Mono"/>
              </a:rPr>
              <a:t>: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não repete: no-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repeat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repete na vertical e horizontal: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repeat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repete na vertical: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repeat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-y;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repete na horizontal: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repeat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-x;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toca as quatro bordas internas do box e são espaçadas de modo a se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distribuirem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 igualmente: </a:t>
            </a:r>
            <a:r>
              <a:rPr lang="pt-BR" sz="1400" dirty="0" err="1">
                <a:latin typeface="Roboto Mono"/>
                <a:ea typeface="Roboto Mono"/>
                <a:sym typeface="Roboto Mono"/>
              </a:rPr>
              <a:t>space</a:t>
            </a:r>
            <a:r>
              <a:rPr lang="pt-BR" sz="1400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1066785" lvl="1" indent="-431789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400" dirty="0">
                <a:latin typeface="Roboto Mono"/>
                <a:ea typeface="Roboto Mono"/>
                <a:sym typeface="Roboto Mono"/>
              </a:rPr>
              <a:t>imagem toca as quatro bordas internas do box e são redimensionadas de modo a preencherem o fundo tocando umas nas outras: round.</a:t>
            </a:r>
            <a:endParaRPr sz="1400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087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Exemplo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Body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</a:t>
            </a:r>
            <a:r>
              <a:rPr lang="pt-BR" sz="1533" dirty="0" err="1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url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("/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images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/logo-css3.png");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</a:rPr>
              <a:t>  background-</a:t>
            </a:r>
            <a:r>
              <a:rPr lang="pt-BR" sz="1533" dirty="0" err="1">
                <a:solidFill>
                  <a:srgbClr val="FF0000"/>
                </a:solidFill>
                <a:highlight>
                  <a:srgbClr val="FFFFFF"/>
                </a:highlight>
                <a:latin typeface="Roboto Mono"/>
              </a:rPr>
              <a:t>repeat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: 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repeat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-x;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5C713826-60D2-7A6F-9DC3-E9D1BDD97553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A3CD55C-2208-5049-E1B1-93CDA9A2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673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2"/>
            <a:ext cx="11727200" cy="435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9246" indent="-1714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2000" dirty="0">
                <a:latin typeface="Roboto Mono"/>
                <a:ea typeface="Roboto Mono"/>
                <a:sym typeface="Roboto Mono"/>
              </a:rPr>
              <a:t>background-position :</a:t>
            </a:r>
            <a:endParaRPr lang="en-US" sz="1100" dirty="0">
              <a:latin typeface="Roboto Mono"/>
              <a:ea typeface="Roboto Mono"/>
              <a:sym typeface="Roboto Mono"/>
            </a:endParaRP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1.   </a:t>
            </a:r>
            <a:r>
              <a:rPr lang="en-US" sz="1100" b="1" dirty="0" err="1">
                <a:latin typeface="Roboto Mono"/>
                <a:ea typeface="Roboto Mono"/>
                <a:sym typeface="Roboto Mono"/>
              </a:rPr>
              <a:t>Xpx</a:t>
            </a:r>
            <a:r>
              <a:rPr lang="en-US" sz="1100" b="1" dirty="0">
                <a:latin typeface="Roboto Mono"/>
                <a:ea typeface="Roboto Mono"/>
                <a:sym typeface="Roboto Mono"/>
              </a:rPr>
              <a:t> </a:t>
            </a:r>
            <a:r>
              <a:rPr lang="en-US" sz="1100" b="1" dirty="0" err="1">
                <a:latin typeface="Roboto Mono"/>
                <a:ea typeface="Roboto Mono"/>
                <a:sym typeface="Roboto Mono"/>
              </a:rPr>
              <a:t>Ypx</a:t>
            </a:r>
            <a:r>
              <a:rPr lang="en-US" sz="1100" b="1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2.   X% Y%;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3.   top left;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4.   top center;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5.   top right;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6.   center left;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7.   center </a:t>
            </a:r>
            <a:r>
              <a:rPr lang="en-US" sz="1100" b="1" dirty="0" err="1">
                <a:latin typeface="Roboto Mono"/>
                <a:ea typeface="Roboto Mono"/>
                <a:sym typeface="Roboto Mono"/>
              </a:rPr>
              <a:t>center</a:t>
            </a:r>
            <a:r>
              <a:rPr lang="en-US" sz="1100" b="1" dirty="0">
                <a:latin typeface="Roboto Mono"/>
                <a:ea typeface="Roboto Mono"/>
                <a:sym typeface="Roboto Mono"/>
              </a:rPr>
              <a:t>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8.   center right;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9.   bottom left;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10. bottom center;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11. bottom right;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12. top;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13. right;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14. bottom;</a:t>
            </a:r>
          </a:p>
          <a:p>
            <a:pPr marL="634996" lvl="1">
              <a:lnSpc>
                <a:spcPct val="150000"/>
              </a:lnSpc>
              <a:buSzPts val="1500"/>
            </a:pPr>
            <a:r>
              <a:rPr lang="en-US" sz="1100" b="1" dirty="0">
                <a:latin typeface="Roboto Mono"/>
                <a:ea typeface="Roboto Mono"/>
                <a:sym typeface="Roboto Mono"/>
              </a:rPr>
              <a:t>15. left.</a:t>
            </a:r>
            <a:endParaRPr sz="1100" b="1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140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Exemplo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A52A2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Body </a:t>
            </a: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background-</a:t>
            </a:r>
            <a:r>
              <a:rPr lang="pt-BR" sz="1533" dirty="0" err="1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url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("/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images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/logo-css3.png");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</a:rPr>
              <a:t>  background-</a:t>
            </a:r>
            <a:r>
              <a:rPr lang="pt-BR" sz="1533" dirty="0" err="1">
                <a:solidFill>
                  <a:srgbClr val="FF0000"/>
                </a:solidFill>
                <a:highlight>
                  <a:srgbClr val="FFFFFF"/>
                </a:highlight>
                <a:latin typeface="Roboto Mono"/>
              </a:rPr>
              <a:t>repeat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: no-</a:t>
            </a:r>
            <a:r>
              <a:rPr lang="pt-BR" sz="1533" dirty="0" err="1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repeat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</a:rPr>
              <a:t>  background-position</a:t>
            </a:r>
            <a:r>
              <a:rPr lang="pt-BR" sz="1533" dirty="0">
                <a:solidFill>
                  <a:srgbClr val="0000CD"/>
                </a:solidFill>
                <a:highlight>
                  <a:srgbClr val="FFFFFF"/>
                </a:highlight>
                <a:latin typeface="Roboto Mono"/>
                <a:ea typeface="Roboto Mono"/>
              </a:rPr>
              <a:t>: 200px 70px;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solidFill>
                <a:srgbClr val="A52A2A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5C713826-60D2-7A6F-9DC3-E9D1BDD97553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A3CD55C-2208-5049-E1B1-93CDA9A2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083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232400" y="825649"/>
            <a:ext cx="11727200" cy="2957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pt-BR" sz="1533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Atenção: </a:t>
            </a:r>
            <a:r>
              <a:rPr lang="pt-BR" sz="1533" dirty="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cuidado ao definir a propriedade background-position com uso de valores em porcentagem, pois é </a:t>
            </a:r>
            <a:r>
              <a:rPr lang="pt-BR" sz="1533" dirty="0" err="1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indespensável</a:t>
            </a:r>
            <a:r>
              <a:rPr lang="pt-BR" sz="1533" dirty="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que você esteja ciente de como a posição é calculada nestes casos para não ser surpreendido com "resultado não esperado".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Definir os valores 0% 0% posiciona o canto superior esquerdo da imagem no canto superior esquerdo do box (</a:t>
            </a:r>
            <a:r>
              <a:rPr lang="pt-BR" sz="16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as coordenadas do canto superior esquerdo tanto da imagem como do box são 0% 0%</a:t>
            </a: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Definir os valores 100% 100% posiciona o canto inferior direito da imagem no canto inferior direito do box (</a:t>
            </a:r>
            <a:r>
              <a:rPr lang="pt-BR" sz="16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as coordenadas do canto inferior direito tanto da imagem como do box são 100% 100%</a:t>
            </a: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Definir os valores X% Y% posiciona o ponto da imagem cujas coordenadas são X% Y% no ponto do box cujas coordenadas são X% Y% (</a:t>
            </a:r>
            <a:r>
              <a:rPr lang="pt-BR" sz="16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as coordenadas X% Y% tanto da imagem como do box são X% Y%</a:t>
            </a: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A imagem mostrada a seguir foi copiada da especificação do W3C e esclarece o posicionamento com uso dos valores em porcentagem 75% 50%.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lang="pt-BR" sz="1533" dirty="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5C713826-60D2-7A6F-9DC3-E9D1BDD97553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A3CD55C-2208-5049-E1B1-93CDA9A2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esquema de posicionamneto com porcentagem">
            <a:extLst>
              <a:ext uri="{FF2B5EF4-FFF2-40B4-BE49-F238E27FC236}">
                <a16:creationId xmlns:a16="http://schemas.microsoft.com/office/drawing/2014/main" id="{FD324EB7-BB26-44FF-1049-9C05640A5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615" y="3917918"/>
            <a:ext cx="37814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77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2"/>
            <a:ext cx="11727200" cy="435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9246" indent="-1714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pt-BR" sz="2000" b="1" dirty="0">
                <a:latin typeface="Roboto Mono"/>
                <a:ea typeface="Roboto Mono"/>
                <a:sym typeface="Roboto Mono"/>
              </a:rPr>
              <a:t>background-clip: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ocupa até a área das bordas do box, inclusive, se houver uma - este é o comportamento padrão: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border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ocupa até a área de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padding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do box, inclusive, se houver uma e não ocupa a área de bordas: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padding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ocupa até a área de conteúdo do boxe não ocupa as áreas de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padding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e bordas se houver: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content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  <a:endParaRPr sz="1100" b="1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597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2"/>
            <a:ext cx="11727200" cy="435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9246" indent="-1714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pt-BR" sz="2000" b="1" dirty="0">
                <a:latin typeface="Roboto Mono"/>
                <a:ea typeface="Roboto Mono"/>
                <a:sym typeface="Roboto Mono"/>
              </a:rPr>
              <a:t>background-</a:t>
            </a:r>
            <a:r>
              <a:rPr lang="pt-BR" sz="2000" b="1" dirty="0" err="1">
                <a:latin typeface="Roboto Mono"/>
                <a:ea typeface="Roboto Mono"/>
                <a:sym typeface="Roboto Mono"/>
              </a:rPr>
              <a:t>origin</a:t>
            </a:r>
            <a:r>
              <a:rPr lang="pt-BR" sz="2000" b="1" dirty="0">
                <a:latin typeface="Roboto Mono"/>
                <a:ea typeface="Roboto Mono"/>
                <a:sym typeface="Roboto Mono"/>
              </a:rPr>
              <a:t>: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tem por origem o canto superior esquerdo do box considerada das bordas do box, se houver uma - este é o comportamento padrão: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border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tem por origem o canto superior esquerdo do box sem considerar as bordas do box, se houver uma: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padding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tem por origem o canto superior esquerdo do box sem considerar o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padding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e as bordas do box, se houver: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content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-box</a:t>
            </a:r>
            <a:endParaRPr sz="1100" b="1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335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Background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Válidos</a:t>
            </a:r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2"/>
            <a:ext cx="11727200" cy="435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9246" indent="-1714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pt-BR" sz="2000" b="1" dirty="0">
                <a:latin typeface="Roboto Mono"/>
                <a:ea typeface="Roboto Mono"/>
                <a:sym typeface="Roboto Mono"/>
              </a:rPr>
              <a:t>background-</a:t>
            </a:r>
            <a:r>
              <a:rPr lang="pt-BR" sz="2000" b="1" dirty="0" err="1">
                <a:latin typeface="Roboto Mono"/>
                <a:ea typeface="Roboto Mono"/>
                <a:sym typeface="Roboto Mono"/>
              </a:rPr>
              <a:t>size</a:t>
            </a:r>
            <a:r>
              <a:rPr lang="pt-BR" sz="2000" b="1" dirty="0">
                <a:latin typeface="Roboto Mono"/>
                <a:ea typeface="Roboto Mono"/>
                <a:sym typeface="Roboto Mono"/>
              </a:rPr>
              <a:t>: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terá as dimensões definidas por unidade de medida CSS: 150px 70px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terá suas dimensões originais - este é o valor padrão: auto</a:t>
            </a: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terá as dimensões de modo a que sua maior dimensão ocupe toda a extensão do box e a menor dimensão seja tal que o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aspect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ratio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(relação entre largura e altura) seja preservado: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contain</a:t>
            </a:r>
            <a:endParaRPr lang="pt-BR" sz="1100" b="1" dirty="0">
              <a:latin typeface="Roboto Mono"/>
              <a:ea typeface="Roboto Mono"/>
              <a:sym typeface="Roboto Mono"/>
            </a:endParaRPr>
          </a:p>
          <a:p>
            <a:pPr marL="863596" lvl="1" indent="-228600">
              <a:lnSpc>
                <a:spcPct val="150000"/>
              </a:lnSpc>
              <a:buSzPts val="1500"/>
              <a:buFont typeface="+mj-lt"/>
              <a:buAutoNum type="arabicPeriod"/>
            </a:pPr>
            <a:r>
              <a:rPr lang="pt-BR" sz="1100" b="1" dirty="0">
                <a:latin typeface="Roboto Mono"/>
                <a:ea typeface="Roboto Mono"/>
                <a:sym typeface="Roboto Mono"/>
              </a:rPr>
              <a:t>a imagem terá as dimensões de modo a que sua menor dimensão ocupe toda a extensão do box e a maior dimensão seja tal que o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aspect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</a:t>
            </a:r>
            <a:r>
              <a:rPr lang="pt-BR" sz="1100" b="1" dirty="0" err="1">
                <a:latin typeface="Roboto Mono"/>
                <a:ea typeface="Roboto Mono"/>
                <a:sym typeface="Roboto Mono"/>
              </a:rPr>
              <a:t>ratio</a:t>
            </a:r>
            <a:r>
              <a:rPr lang="pt-BR" sz="1100" b="1" dirty="0">
                <a:latin typeface="Roboto Mono"/>
                <a:ea typeface="Roboto Mono"/>
                <a:sym typeface="Roboto Mono"/>
              </a:rPr>
              <a:t> (relação entre largura e altura) seja preservado: cover</a:t>
            </a:r>
            <a:endParaRPr sz="1100" b="1" dirty="0">
              <a:latin typeface="Roboto Mono"/>
              <a:ea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24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 err="1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Border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9C421C0C-FF1E-5871-542B-87AAE9E0D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532" y="348334"/>
            <a:ext cx="4032935" cy="403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731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 err="1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Border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Sobre 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</a:rPr>
              <a:t>As propriedades </a:t>
            </a:r>
            <a:r>
              <a:rPr lang="pt-BR" sz="2000" dirty="0">
                <a:latin typeface="Roboto Mono"/>
              </a:rPr>
              <a:t>para as bordas, definem as características das quatro bordas de um elemento HTML. </a:t>
            </a:r>
            <a:endParaRPr lang="pt-BR" sz="2000" dirty="0">
              <a:latin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572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6"/>
          <p:cNvGraphicFramePr/>
          <p:nvPr>
            <p:extLst>
              <p:ext uri="{D42A27DB-BD31-4B8C-83A1-F6EECF244321}">
                <p14:modId xmlns:p14="http://schemas.microsoft.com/office/powerpoint/2010/main" val="1353907951"/>
              </p:ext>
            </p:extLst>
          </p:nvPr>
        </p:nvGraphicFramePr>
        <p:xfrm>
          <a:off x="205866" y="2111408"/>
          <a:ext cx="11780236" cy="29947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border-width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</a:rPr>
                        <a:t>a espessura da borda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800" dirty="0" err="1">
                          <a:latin typeface="Verdana"/>
                          <a:cs typeface="Verdana"/>
                        </a:rPr>
                        <a:t>thin</a:t>
                      </a:r>
                      <a:r>
                        <a:rPr lang="pt-BR"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</a:t>
                      </a:r>
                      <a:r>
                        <a:rPr lang="pt-BR"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medium</a:t>
                      </a:r>
                      <a:r>
                        <a:rPr lang="pt-BR"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thick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lang="pt-BR" sz="800" i="1" dirty="0" err="1">
                          <a:latin typeface="Verdana"/>
                          <a:cs typeface="Verdana"/>
                        </a:rPr>
                        <a:t>length</a:t>
                      </a:r>
                      <a:endParaRPr lang="pt-BR" sz="800" dirty="0">
                        <a:latin typeface="Verdan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border-style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o estilo da borda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150495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lang="pt-BR" sz="800" dirty="0" err="1">
                          <a:latin typeface="Verdana"/>
                          <a:cs typeface="Verdana"/>
                        </a:rPr>
                        <a:t>none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hidden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dotted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dashed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solid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double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groove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ridge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dirty="0" err="1">
                          <a:latin typeface="Verdana"/>
                          <a:cs typeface="Verdana"/>
                        </a:rPr>
                        <a:t>inset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outset</a:t>
                      </a:r>
                      <a:endParaRPr lang="pt-BR" sz="800" dirty="0">
                        <a:latin typeface="Verdan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</a:t>
                      </a: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-color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a cor da borda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  <a:sym typeface="Roboto Mono"/>
                        </a:rPr>
                        <a:t>.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61594">
                        <a:lnSpc>
                          <a:spcPct val="101699"/>
                        </a:lnSpc>
                        <a:spcBef>
                          <a:spcPts val="245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cores</a:t>
                      </a: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Roboto Mono"/>
                          <a:sym typeface="Roboto Mono"/>
                        </a:rPr>
                        <a:t>d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abreviada para todas as quatro bordas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36195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Todas acima.</a:t>
                      </a: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border-collapse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36195" lvl="0" indent="0" algn="l" defTabSz="914400" rtl="0" eaLnBrk="1" fontAlgn="auto" latinLnBrk="0" hangingPunct="1">
                        <a:lnSpc>
                          <a:spcPct val="101099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collapse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separate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8593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</a:t>
                      </a: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-break</a:t>
                      </a: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598805">
                        <a:lnSpc>
                          <a:spcPct val="100800"/>
                        </a:lnSpc>
                        <a:spcBef>
                          <a:spcPts val="265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border-width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border-style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color,close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633157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border-image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Image,[ number / %  border-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width,stretch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 | repeat | round ]  none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759435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border-radius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Valor em unidade de medida.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782368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box-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shadow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inset || [ length, length,  length, length || &lt;color&gt; ]  none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631340"/>
                  </a:ext>
                </a:extLst>
              </a:tr>
            </a:tbl>
          </a:graphicData>
        </a:graphic>
      </p:graphicFrame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3B9932E7-7C1B-0ACF-44CA-3460EB09B865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da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" name="Google Shape;62;p14">
            <a:extLst>
              <a:ext uri="{FF2B5EF4-FFF2-40B4-BE49-F238E27FC236}">
                <a16:creationId xmlns:a16="http://schemas.microsoft.com/office/drawing/2014/main" id="{BE4E93E0-62EB-37BB-49F8-4980B644ED4B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 err="1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Border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89A574F-F6B0-963D-6967-5C9BAD786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037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Fonte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9C421C0C-FF1E-5871-542B-87AAE9E0D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532" y="348334"/>
            <a:ext cx="4032935" cy="403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304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Fonte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Sobre 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22467" y="2151133"/>
            <a:ext cx="11727200" cy="3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buSzPts val="1500"/>
              <a:buFont typeface="Roboto Mono"/>
              <a:buChar char="●"/>
            </a:pPr>
            <a:r>
              <a:rPr lang="pt-BR" sz="2000" dirty="0">
                <a:latin typeface="Roboto Mono"/>
                <a:ea typeface="Roboto Mono"/>
              </a:rPr>
              <a:t>As propriedades </a:t>
            </a:r>
            <a:r>
              <a:rPr lang="pt-BR" sz="2000" dirty="0">
                <a:latin typeface="Roboto Mono"/>
              </a:rPr>
              <a:t>para as bordas, definem as características das quatro bordas de um elemento HTML. </a:t>
            </a:r>
            <a:endParaRPr lang="pt-BR" sz="2000" dirty="0">
              <a:latin typeface="Roboto Mono"/>
              <a:sym typeface="Roboto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60A5B-EF7D-A9FB-4943-ADAD5A8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429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6"/>
          <p:cNvGraphicFramePr/>
          <p:nvPr/>
        </p:nvGraphicFramePr>
        <p:xfrm>
          <a:off x="205866" y="2111408"/>
          <a:ext cx="11780236" cy="29947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border-width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</a:rPr>
                        <a:t>a espessura da borda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800" dirty="0" err="1">
                          <a:latin typeface="Verdana"/>
                          <a:cs typeface="Verdana"/>
                        </a:rPr>
                        <a:t>thin</a:t>
                      </a:r>
                      <a:r>
                        <a:rPr lang="pt-BR"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</a:t>
                      </a:r>
                      <a:r>
                        <a:rPr lang="pt-BR"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medium</a:t>
                      </a:r>
                      <a:r>
                        <a:rPr lang="pt-BR"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thick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lang="pt-BR" sz="800" i="1" dirty="0" err="1">
                          <a:latin typeface="Verdana"/>
                          <a:cs typeface="Verdana"/>
                        </a:rPr>
                        <a:t>length</a:t>
                      </a:r>
                      <a:endParaRPr lang="pt-BR" sz="800" dirty="0">
                        <a:latin typeface="Verdan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border-style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o estilo da borda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150495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lang="pt-BR" sz="800" dirty="0" err="1">
                          <a:latin typeface="Verdana"/>
                          <a:cs typeface="Verdana"/>
                        </a:rPr>
                        <a:t>none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hidden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dotted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dashed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solid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double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groove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ridge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 | </a:t>
                      </a:r>
                      <a:r>
                        <a:rPr lang="pt-BR" sz="800" dirty="0" err="1">
                          <a:latin typeface="Verdana"/>
                          <a:cs typeface="Verdana"/>
                        </a:rPr>
                        <a:t>inset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lang="pt-BR"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pt-BR" sz="800" spc="-5" dirty="0" err="1">
                          <a:latin typeface="Verdana"/>
                          <a:cs typeface="Verdana"/>
                        </a:rPr>
                        <a:t>outset</a:t>
                      </a:r>
                      <a:endParaRPr lang="pt-BR" sz="800" dirty="0">
                        <a:latin typeface="Verdan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border</a:t>
                      </a:r>
                      <a:r>
                        <a:rPr lang="pt-BR" sz="1200" b="1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-color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a cor da borda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  <a:sym typeface="Roboto Mono"/>
                        </a:rPr>
                        <a:t>.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61594">
                        <a:lnSpc>
                          <a:spcPct val="101699"/>
                        </a:lnSpc>
                        <a:spcBef>
                          <a:spcPts val="245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cores</a:t>
                      </a: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Roboto Mono"/>
                          <a:sym typeface="Roboto Mono"/>
                        </a:rPr>
                        <a:t>d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r>
                        <a:rPr lang="pt-BR" sz="1200" b="1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</a:t>
                      </a:r>
                      <a:endParaRPr sz="1200" b="1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Define 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+mn-cs"/>
                        </a:rPr>
                        <a:t>abreviada para todas as quatro bordas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36195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Roboto Mono"/>
                          <a:cs typeface="Verdana"/>
                        </a:rPr>
                        <a:t>Todas acima.</a:t>
                      </a:r>
                    </a:p>
                  </a:txBody>
                  <a:tcPr marL="48000" marR="48000" marT="48000" marB="48000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border-collapse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36195" lvl="0" indent="0" algn="l" defTabSz="914400" rtl="0" eaLnBrk="1" fontAlgn="auto" latinLnBrk="0" hangingPunct="1">
                        <a:lnSpc>
                          <a:spcPct val="101099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collapse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 |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separate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8593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</a:t>
                      </a: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-break</a:t>
                      </a: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598805">
                        <a:lnSpc>
                          <a:spcPct val="100800"/>
                        </a:lnSpc>
                        <a:spcBef>
                          <a:spcPts val="265"/>
                        </a:spcBef>
                      </a:pP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border-width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border-style</a:t>
                      </a: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, </a:t>
                      </a:r>
                      <a:r>
                        <a:rPr lang="pt-BR" sz="1000" kern="1200" dirty="0" err="1">
                          <a:solidFill>
                            <a:schemeClr val="tx1"/>
                          </a:solidFill>
                          <a:latin typeface="Roboto Mono"/>
                          <a:cs typeface="Verdana"/>
                        </a:rPr>
                        <a:t>color,close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633157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border-image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Image,[ number / %  border-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width,stretch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 | repeat | round ]  none</a:t>
                      </a:r>
                      <a:endParaRPr lang="pt-BR" sz="10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759435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border-radius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pt-BR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Valor em unidade de medida.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782368"/>
                  </a:ext>
                </a:extLst>
              </a:tr>
              <a:tr h="349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box-</a:t>
                      </a:r>
                      <a:r>
                        <a:rPr lang="pt-BR" sz="1200" b="1" kern="1200" dirty="0" err="1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shadow</a:t>
                      </a:r>
                      <a:endParaRPr lang="pt-BR" sz="1200" b="1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Verdana"/>
                      </a:endParaRPr>
                    </a:p>
                  </a:txBody>
                  <a:tcPr marL="48000" marR="48000" marT="48000" marB="48000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kern="1200" dirty="0">
                        <a:solidFill>
                          <a:schemeClr val="tx1"/>
                        </a:solidFill>
                        <a:latin typeface="Roboto Mono"/>
                        <a:ea typeface="+mn-ea"/>
                        <a:cs typeface="+mn-cs"/>
                        <a:sym typeface="Roboto Mono"/>
                      </a:endParaRPr>
                    </a:p>
                  </a:txBody>
                  <a:tcPr marL="48000" marR="48000" marT="48000" marB="48000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 Mono"/>
                          <a:ea typeface="+mn-ea"/>
                          <a:cs typeface="Verdana"/>
                        </a:rPr>
                        <a:t>inset || [ length, length,  length, length || &lt;color&gt; ]  none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631340"/>
                  </a:ext>
                </a:extLst>
              </a:tr>
            </a:tbl>
          </a:graphicData>
        </a:graphic>
      </p:graphicFrame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3B9932E7-7C1B-0ACF-44CA-3460EB09B865}"/>
              </a:ext>
            </a:extLst>
          </p:cNvPr>
          <p:cNvSpPr txBox="1"/>
          <p:nvPr/>
        </p:nvSpPr>
        <p:spPr>
          <a:xfrm>
            <a:off x="870984" y="878275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Valores da propriedade</a:t>
            </a:r>
            <a:endParaRPr sz="5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" name="Google Shape;62;p14">
            <a:extLst>
              <a:ext uri="{FF2B5EF4-FFF2-40B4-BE49-F238E27FC236}">
                <a16:creationId xmlns:a16="http://schemas.microsoft.com/office/drawing/2014/main" id="{BE4E93E0-62EB-37BB-49F8-4980B644ED4B}"/>
              </a:ext>
            </a:extLst>
          </p:cNvPr>
          <p:cNvSpPr txBox="1"/>
          <p:nvPr/>
        </p:nvSpPr>
        <p:spPr>
          <a:xfrm>
            <a:off x="497400" y="177942"/>
            <a:ext cx="11197200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1572B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Fonte</a:t>
            </a:r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89A574F-F6B0-963D-6967-5C9BAD786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" y="177942"/>
            <a:ext cx="513200" cy="5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503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2191</Words>
  <Application>Microsoft Office PowerPoint</Application>
  <PresentationFormat>Widescreen</PresentationFormat>
  <Paragraphs>303</Paragraphs>
  <Slides>41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Inter</vt:lpstr>
      <vt:lpstr>Lato</vt:lpstr>
      <vt:lpstr>Merriweather</vt:lpstr>
      <vt:lpstr>Roboto Light</vt:lpstr>
      <vt:lpstr>Roboto Mono</vt:lpstr>
      <vt:lpstr>Roboto Mono Medium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31</cp:revision>
  <dcterms:created xsi:type="dcterms:W3CDTF">2018-09-27T21:57:56Z</dcterms:created>
  <dcterms:modified xsi:type="dcterms:W3CDTF">2022-06-12T16:46:46Z</dcterms:modified>
</cp:coreProperties>
</file>